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embeddedFontLst>
    <p:embeddedFont>
      <p:font typeface="Dyslexie" panose="020B0604020202020204" charset="0"/>
      <p:regular r:id="rId44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04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MY3DQxPlpxs?feature=oembed" TargetMode="External"/><Relationship Id="rId6" Type="http://schemas.openxmlformats.org/officeDocument/2006/relationships/image" Target="../media/image21.jpg"/><Relationship Id="rId5" Type="http://schemas.openxmlformats.org/officeDocument/2006/relationships/hyperlink" Target="https://www.youtube.com/watch?v=MY3DQxPlpxs" TargetMode="Externa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25ef1fd-b8b4-4e02-9fed-c3257878a98e" descr="/home/forge/chalkie-production-workers-1/releases/77481629/backend/storage/app/render-specs/a7d47607-8bf2-49cb-a6bf-e1007eba1d5c/img_cec2cfbb2d80faf43821a0c2ba5dac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9a71389e-3115-41f1-afae-d2feab4e3574"/>
          <p:cNvSpPr/>
          <p:nvPr/>
        </p:nvSpPr>
        <p:spPr>
          <a:xfrm>
            <a:off x="4914900" y="86868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Excel Intermediário: Formatação e Validação</a:t>
            </a:r>
            <a:endParaRPr lang="en-US" sz="2527" dirty="0"/>
          </a:p>
        </p:txBody>
      </p:sp>
      <p:sp>
        <p:nvSpPr>
          <p:cNvPr id="4" name="cc93feb1-589c-497b-90dd-5af9aa1acb4c"/>
          <p:cNvSpPr/>
          <p:nvPr/>
        </p:nvSpPr>
        <p:spPr>
          <a:xfrm>
            <a:off x="4914900" y="3086100"/>
            <a:ext cx="382905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Transformando planilhas brutas em relatórios gerenciais confiáveis e profissionais.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91e9aec-1c2a-4fbb-887e-9b974ff94a52" descr="/home/forge/chalkie-production-workers-1/releases/77481629/backend/storage/app/render-specs/a7d47607-8bf2-49cb-a6bf-e1007eba1d5c/img_b253f6d71df13fd3843192a2e78484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8319484d-1b62-4123-a549-d02aad7eb4fe"/>
          <p:cNvSpPr/>
          <p:nvPr/>
        </p:nvSpPr>
        <p:spPr>
          <a:xfrm>
            <a:off x="285750" y="117729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Confiaria Neste Relatório?</a:t>
            </a:r>
            <a:endParaRPr lang="en-US" sz="2246" dirty="0"/>
          </a:p>
        </p:txBody>
      </p:sp>
      <p:sp>
        <p:nvSpPr>
          <p:cNvPr id="4" name="3a487382-e28e-48d1-b8af-884abd7bfd2e"/>
          <p:cNvSpPr/>
          <p:nvPr/>
        </p:nvSpPr>
        <p:spPr>
          <a:xfrm>
            <a:off x="285750" y="2263140"/>
            <a:ext cx="51435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receber uma planilha de vendas cheia de números sem vírgula, datas no padrão americano e digitações com erros ortográficos. Uma decisão de negócios milionária pode falhar por falta de organização e padronização visual.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452beac-6a0d-4655-9a43-bc9e24f7c425" descr="/home/forge/chalkie-production-workers-1/releases/77481629/backend/storage/app/render-specs/a7d47607-8bf2-49cb-a6bf-e1007eba1d5c/img_2e18a26fd1082a3152061759105be2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8e7d2293-197e-490a-af59-565b40155e79"/>
          <p:cNvSpPr/>
          <p:nvPr/>
        </p:nvSpPr>
        <p:spPr>
          <a:xfrm>
            <a:off x="285750" y="186309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87081891-adde-41af-bcc7-74a53cfb10be"/>
          <p:cNvSpPr/>
          <p:nvPr/>
        </p:nvSpPr>
        <p:spPr>
          <a:xfrm>
            <a:off x="400050" y="214884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5" name="3fdae1ad-2c0b-4de8-b8bc-701b98efc148"/>
          <p:cNvSpPr/>
          <p:nvPr/>
        </p:nvSpPr>
        <p:spPr>
          <a:xfrm>
            <a:off x="285750" y="290322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6" name="ffa26548-398c-4a9a-ba44-9722286a3532"/>
          <p:cNvSpPr/>
          <p:nvPr/>
        </p:nvSpPr>
        <p:spPr>
          <a:xfrm>
            <a:off x="400050" y="318897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7" name="e12412a2-259e-4f28-b71e-0c4b680b4e5c"/>
          <p:cNvSpPr/>
          <p:nvPr/>
        </p:nvSpPr>
        <p:spPr>
          <a:xfrm>
            <a:off x="285750" y="3943350"/>
            <a:ext cx="4572000" cy="91440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8" name="cabc094e-0b7d-494d-90e3-da47ff39a2bb"/>
          <p:cNvSpPr/>
          <p:nvPr/>
        </p:nvSpPr>
        <p:spPr>
          <a:xfrm>
            <a:off x="400050" y="422910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9" name="fae538c8-e856-481c-9f4c-5428ecf10b0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Nossa Aula</a:t>
            </a:r>
            <a:endParaRPr lang="en-US" sz="2246" dirty="0"/>
          </a:p>
        </p:txBody>
      </p:sp>
      <p:sp>
        <p:nvSpPr>
          <p:cNvPr id="10" name="1e0110a6-060c-40fe-8445-54ed567f5436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Nesta aula do curso de Análise de Dados, vamos desenvolver três habilidades essenciais para o mercado de trabalho:</a:t>
            </a:r>
            <a:endParaRPr lang="en-US" sz="1264" dirty="0"/>
          </a:p>
        </p:txBody>
      </p:sp>
      <p:sp>
        <p:nvSpPr>
          <p:cNvPr id="11" name="1301801f-e992-4be8-901b-a494ca4cf828"/>
          <p:cNvSpPr/>
          <p:nvPr/>
        </p:nvSpPr>
        <p:spPr>
          <a:xfrm>
            <a:off x="400050" y="214884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12" name="031ee465-1f86-4345-82e5-fbe4ef9b5633"/>
          <p:cNvSpPr/>
          <p:nvPr/>
        </p:nvSpPr>
        <p:spPr>
          <a:xfrm>
            <a:off x="834390" y="197739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Padronizar números, moedas, percentuais e datas com precisão.</a:t>
            </a:r>
            <a:endParaRPr lang="en-US" sz="1264" dirty="0"/>
          </a:p>
        </p:txBody>
      </p:sp>
      <p:sp>
        <p:nvSpPr>
          <p:cNvPr id="13" name="70853ea2-89b3-411b-9c51-c9fa8e1ad181"/>
          <p:cNvSpPr/>
          <p:nvPr/>
        </p:nvSpPr>
        <p:spPr>
          <a:xfrm>
            <a:off x="400050" y="318897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14" name="f6662b55-7430-435a-a52b-6d06080d7b74"/>
          <p:cNvSpPr/>
          <p:nvPr/>
        </p:nvSpPr>
        <p:spPr>
          <a:xfrm>
            <a:off x="834390" y="301752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regras de validação para impedir dados incorretos.</a:t>
            </a:r>
            <a:endParaRPr lang="en-US" sz="1264" dirty="0"/>
          </a:p>
        </p:txBody>
      </p:sp>
      <p:sp>
        <p:nvSpPr>
          <p:cNvPr id="15" name="a06d9554-fa85-497a-9d4c-310b5853fb1e"/>
          <p:cNvSpPr/>
          <p:nvPr/>
        </p:nvSpPr>
        <p:spPr>
          <a:xfrm>
            <a:off x="400050" y="422910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6" name="cc543b7e-f68c-4adc-822a-f35bc1e77068"/>
          <p:cNvSpPr/>
          <p:nvPr/>
        </p:nvSpPr>
        <p:spPr>
          <a:xfrm>
            <a:off x="834390" y="4057650"/>
            <a:ext cx="390906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fórmulas e estruturar relatórios com painéis e filtros.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97a343f-a2fc-42e5-98e1-8b9286a48b46" descr="/home/forge/chalkie-production-workers-1/releases/77481629/backend/storage/app/render-specs/a7d47607-8bf2-49cb-a6bf-e1007eba1d5c/img_5a0e2bde3f9aa4696c2683ab1d384c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93191e51-6088-422d-963e-55f15209d176" descr="/home/forge/chalkie-production-workers-1/releases/77481629/backend/storage/app/render-specs/a7d47607-8bf2-49cb-a6bf-e1007eba1d5c/img_f7ef0a5cc7b6b8a7e0d1615a63f31a9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ee4b00da-d049-41c8-bb4f-e4a161c25fd2" descr="/home/forge/chalkie-production-workers-1/releases/77481629/backend/storage/app/render-specs/a7d47607-8bf2-49cb-a6bf-e1007eba1d5c/img_d96e775b5741fd631fdbf0290e5082f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603b611e-ce8b-4614-8b8c-dbfff50ddc23" descr="/home/forge/chalkie-production-workers-1/releases/77481629/backend/storage/app/render-specs/a7d47607-8bf2-49cb-a6bf-e1007eba1d5c/img_72167291be0d6a2f4a094f0ea651117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083b1efc-a467-4745-80fc-e8b61f589f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 da Aula</a:t>
            </a:r>
            <a:endParaRPr lang="en-US" sz="2246" dirty="0"/>
          </a:p>
        </p:txBody>
      </p:sp>
      <p:sp>
        <p:nvSpPr>
          <p:cNvPr id="7" name="9df061ee-b8a2-4087-a787-4e93385e476b"/>
          <p:cNvSpPr/>
          <p:nvPr/>
        </p:nvSpPr>
        <p:spPr>
          <a:xfrm>
            <a:off x="285750" y="342900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Ajusta a exibição visual de números sem alterar o valor armazenado.</a:t>
            </a:r>
            <a:endParaRPr lang="en-US" sz="1264" dirty="0"/>
          </a:p>
        </p:txBody>
      </p:sp>
      <p:sp>
        <p:nvSpPr>
          <p:cNvPr id="8" name="4d3f1b3f-e41e-4e66-83d0-b0d46d5ae5c2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Regras que controlam e padronizam entradas de dados nas células.</a:t>
            </a:r>
            <a:endParaRPr lang="en-US" sz="1264" dirty="0"/>
          </a:p>
        </p:txBody>
      </p:sp>
      <p:sp>
        <p:nvSpPr>
          <p:cNvPr id="9" name="19ba435c-cbb7-40ef-8cca-912ccf8f5406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Recurso para isolar, ordenar e exibir apenas linhas da tabela.</a:t>
            </a:r>
            <a:endParaRPr lang="en-US" sz="1264" dirty="0"/>
          </a:p>
        </p:txBody>
      </p:sp>
      <p:sp>
        <p:nvSpPr>
          <p:cNvPr id="10" name="88f0de4e-64d4-48db-ba1f-1dc2f1d9de88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Segurança para impedir alterações acidentais em fórmulas.</a:t>
            </a:r>
            <a:endParaRPr lang="en-US" sz="12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bc80271-a8b3-4bf8-bab8-330117fd3012" descr="/home/forge/chalkie-production-workers-1/releases/77481629/backend/storage/app/render-specs/a7d47607-8bf2-49cb-a6bf-e1007eba1d5c/img_63998aa6d28fec783698e367f757fc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97eb45e-b387-4002-9e8f-b987a391eb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Revisão: Estrutura Básica do Excel</a:t>
            </a:r>
            <a:endParaRPr lang="en-US" sz="2246" dirty="0"/>
          </a:p>
        </p:txBody>
      </p:sp>
      <p:sp>
        <p:nvSpPr>
          <p:cNvPr id="4" name="787bd7af-8f7e-4215-bf87-3bf324b5324c"/>
          <p:cNvSpPr/>
          <p:nvPr/>
        </p:nvSpPr>
        <p:spPr>
          <a:xfrm>
            <a:off x="4286250" y="86868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</a:t>
            </a:r>
            <a:endParaRPr lang="en-US" sz="842" dirty="0"/>
          </a:p>
        </p:txBody>
      </p:sp>
      <p:sp>
        <p:nvSpPr>
          <p:cNvPr id="5" name="8c1cf632-e2ec-4d86-8325-57c784dfa5c9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aula anterior, vimos que o Excel organiza dados em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definidas pelo cruzamento de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(letras) 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(números).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Toda fórmula deve iniciar com o sinal de igualdade (=).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Funções como =SOMA() e =MÉDIA() aceleram cálculos complexos.</a:t>
            </a:r>
            <a:endParaRPr lang="en-US" sz="1264" dirty="0"/>
          </a:p>
        </p:txBody>
      </p:sp>
      <p:sp>
        <p:nvSpPr>
          <p:cNvPr id="6" name="0ac8bbcb-148a-4649-8409-f8474b34a3b4_card"/>
          <p:cNvSpPr/>
          <p:nvPr/>
        </p:nvSpPr>
        <p:spPr>
          <a:xfrm>
            <a:off x="4286250" y="370332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0ac8bbcb-148a-4649-8409-f8474b34a3b4_emoji"/>
          <p:cNvSpPr/>
          <p:nvPr/>
        </p:nvSpPr>
        <p:spPr>
          <a:xfrm>
            <a:off x="4400550" y="38519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0ac8bbcb-148a-4649-8409-f8474b34a3b4_text"/>
          <p:cNvSpPr/>
          <p:nvPr/>
        </p:nvSpPr>
        <p:spPr>
          <a:xfrm>
            <a:off x="4766310" y="381762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Fórmulas incorretas propagam erros por todo o relatório.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7dcd337-d182-4a39-b3f3-6a81becefbd5" descr="/home/forge/chalkie-production-workers-1/releases/77481629/backend/storage/app/render-specs/a7d47607-8bf2-49cb-a6bf-e1007eba1d5c/img_d3b5b02f30a2d634978010a16d7136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010" y="2503170"/>
            <a:ext cx="4194810" cy="2354580"/>
          </a:xfrm>
          <a:prstGeom prst="roundRect">
            <a:avLst>
              <a:gd name="adj" fmla="val 5825"/>
            </a:avLst>
          </a:prstGeom>
        </p:spPr>
      </p:pic>
      <p:sp>
        <p:nvSpPr>
          <p:cNvPr id="3" name="690dd9c4-d03d-4f61-bff7-d0cdad3c599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Revisão: A Lógica da Função SE</a:t>
            </a:r>
            <a:endParaRPr lang="en-US" sz="2246" dirty="0"/>
          </a:p>
        </p:txBody>
      </p:sp>
      <p:sp>
        <p:nvSpPr>
          <p:cNvPr id="4" name="e7121cb1-bd83-4da8-9f22-9eaf0ed5f932"/>
          <p:cNvSpPr/>
          <p:nvPr/>
        </p:nvSpPr>
        <p:spPr>
          <a:xfrm>
            <a:off x="285750" y="80010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da Condição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 toma decisões automáticas baseando-se em uma premissa lógica verdadeira ou falsa:</a:t>
            </a:r>
            <a:endParaRPr lang="en-US" sz="1544" dirty="0"/>
          </a:p>
        </p:txBody>
      </p:sp>
      <p:sp>
        <p:nvSpPr>
          <p:cNvPr id="5" name="b6c3099c-c984-4580-b7d3-04f8c10663d0_card"/>
          <p:cNvSpPr/>
          <p:nvPr/>
        </p:nvSpPr>
        <p:spPr>
          <a:xfrm>
            <a:off x="285750" y="225171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b6c3099c-c984-4580-b7d3-04f8c10663d0_emoji"/>
          <p:cNvSpPr/>
          <p:nvPr/>
        </p:nvSpPr>
        <p:spPr>
          <a:xfrm>
            <a:off x="400050" y="24003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b6c3099c-c984-4580-b7d3-04f8c10663d0_text"/>
          <p:cNvSpPr/>
          <p:nvPr/>
        </p:nvSpPr>
        <p:spPr>
          <a:xfrm>
            <a:off x="765810" y="236601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classifica a situação do aluno sem intervenção manual.</a:t>
            </a:r>
            <a:endParaRPr lang="en-US" sz="1123" dirty="0"/>
          </a:p>
        </p:txBody>
      </p:sp>
      <p:sp>
        <p:nvSpPr>
          <p:cNvPr id="8" name="57ac00bb-54da-46a1-bae8-3524efc59ceb"/>
          <p:cNvSpPr/>
          <p:nvPr/>
        </p:nvSpPr>
        <p:spPr>
          <a:xfrm>
            <a:off x="4652010" y="80010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Aplicação Gerencial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 ambiente de negócios, o teste lógico costuma conferir o cumprimento de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metas comerciais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ou a necessidade de reposição de itens no estoque.</a:t>
            </a:r>
            <a:endParaRPr lang="en-US" sz="15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d0d446b-c7fa-4a81-8e60-2485d7b99cb6" descr="/home/forge/chalkie-production-workers-1/releases/77481629/backend/storage/app/render-specs/a7d47607-8bf2-49cb-a6bf-e1007eba1d5c/img_db907e41c464e052a1e61025e134ea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f0e59068-f24d-4882-a3e8-e9a4f716508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Referências Relativas e Absolutas</a:t>
            </a:r>
            <a:endParaRPr lang="en-US" sz="2246" dirty="0"/>
          </a:p>
        </p:txBody>
      </p:sp>
      <p:sp>
        <p:nvSpPr>
          <p:cNvPr id="4" name="e6cbb9a7-7e55-4e32-94fa-761d7d5d25ce"/>
          <p:cNvSpPr/>
          <p:nvPr/>
        </p:nvSpPr>
        <p:spPr>
          <a:xfrm>
            <a:off x="285750" y="86868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</a:t>
            </a:r>
            <a:endParaRPr lang="en-US" sz="842" dirty="0"/>
          </a:p>
        </p:txBody>
      </p:sp>
      <p:sp>
        <p:nvSpPr>
          <p:cNvPr id="5" name="2170d9bd-0e44-4017-a9a5-89775f6404a8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arrastar fórmulas, o Excel ajusta coordenadas automaticamente (referência relativa).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travar células fixas (impostos/comissões), usamos 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 fixa coluna D e linha 1 ao copiar.</a:t>
            </a:r>
            <a:endParaRPr lang="en-US" sz="1264" dirty="0"/>
          </a:p>
        </p:txBody>
      </p:sp>
      <p:sp>
        <p:nvSpPr>
          <p:cNvPr id="6" name="f873fc9b-0a75-4d80-9d45-97e59e3799bc_card"/>
          <p:cNvSpPr/>
          <p:nvPr/>
        </p:nvSpPr>
        <p:spPr>
          <a:xfrm>
            <a:off x="285750" y="345186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f873fc9b-0a75-4d80-9d45-97e59e3799bc_emoji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f873fc9b-0a75-4d80-9d45-97e59e3799bc_text"/>
          <p:cNvSpPr/>
          <p:nvPr/>
        </p:nvSpPr>
        <p:spPr>
          <a:xfrm>
            <a:off x="765810" y="356616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F4 para alternar rapidamente entre tipos de fixação de célula.</a:t>
            </a:r>
            <a:endParaRPr lang="en-US" sz="112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ae8ba0-d13f-4d0e-89a2-5ebcc86e10f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Referências no Excel</a:t>
            </a:r>
            <a:endParaRPr lang="en-US" sz="2246" dirty="0"/>
          </a:p>
        </p:txBody>
      </p:sp>
      <p:sp>
        <p:nvSpPr>
          <p:cNvPr id="3" name="d9657d3c-6cd2-44ec-8af4-7876368b819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finalidade de usar o caractere cifrão ($) na referência de uma célula como $B$4?</a:t>
            </a:r>
            <a:endParaRPr lang="en-US" sz="1264" dirty="0"/>
          </a:p>
        </p:txBody>
      </p:sp>
      <p:sp>
        <p:nvSpPr>
          <p:cNvPr id="4" name="9e7ef423-c8ee-4b39-a545-a3a0e6a479b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9dc2ee69-3760-4a4b-b928-5c1cce1d3e4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Travar a célula para que ela não mude ao arrastar a fórmula.</a:t>
            </a:r>
            <a:endParaRPr lang="en-US" sz="1264" dirty="0"/>
          </a:p>
        </p:txBody>
      </p:sp>
      <p:sp>
        <p:nvSpPr>
          <p:cNvPr id="6" name="2664af2d-2cd6-42b9-b26c-421ad0f8b18e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ca1963ee-66dd-4726-84e1-7d7bc045404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a planilha inteira contra visualização de terceiros.</a:t>
            </a:r>
            <a:endParaRPr lang="en-US" sz="1264" dirty="0"/>
          </a:p>
        </p:txBody>
      </p:sp>
      <p:sp>
        <p:nvSpPr>
          <p:cNvPr id="8" name="2a263fe7-1386-4e3a-9ce5-6a2eebc5387b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fd790497-b4ae-43a3-8c86-55c116fb962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Indicar que a célula contém um cálculo financeiro de desconto.</a:t>
            </a:r>
            <a:endParaRPr lang="en-US" sz="1264" dirty="0"/>
          </a:p>
        </p:txBody>
      </p:sp>
      <p:sp>
        <p:nvSpPr>
          <p:cNvPr id="10" name="4566fe15-7295-41c4-9175-22acec6ba6d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639b177-be39-428b-bc63-276244b7c82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Converter o valor numérico digitado diretamente para a moeda Real.</a:t>
            </a:r>
            <a:endParaRPr lang="en-US" sz="126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ae8ba0-d13f-4d0e-89a2-5ebcc86e10f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Referências no Excel</a:t>
            </a:r>
            <a:endParaRPr lang="en-US" sz="2246" dirty="0"/>
          </a:p>
        </p:txBody>
      </p:sp>
      <p:sp>
        <p:nvSpPr>
          <p:cNvPr id="3" name="d9657d3c-6cd2-44ec-8af4-7876368b819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finalidade de usar o caractere cifrão ($) na referência de uma célula como $B$4?</a:t>
            </a:r>
            <a:endParaRPr lang="en-US" sz="1264" dirty="0"/>
          </a:p>
        </p:txBody>
      </p:sp>
      <p:sp>
        <p:nvSpPr>
          <p:cNvPr id="4" name="9e7ef423-c8ee-4b39-a545-a3a0e6a479b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9dc2ee69-3760-4a4b-b928-5c1cce1d3e4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Travar a célula para que ela não mude ao arrastar a fórmula.</a:t>
            </a:r>
            <a:endParaRPr lang="en-US" sz="1264" dirty="0"/>
          </a:p>
        </p:txBody>
      </p:sp>
      <p:sp>
        <p:nvSpPr>
          <p:cNvPr id="6" name="2664af2d-2cd6-42b9-b26c-421ad0f8b18e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ca1963ee-66dd-4726-84e1-7d7bc045404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a planilha inteira contra visualização de terceiros.</a:t>
            </a:r>
            <a:endParaRPr lang="en-US" sz="1264" dirty="0"/>
          </a:p>
        </p:txBody>
      </p:sp>
      <p:sp>
        <p:nvSpPr>
          <p:cNvPr id="8" name="2a263fe7-1386-4e3a-9ce5-6a2eebc5387b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fd790497-b4ae-43a3-8c86-55c116fb962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Indicar que a célula contém um cálculo financeiro de desconto.</a:t>
            </a:r>
            <a:endParaRPr lang="en-US" sz="1264" dirty="0"/>
          </a:p>
        </p:txBody>
      </p:sp>
      <p:sp>
        <p:nvSpPr>
          <p:cNvPr id="10" name="4566fe15-7295-41c4-9175-22acec6ba6d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639b177-be39-428b-bc63-276244b7c82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Converter o valor numérico digitado diretamente para a moeda Real.</a:t>
            </a:r>
            <a:endParaRPr lang="en-US" sz="1264" dirty="0"/>
          </a:p>
        </p:txBody>
      </p:sp>
      <p:sp>
        <p:nvSpPr>
          <p:cNvPr id="12" name="3ef24d55-8a1f-46f4-92da-ce71255cd72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dfcdece0-20a9-4686-88bb-f3349c762abd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c9b96d5-711f-4ee4-81eb-5caad9dc0760" descr="/home/forge/chalkie-production-workers-1/releases/77481629/backend/storage/app/render-specs/a7d47607-8bf2-49cb-a6bf-e1007eba1d5c/img_a79fafcb18e1791ac1b20e7977a9be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328f01c-3404-44b9-9c7a-4e62067e63b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Avançada de Células</a:t>
            </a:r>
            <a:endParaRPr lang="en-US" sz="2246" dirty="0"/>
          </a:p>
        </p:txBody>
      </p:sp>
      <p:sp>
        <p:nvSpPr>
          <p:cNvPr id="4" name="3864a922-1cf7-4333-8869-8e5f5e441db5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65e1f0ef-cf9a-4f0a-9a26-318439819516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Formatar uma célula consiste em mudar sua aparência sem alterar seu conteúdo real. O número bruto  armazenado pelo sistema pode se manifestar para o leitor como  ou , preservando cálculos perfeitamente exatos nos bastidores.</a:t>
            </a:r>
            <a:endParaRPr lang="en-US" sz="1264" dirty="0"/>
          </a:p>
        </p:txBody>
      </p:sp>
      <p:sp>
        <p:nvSpPr>
          <p:cNvPr id="6" name="786a9051-5f28-4418-90f7-2cef9301ffad_card"/>
          <p:cNvSpPr/>
          <p:nvPr/>
        </p:nvSpPr>
        <p:spPr>
          <a:xfrm>
            <a:off x="285750" y="300609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786a9051-5f28-4418-90f7-2cef9301ffad_emoji"/>
          <p:cNvSpPr/>
          <p:nvPr/>
        </p:nvSpPr>
        <p:spPr>
          <a:xfrm>
            <a:off x="400050" y="31546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786a9051-5f28-4418-90f7-2cef9301ffad_text"/>
          <p:cNvSpPr/>
          <p:nvPr/>
        </p:nvSpPr>
        <p:spPr>
          <a:xfrm>
            <a:off x="765810" y="312039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Nunca digite letras como 'R$' dentro da célula, pois isso transforma o número em texto e anula as fórmulas!</a:t>
            </a:r>
            <a:endParaRPr lang="en-US" sz="112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11153a2-274f-4ac0-a696-fac526ece6b3"/>
          <p:cNvSpPr/>
          <p:nvPr/>
        </p:nvSpPr>
        <p:spPr>
          <a:xfrm>
            <a:off x="285750" y="6515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Tratando Moedas e Percentuais</a:t>
            </a:r>
            <a:endParaRPr lang="en-US" sz="2246" dirty="0"/>
          </a:p>
        </p:txBody>
      </p:sp>
      <p:sp>
        <p:nvSpPr>
          <p:cNvPr id="3" name="647c72ac-15ba-471a-8d06-9bf39112b07e"/>
          <p:cNvSpPr/>
          <p:nvPr/>
        </p:nvSpPr>
        <p:spPr>
          <a:xfrm>
            <a:off x="285750" y="12801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Formato de Moeda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formato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Moeda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ou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Contábil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alinha os símbolos de moeda e separa os milhares e decimais por vírgula e ponto com perfeição visual.</a:t>
            </a:r>
            <a:endParaRPr lang="en-US" sz="1544" dirty="0"/>
          </a:p>
        </p:txBody>
      </p:sp>
      <p:sp>
        <p:nvSpPr>
          <p:cNvPr id="4" name="4fdce0b3-f5ee-4328-b961-0c9bede97b9a_card"/>
          <p:cNvSpPr/>
          <p:nvPr/>
        </p:nvSpPr>
        <p:spPr>
          <a:xfrm>
            <a:off x="285750" y="298323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5" name="4fdce0b3-f5ee-4328-b961-0c9bede97b9a_emoji"/>
          <p:cNvSpPr/>
          <p:nvPr/>
        </p:nvSpPr>
        <p:spPr>
          <a:xfrm>
            <a:off x="400050" y="31318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6" name="4fdce0b3-f5ee-4328-b961-0c9bede97b9a_text"/>
          <p:cNvSpPr/>
          <p:nvPr/>
        </p:nvSpPr>
        <p:spPr>
          <a:xfrm>
            <a:off x="765810" y="309753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valor  torna-se , facilitando a leitura de faturamento.</a:t>
            </a:r>
            <a:endParaRPr lang="en-US" sz="1123" dirty="0"/>
          </a:p>
        </p:txBody>
      </p:sp>
      <p:sp>
        <p:nvSpPr>
          <p:cNvPr id="7" name="36a6c21f-83ec-4b9c-822f-4af170349c84"/>
          <p:cNvSpPr/>
          <p:nvPr/>
        </p:nvSpPr>
        <p:spPr>
          <a:xfrm>
            <a:off x="4652010" y="12801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Formato de Porcentagem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 mentalmente o valor por 100 e exibe o símbolo . Um valor decimal como  vira instantaneamente .</a:t>
            </a:r>
            <a:endParaRPr lang="en-US" sz="1544" dirty="0"/>
          </a:p>
        </p:txBody>
      </p:sp>
      <p:sp>
        <p:nvSpPr>
          <p:cNvPr id="8" name="cc96f7aa-794b-4f54-9a09-3baed45eec96_card"/>
          <p:cNvSpPr/>
          <p:nvPr/>
        </p:nvSpPr>
        <p:spPr>
          <a:xfrm>
            <a:off x="4652010" y="273177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9" name="cc96f7aa-794b-4f54-9a09-3baed45eec96_emoji"/>
          <p:cNvSpPr/>
          <p:nvPr/>
        </p:nvSpPr>
        <p:spPr>
          <a:xfrm>
            <a:off x="4766310" y="28803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10" name="cc96f7aa-794b-4f54-9a09-3baed45eec96_text"/>
          <p:cNvSpPr/>
          <p:nvPr/>
        </p:nvSpPr>
        <p:spPr>
          <a:xfrm>
            <a:off x="5132070" y="2846070"/>
            <a:ext cx="36004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você digitar  e depois clicar em , o Excel registrará . Digite  primeiro.</a:t>
            </a:r>
            <a:endParaRPr lang="en-US" sz="112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21bc12-69a7-41c3-959a-b3bcaea00360" descr="/home/forge/chalkie-production-workers-1/releases/77481629/backend/storage/app/render-specs/a7d47607-8bf2-49cb-a6bf-e1007eba1d5c/img_8a2f94c287cfd56a108cdbe11194d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3b83643e-0a29-45e7-aab7-0ea5a78ce4c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Padronização de Datas no Sistema</a:t>
            </a:r>
            <a:endParaRPr lang="en-US" sz="2246" dirty="0"/>
          </a:p>
        </p:txBody>
      </p:sp>
      <p:sp>
        <p:nvSpPr>
          <p:cNvPr id="4" name="440f5196-10ae-482b-88f4-d9a20d03941b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1196bedb-03b1-4d5c-bc06-00d2f94382dd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o Excel, toda data é um número sequencial de dias contados desde 01 de janeiro de 1900.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número  representa 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formato de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 Abreviada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exibe 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formato de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 Completa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detalha o dia da semana e o mês por extenso.</a:t>
            </a:r>
            <a:endParaRPr lang="en-US" sz="1264" dirty="0"/>
          </a:p>
        </p:txBody>
      </p:sp>
      <p:sp>
        <p:nvSpPr>
          <p:cNvPr id="6" name="eac1db7a-b5f2-47ff-9f13-a0c38969ded5_card"/>
          <p:cNvSpPr/>
          <p:nvPr/>
        </p:nvSpPr>
        <p:spPr>
          <a:xfrm>
            <a:off x="285750" y="350901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AFAAEC">
              <a:alpha val="14902"/>
            </a:srgbClr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</p:sp>
      <p:sp>
        <p:nvSpPr>
          <p:cNvPr id="7" name="eac1db7a-b5f2-47ff-9f13-a0c38969ded5_emoji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8" name="eac1db7a-b5f2-47ff-9f13-a0c38969ded5_text"/>
          <p:cNvSpPr/>
          <p:nvPr/>
        </p:nvSpPr>
        <p:spPr>
          <a:xfrm>
            <a:off x="765810" y="362331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Curiosidade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datas são números, você pode somar 30 a uma data para calcular vencimentos!</a:t>
            </a:r>
            <a:endParaRPr lang="en-US" sz="112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216eefe-2e9b-4efb-8053-20b49d233865" descr="/home/forge/chalkie-production-workers-1/releases/77481629/backend/storage/app/render-specs/a7d47607-8bf2-49cb-a6bf-e1007eba1d5c/img_5db09f462eb88fd5a061f150bf7d54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010" y="11315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3" name="468f14ef-84fb-4f17-8ae4-1fced2580d7d"/>
          <p:cNvSpPr/>
          <p:nvPr/>
        </p:nvSpPr>
        <p:spPr>
          <a:xfrm>
            <a:off x="285750" y="5029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Magia da Formatação Condicional</a:t>
            </a:r>
            <a:endParaRPr lang="en-US" sz="2246" dirty="0"/>
          </a:p>
        </p:txBody>
      </p:sp>
      <p:sp>
        <p:nvSpPr>
          <p:cNvPr id="4" name="9715bc28-cd64-4d5c-a8db-896992e6cb49"/>
          <p:cNvSpPr/>
          <p:nvPr/>
        </p:nvSpPr>
        <p:spPr>
          <a:xfrm>
            <a:off x="285750" y="1131570"/>
            <a:ext cx="419481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Formatação Condicional?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É um recurso dinâmico que aplica automaticamente cores de fundo, bordas ou fontes com base em regras matemáticas pré-estabelecidas.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acima da meta ganham preenchimento verde.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críticos ou prejuízos acendem em vermelho.</a:t>
            </a:r>
            <a:endParaRPr lang="en-US" sz="1544" dirty="0"/>
          </a:p>
        </p:txBody>
      </p:sp>
      <p:sp>
        <p:nvSpPr>
          <p:cNvPr id="5" name="1a1bb473-c703-480f-9be5-89b6fefbcce6"/>
          <p:cNvSpPr/>
          <p:nvPr/>
        </p:nvSpPr>
        <p:spPr>
          <a:xfrm>
            <a:off x="4652010" y="3326130"/>
            <a:ext cx="419481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atualizar qualquer número na tabela, a cor muda de forma instantânea sem precisar de ajustes manuais.</a:t>
            </a:r>
            <a:endParaRPr lang="en-US" sz="126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fbae6e2-680d-4bef-b81f-3cf618d37e25" descr="/home/forge/chalkie-production-workers-1/releases/77481629/backend/storage/app/render-specs/a7d47607-8bf2-49cb-a6bf-e1007eba1d5c/img_45f0641b9d76abf8eb6083cf04fdff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ef6ce8d9-47d4-4ad8-ad8a-218119d03a8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Escalas de Cor e Barras de Dados</a:t>
            </a:r>
            <a:endParaRPr lang="en-US" sz="2246" dirty="0"/>
          </a:p>
        </p:txBody>
      </p:sp>
      <p:sp>
        <p:nvSpPr>
          <p:cNvPr id="4" name="40b22cb9-07a6-4782-83c1-d45bbbbeb755"/>
          <p:cNvSpPr/>
          <p:nvPr/>
        </p:nvSpPr>
        <p:spPr>
          <a:xfrm>
            <a:off x="42862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3054d7fc-38e9-43bd-bd36-6694ea9dca1d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Além de regras de maior/menor, o Excel oferece recursos visuais em células: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Barras de Dados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gráficos horizontais dentro da célula.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Escalas de Cor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gradientes (verde a vermelho) para representar calor de vendas.</a:t>
            </a:r>
            <a:endParaRPr lang="en-US" sz="1264" dirty="0"/>
          </a:p>
        </p:txBody>
      </p:sp>
      <p:sp>
        <p:nvSpPr>
          <p:cNvPr id="6" name="e768d49f-474d-477f-8987-7bd8666e083b_card"/>
          <p:cNvSpPr/>
          <p:nvPr/>
        </p:nvSpPr>
        <p:spPr>
          <a:xfrm>
            <a:off x="4286250" y="345186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e768d49f-474d-477f-8987-7bd8666e083b_emoji"/>
          <p:cNvSpPr/>
          <p:nvPr/>
        </p:nvSpPr>
        <p:spPr>
          <a:xfrm>
            <a:off x="44005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e768d49f-474d-477f-8987-7bd8666e083b_text"/>
          <p:cNvSpPr/>
          <p:nvPr/>
        </p:nvSpPr>
        <p:spPr>
          <a:xfrm>
            <a:off x="4766310" y="356616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 índices em painéis executivos.</a:t>
            </a:r>
            <a:endParaRPr lang="en-US" sz="112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574b0d1-8c9b-4c0f-9b6a-46bec44b6973" descr="/home/forge/chalkie-production-workers-1/releases/77481629/backend/storage/app/render-specs/a7d47607-8bf2-49cb-a6bf-e1007eba1d5c/img_0882a56b0a987d7684b57a974ad7b0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acc6f374-7f41-4003-a176-41e96b10e064"/>
          <p:cNvSpPr/>
          <p:nvPr/>
        </p:nvSpPr>
        <p:spPr>
          <a:xfrm>
            <a:off x="285750" y="140589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 Visual Instantâneo</a:t>
            </a:r>
            <a:endParaRPr lang="en-US" sz="2246" dirty="0"/>
          </a:p>
        </p:txBody>
      </p:sp>
      <p:sp>
        <p:nvSpPr>
          <p:cNvPr id="4" name="eef5d8d1-4059-4633-bca9-38289a108779"/>
          <p:cNvSpPr/>
          <p:nvPr/>
        </p:nvSpPr>
        <p:spPr>
          <a:xfrm>
            <a:off x="285750" y="203454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um relatório com dez mil linhas, ninguém lê célula por célula. A formatação condicional atua como um semáforo inteligente, guiando o olhar do gestor direto para o problema que exige ação urgente.</a:t>
            </a:r>
            <a:endParaRPr lang="en-US" sz="126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7d7f5e2-829e-4fe7-849b-606947aa9e5c"/>
          <p:cNvSpPr/>
          <p:nvPr/>
        </p:nvSpPr>
        <p:spPr>
          <a:xfrm>
            <a:off x="17145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7c30ef50-7ca0-4f2a-956a-07718001aa98"/>
          <p:cNvSpPr/>
          <p:nvPr/>
        </p:nvSpPr>
        <p:spPr>
          <a:xfrm>
            <a:off x="237744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03c72c60-d9e9-468b-813e-611d3cc8d73c"/>
          <p:cNvSpPr/>
          <p:nvPr/>
        </p:nvSpPr>
        <p:spPr>
          <a:xfrm>
            <a:off x="457200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1361f1da-0eb9-47a5-88a6-61474ab0c902"/>
          <p:cNvSpPr/>
          <p:nvPr/>
        </p:nvSpPr>
        <p:spPr>
          <a:xfrm>
            <a:off x="677799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a2064c54-0c2e-4308-992f-eec22633b87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Estilização Profissional de Tabelas</a:t>
            </a:r>
            <a:endParaRPr lang="en-US" sz="2246" dirty="0"/>
          </a:p>
        </p:txBody>
      </p:sp>
      <p:sp>
        <p:nvSpPr>
          <p:cNvPr id="7" name="db5fc886-8cbc-4540-944d-47c86d646fd0"/>
          <p:cNvSpPr/>
          <p:nvPr/>
        </p:nvSpPr>
        <p:spPr>
          <a:xfrm>
            <a:off x="28575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Tipografia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Adote uma única família de fontes limpas, como Aptos, Segoe UI ou Calibri.</a:t>
            </a:r>
            <a:endParaRPr lang="en-US" sz="1544" dirty="0"/>
          </a:p>
        </p:txBody>
      </p:sp>
      <p:sp>
        <p:nvSpPr>
          <p:cNvPr id="8" name="60125850-8336-41d4-bf3d-8c6b216be064"/>
          <p:cNvSpPr/>
          <p:nvPr/>
        </p:nvSpPr>
        <p:spPr>
          <a:xfrm>
            <a:off x="249174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Alinhamento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Alinhe textos à esquerda e todos os números e moedas sempre à direita.</a:t>
            </a:r>
            <a:endParaRPr lang="en-US" sz="1544" dirty="0"/>
          </a:p>
        </p:txBody>
      </p:sp>
      <p:sp>
        <p:nvSpPr>
          <p:cNvPr id="9" name="71260429-26e2-4dab-a969-665fd48b6ee8"/>
          <p:cNvSpPr/>
          <p:nvPr/>
        </p:nvSpPr>
        <p:spPr>
          <a:xfrm>
            <a:off x="4686300" y="1371600"/>
            <a:ext cx="197739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Contraste e Bordas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cabeçalhos escuros com texto branco e linhas de grade discretas.</a:t>
            </a:r>
            <a:endParaRPr lang="en-US" sz="1544" dirty="0"/>
          </a:p>
        </p:txBody>
      </p:sp>
      <p:sp>
        <p:nvSpPr>
          <p:cNvPr id="10" name="80584677-4f36-4a9f-98b0-9c9a119481e8"/>
          <p:cNvSpPr/>
          <p:nvPr/>
        </p:nvSpPr>
        <p:spPr>
          <a:xfrm>
            <a:off x="689229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Hierarquia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Destaque linhas de totais gerais com negrito e borda dupla inferior.</a:t>
            </a:r>
            <a:endParaRPr lang="en-US" sz="15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183a7dd-f03e-4a13-b051-6ef51d949bb2" descr="/home/forge/chalkie-production-workers-1/releases/77481629/backend/storage/app/render-specs/a7d47607-8bf2-49cb-a6bf-e1007eba1d5c/img_9810640de57473b24f56678d52028d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5e7ab510-ece1-4605-a619-5cb09d8df1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Poluição Visual vs. Clareza de Dados</a:t>
            </a:r>
            <a:endParaRPr lang="en-US" sz="2246" dirty="0"/>
          </a:p>
        </p:txBody>
      </p:sp>
      <p:sp>
        <p:nvSpPr>
          <p:cNvPr id="4" name="eb8bacb5-7bb3-4a0d-8fae-dd359e55d622"/>
          <p:cNvSpPr/>
          <p:nvPr/>
        </p:nvSpPr>
        <p:spPr>
          <a:xfrm>
            <a:off x="42862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1283fa06-9c04-4afe-9232-21e1a163b16c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cores primárias fortes que criam um 'efeito carnaval' cansativo.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tons neutros como cinza, azul-marinho e grafite.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Reserve cores saturadas apenas para sinalizar exceções e metas.</a:t>
            </a:r>
            <a:endParaRPr lang="en-US" sz="1264" dirty="0"/>
          </a:p>
        </p:txBody>
      </p:sp>
      <p:sp>
        <p:nvSpPr>
          <p:cNvPr id="6" name="2bd0c938-24a2-4ee5-93dd-9f22fe6865bb_card"/>
          <p:cNvSpPr/>
          <p:nvPr/>
        </p:nvSpPr>
        <p:spPr>
          <a:xfrm>
            <a:off x="4286250" y="31889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2bd0c938-24a2-4ee5-93dd-9f22fe6865bb_emoji"/>
          <p:cNvSpPr/>
          <p:nvPr/>
        </p:nvSpPr>
        <p:spPr>
          <a:xfrm>
            <a:off x="4400550" y="33375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2bd0c938-24a2-4ee5-93dd-9f22fe6865bb_text"/>
          <p:cNvSpPr/>
          <p:nvPr/>
        </p:nvSpPr>
        <p:spPr>
          <a:xfrm>
            <a:off x="4766310" y="33032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Menos cores trazem elegância e autoridade profissional à análise.</a:t>
            </a:r>
            <a:endParaRPr lang="en-US" sz="112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c30db47-c0ca-4074-94fe-f510a319b6f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Alinhamento de Células</a:t>
            </a:r>
            <a:endParaRPr lang="en-US" sz="2246" dirty="0"/>
          </a:p>
        </p:txBody>
      </p:sp>
      <p:sp>
        <p:nvSpPr>
          <p:cNvPr id="3" name="925e01d6-a0e9-4425-bcf6-b10f3733b277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925e01d6-a0e9-4425-bcf6-b10f3733b27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tabelas corporativas, os números devem ser alinhados à esquerda para facilitar a leitura alfabética.</a:t>
            </a:r>
            <a:endParaRPr lang="en-US" sz="1264" dirty="0"/>
          </a:p>
        </p:txBody>
      </p:sp>
      <p:sp>
        <p:nvSpPr>
          <p:cNvPr id="5" name="019ef2df-17d0-46f1-8f89-3a3bae98870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8e15b74c-89fb-4829-9797-b12f91ba9a2d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38c983a0-a204-4757-8015-3e79b4b1aebd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c30db47-c0ca-4074-94fe-f510a319b6f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Alinhamento de Células</a:t>
            </a:r>
            <a:endParaRPr lang="en-US" sz="2246" dirty="0"/>
          </a:p>
        </p:txBody>
      </p:sp>
      <p:sp>
        <p:nvSpPr>
          <p:cNvPr id="3" name="925e01d6-a0e9-4425-bcf6-b10f3733b277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925e01d6-a0e9-4425-bcf6-b10f3733b27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tabelas corporativas, os números devem ser alinhados à esquerda para facilitar a leitura alfabética.</a:t>
            </a:r>
            <a:endParaRPr lang="en-US" sz="1264" dirty="0"/>
          </a:p>
        </p:txBody>
      </p:sp>
      <p:sp>
        <p:nvSpPr>
          <p:cNvPr id="5" name="019ef2df-17d0-46f1-8f89-3a3bae98870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8e15b74c-89fb-4829-9797-b12f91ba9a2d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b5638c84-89e1-44b2-8246-ec7b899d70ca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6903aa5f-932e-4992-a84d-75db27ab5be2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6903aa5f-932e-4992-a84d-75db27ab5be2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6903aa5f-932e-4992-a84d-75db27ab5be2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devem ser alinhados à direita para que as casas decimais e ordens de grandeza fiquem perfeitamente emparelhadas.</a:t>
            </a:r>
            <a:endParaRPr lang="en-US" sz="1123" dirty="0"/>
          </a:p>
        </p:txBody>
      </p:sp>
      <p:sp>
        <p:nvSpPr>
          <p:cNvPr id="11" name="6896e8a5-64af-4bdb-8ea6-c64b30730920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2aaf24c-d482-47d8-af87-1fe35f06a7b8" descr="/home/forge/chalkie-production-workers-1/releases/77481629/backend/storage/app/render-specs/a7d47607-8bf2-49cb-a6bf-e1007eba1d5c/img_08d8f232ed2978e47049682ab58e40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e59dff84-e2db-4f9f-b3a9-019fdee757a8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Congelamento de Painéis</a:t>
            </a:r>
            <a:endParaRPr lang="en-US" sz="2246" dirty="0"/>
          </a:p>
        </p:txBody>
      </p:sp>
      <p:sp>
        <p:nvSpPr>
          <p:cNvPr id="4" name="0fd142b7-092e-4d10-b9da-9d736d965e54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5ad6e3b1-2a8c-4977-bb40-6af4f2e0519f"/>
          <p:cNvSpPr/>
          <p:nvPr/>
        </p:nvSpPr>
        <p:spPr>
          <a:xfrm>
            <a:off x="285750" y="117729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rolar para baixo uma tabela com centenas de linhas, os títulos das colunas somem da tela, deixando você perdido sobre o que cada valor significa.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fixa linhas de cabeçalho e colunas de identificação no topo da tela.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Encontre na guia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Exibir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&gt;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6" name="528fa3f3-459b-470c-8dcd-41fee43c5dee_card"/>
          <p:cNvSpPr/>
          <p:nvPr/>
        </p:nvSpPr>
        <p:spPr>
          <a:xfrm>
            <a:off x="285750" y="345186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528fa3f3-459b-470c-8dcd-41fee43c5dee_emoji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528fa3f3-459b-470c-8dcd-41fee43c5dee_text"/>
          <p:cNvSpPr/>
          <p:nvPr/>
        </p:nvSpPr>
        <p:spPr>
          <a:xfrm>
            <a:off x="765810" y="3566160"/>
            <a:ext cx="45491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Posicione o cursor exatamente na célula abaixo e à direita do bloco que você deseja manter congelado.</a:t>
            </a:r>
            <a:endParaRPr lang="en-US" sz="112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eec9cc1-f681-47af-ae27-8329bb60abd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Três Opções de Congelamento</a:t>
            </a:r>
            <a:endParaRPr lang="en-US" sz="2246" dirty="0"/>
          </a:p>
        </p:txBody>
      </p:sp>
      <p:sp>
        <p:nvSpPr>
          <p:cNvPr id="3" name="5702480d-5017-4f65-920b-ddccb09feb72"/>
          <p:cNvSpPr/>
          <p:nvPr/>
        </p:nvSpPr>
        <p:spPr>
          <a:xfrm>
            <a:off x="285750" y="800100"/>
            <a:ext cx="27432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Linha Superior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 exclusivamente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 1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da planilha. É o método mais rápido para relatórios simples cujo título e cabeçalho ocupam a primeira linha.</a:t>
            </a:r>
            <a:endParaRPr lang="en-US" sz="1544" dirty="0"/>
          </a:p>
        </p:txBody>
      </p:sp>
      <p:sp>
        <p:nvSpPr>
          <p:cNvPr id="4" name="e276f511-6d3a-4e1f-b2d6-65b420b19750_card"/>
          <p:cNvSpPr/>
          <p:nvPr/>
        </p:nvSpPr>
        <p:spPr>
          <a:xfrm>
            <a:off x="285750" y="3326130"/>
            <a:ext cx="27432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5" name="e276f511-6d3a-4e1f-b2d6-65b420b19750_emoji"/>
          <p:cNvSpPr/>
          <p:nvPr/>
        </p:nvSpPr>
        <p:spPr>
          <a:xfrm>
            <a:off x="400050" y="34747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6" name="e276f511-6d3a-4e1f-b2d6-65b420b19750_text"/>
          <p:cNvSpPr/>
          <p:nvPr/>
        </p:nvSpPr>
        <p:spPr>
          <a:xfrm>
            <a:off x="765810" y="3440430"/>
            <a:ext cx="21488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para listas de compras rápidas.</a:t>
            </a:r>
            <a:endParaRPr lang="en-US" sz="1123" dirty="0"/>
          </a:p>
        </p:txBody>
      </p:sp>
      <p:sp>
        <p:nvSpPr>
          <p:cNvPr id="7" name="fa9b7466-fee7-4950-b3cc-72303f21275a"/>
          <p:cNvSpPr/>
          <p:nvPr/>
        </p:nvSpPr>
        <p:spPr>
          <a:xfrm>
            <a:off x="3200400" y="800100"/>
            <a:ext cx="2743200" cy="25557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Primeira Coluna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 somente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 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Permite rolar os dados para a direita mantendo sempre visível o código ou nome do produto analisado.</a:t>
            </a:r>
            <a:endParaRPr lang="en-US" sz="1544" dirty="0"/>
          </a:p>
        </p:txBody>
      </p:sp>
      <p:sp>
        <p:nvSpPr>
          <p:cNvPr id="8" name="e806f93a-a152-421a-ab48-05bce5c1a56e_card"/>
          <p:cNvSpPr/>
          <p:nvPr/>
        </p:nvSpPr>
        <p:spPr>
          <a:xfrm>
            <a:off x="3200400" y="3326130"/>
            <a:ext cx="27432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9" name="e806f93a-a152-421a-ab48-05bce5c1a56e_emoji"/>
          <p:cNvSpPr/>
          <p:nvPr/>
        </p:nvSpPr>
        <p:spPr>
          <a:xfrm>
            <a:off x="3314700" y="34747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10" name="e806f93a-a152-421a-ab48-05bce5c1a56e_text"/>
          <p:cNvSpPr/>
          <p:nvPr/>
        </p:nvSpPr>
        <p:spPr>
          <a:xfrm>
            <a:off x="3680460" y="3440430"/>
            <a:ext cx="2148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Perfeito para orçamentos de doze meses.</a:t>
            </a:r>
            <a:endParaRPr lang="en-US" sz="1123" dirty="0"/>
          </a:p>
        </p:txBody>
      </p:sp>
      <p:sp>
        <p:nvSpPr>
          <p:cNvPr id="11" name="501ab025-b9c9-47a5-ae6e-03c6f1bc3722"/>
          <p:cNvSpPr/>
          <p:nvPr/>
        </p:nvSpPr>
        <p:spPr>
          <a:xfrm>
            <a:off x="6115050" y="800100"/>
            <a:ext cx="274320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 Livre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Trava simultaneamente múltiplas linhas e colunas acima e à esquerda da célula atualmente selecionada.</a:t>
            </a:r>
            <a:endParaRPr lang="en-US" sz="1544" dirty="0"/>
          </a:p>
        </p:txBody>
      </p:sp>
      <p:sp>
        <p:nvSpPr>
          <p:cNvPr id="12" name="79231068-4074-45c7-a97a-511910fab204_card"/>
          <p:cNvSpPr/>
          <p:nvPr/>
        </p:nvSpPr>
        <p:spPr>
          <a:xfrm>
            <a:off x="6115050" y="3074670"/>
            <a:ext cx="27432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3" name="79231068-4074-45c7-a97a-511910fab204_emoji"/>
          <p:cNvSpPr/>
          <p:nvPr/>
        </p:nvSpPr>
        <p:spPr>
          <a:xfrm>
            <a:off x="62293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4" name="79231068-4074-45c7-a97a-511910fab204_text"/>
          <p:cNvSpPr/>
          <p:nvPr/>
        </p:nvSpPr>
        <p:spPr>
          <a:xfrm>
            <a:off x="6595110" y="3188970"/>
            <a:ext cx="2148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opção mais versátil do dia a dia.</a:t>
            </a:r>
            <a:endParaRPr lang="en-US" sz="112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c78ffa0-77ba-4029-aef4-2ff4d3057e7e" descr="/home/forge/chalkie-production-workers-1/releases/77481629/backend/storage/app/render-specs/a7d47607-8bf2-49cb-a6bf-e1007eba1d5c/img_96abbe6580a2bfb1bad24e6e35086b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c2bdac4-1022-4f1d-b8a3-9551613f30d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Perigo dos Dados Incorretos</a:t>
            </a:r>
            <a:endParaRPr lang="en-US" sz="2246" dirty="0"/>
          </a:p>
        </p:txBody>
      </p:sp>
      <p:sp>
        <p:nvSpPr>
          <p:cNvPr id="4" name="9f332701-9ca1-4511-9ba3-64d4820819f4"/>
          <p:cNvSpPr/>
          <p:nvPr/>
        </p:nvSpPr>
        <p:spPr>
          <a:xfrm>
            <a:off x="4286250" y="86868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</a:t>
            </a:r>
            <a:endParaRPr lang="en-US" sz="842" dirty="0"/>
          </a:p>
        </p:txBody>
      </p:sp>
      <p:sp>
        <p:nvSpPr>
          <p:cNvPr id="5" name="32e32752-046f-4e6e-8440-4f5b5233383f"/>
          <p:cNvSpPr/>
          <p:nvPr/>
        </p:nvSpPr>
        <p:spPr>
          <a:xfrm>
            <a:off x="42862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operador digitar 'São Paulo', outro 'Sao Paulo' e um terceiro 'SP', o Excel falhará ao consolidar vendas por estado em fórmulas.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Digitações inconsistentes distorcem contagens e somas.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Erros de digitação geram decisões gerenciais erradas.</a:t>
            </a:r>
            <a:endParaRPr lang="en-US" sz="1264" dirty="0"/>
          </a:p>
        </p:txBody>
      </p:sp>
      <p:sp>
        <p:nvSpPr>
          <p:cNvPr id="6" name="d8a21f89-925b-443e-bf13-b9d332766aa7_card"/>
          <p:cNvSpPr/>
          <p:nvPr/>
        </p:nvSpPr>
        <p:spPr>
          <a:xfrm>
            <a:off x="4286250" y="370332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d8a21f89-925b-443e-bf13-b9d332766aa7_emoji"/>
          <p:cNvSpPr/>
          <p:nvPr/>
        </p:nvSpPr>
        <p:spPr>
          <a:xfrm>
            <a:off x="4400550" y="38519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d8a21f89-925b-443e-bf13-b9d332766aa7_text"/>
          <p:cNvSpPr/>
          <p:nvPr/>
        </p:nvSpPr>
        <p:spPr>
          <a:xfrm>
            <a:off x="4766310" y="381762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ouro: dados de entrada incorretos geram relatórios inúteis.</a:t>
            </a:r>
            <a:endParaRPr lang="en-US" sz="112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9d9fd62-20bf-4401-ac9f-aa1322b84dd9"/>
          <p:cNvSpPr/>
          <p:nvPr/>
        </p:nvSpPr>
        <p:spPr>
          <a:xfrm>
            <a:off x="285750" y="4343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Dados: Como Funciona</a:t>
            </a:r>
            <a:endParaRPr lang="en-US" sz="2246" dirty="0"/>
          </a:p>
        </p:txBody>
      </p:sp>
      <p:sp>
        <p:nvSpPr>
          <p:cNvPr id="3" name="bf227b86-a372-47c9-9cba-2fb5a64ca9ad"/>
          <p:cNvSpPr/>
          <p:nvPr/>
        </p:nvSpPr>
        <p:spPr>
          <a:xfrm>
            <a:off x="285750" y="106299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a Validação?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cria regras de entrada: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Permite apenas números em faixas (ex: 1 a 100).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Aceita datas apenas do ano fiscal corrente.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Limita o tamanho do texto (ex: CPF com 11 dígitos).</a:t>
            </a:r>
            <a:endParaRPr lang="en-US" sz="1544" dirty="0"/>
          </a:p>
        </p:txBody>
      </p:sp>
      <p:sp>
        <p:nvSpPr>
          <p:cNvPr id="4" name="2d569e65-efae-4198-ae26-4dd52883acd9"/>
          <p:cNvSpPr/>
          <p:nvPr/>
        </p:nvSpPr>
        <p:spPr>
          <a:xfrm>
            <a:off x="4652010" y="106299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Alertas Personalizados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avisos para erros de digitação: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Mensagem de Entrada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instrui o usuário ao clicar na célula.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 de Erro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impede a gravação até a correção.</a:t>
            </a:r>
            <a:endParaRPr lang="en-US" sz="1544" dirty="0"/>
          </a:p>
        </p:txBody>
      </p:sp>
      <p:sp>
        <p:nvSpPr>
          <p:cNvPr id="5" name="a2246b28-c4f4-4f08-9806-72811beba500_card"/>
          <p:cNvSpPr/>
          <p:nvPr/>
        </p:nvSpPr>
        <p:spPr>
          <a:xfrm>
            <a:off x="4652010" y="320040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a2246b28-c4f4-4f08-9806-72811beba500_emoji"/>
          <p:cNvSpPr/>
          <p:nvPr/>
        </p:nvSpPr>
        <p:spPr>
          <a:xfrm>
            <a:off x="4766310" y="33489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a2246b28-c4f4-4f08-9806-72811beba500_text"/>
          <p:cNvSpPr/>
          <p:nvPr/>
        </p:nvSpPr>
        <p:spPr>
          <a:xfrm>
            <a:off x="5132070" y="331470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Acesse via guia Dados &gt; Validação de Dados.</a:t>
            </a:r>
            <a:endParaRPr lang="en-US" sz="112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88da885-9878-4ba8-b89b-cd51305983c8" descr="/home/forge/chalkie-production-workers-1/releases/77481629/backend/storage/app/render-specs/a7d47607-8bf2-49cb-a6bf-e1007eba1d5c/img_f2ab4687c38fc717d0f750d16631a8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9124aa26-0528-4d10-aeba-d9bd4b6e6c55"/>
          <p:cNvSpPr/>
          <p:nvPr/>
        </p:nvSpPr>
        <p:spPr>
          <a:xfrm>
            <a:off x="285750" y="21717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Criando Listas Suspensas</a:t>
            </a:r>
            <a:endParaRPr lang="en-US" sz="2246" dirty="0"/>
          </a:p>
        </p:txBody>
      </p:sp>
      <p:sp>
        <p:nvSpPr>
          <p:cNvPr id="4" name="cadf2aa9-7b16-422a-be18-22dd5febaf61"/>
          <p:cNvSpPr/>
          <p:nvPr/>
        </p:nvSpPr>
        <p:spPr>
          <a:xfrm>
            <a:off x="285750" y="91440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5e94aaf6-3229-4e7c-b8e9-f22f05e3be78"/>
          <p:cNvSpPr/>
          <p:nvPr/>
        </p:nvSpPr>
        <p:spPr>
          <a:xfrm>
            <a:off x="285750" y="122301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lista suspensa é a forma mais eficiente de validação de dados no Excel corporativo: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o intervalo que receberá as escolhas.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Validação, escolha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Permitir: Lista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Digite as opções separadas por ponto e vírgula:  ou selecione um intervalo de apoio.</a:t>
            </a:r>
            <a:endParaRPr lang="en-US" sz="1264" dirty="0"/>
          </a:p>
        </p:txBody>
      </p:sp>
      <p:sp>
        <p:nvSpPr>
          <p:cNvPr id="6" name="6b42ca2e-e78d-4d29-bfbd-edc56013912d_card"/>
          <p:cNvSpPr/>
          <p:nvPr/>
        </p:nvSpPr>
        <p:spPr>
          <a:xfrm>
            <a:off x="285750" y="355473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6b42ca2e-e78d-4d29-bfbd-edc56013912d_emoji"/>
          <p:cNvSpPr/>
          <p:nvPr/>
        </p:nvSpPr>
        <p:spPr>
          <a:xfrm>
            <a:off x="400050" y="37033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6b42ca2e-e78d-4d29-bfbd-edc56013912d_text"/>
          <p:cNvSpPr/>
          <p:nvPr/>
        </p:nvSpPr>
        <p:spPr>
          <a:xfrm>
            <a:off x="765810" y="366903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usuário escolhe com um clique de mouse, eliminando 100% dos erros de digitação.</a:t>
            </a:r>
            <a:endParaRPr lang="en-US" sz="112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5129e45-380e-40fa-b7a3-7bdea0334b6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Vídeo: Validação de Dados em Ação</a:t>
            </a:r>
            <a:endParaRPr lang="en-US" sz="2246" dirty="0"/>
          </a:p>
        </p:txBody>
      </p:sp>
      <p:sp>
        <p:nvSpPr>
          <p:cNvPr id="3" name="e3b5b2f1-374a-42f0-a814-249acb14f4fb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listas suspensas e alertas de erro.</a:t>
            </a:r>
            <a:endParaRPr lang="en-US" sz="1264" dirty="0"/>
          </a:p>
        </p:txBody>
      </p:sp>
      <p:pic>
        <p:nvPicPr>
          <p:cNvPr id="4" name="bc4b67e1-d029-4bb6-b25b-b41429290df4" descr="/home/forge/chalkie-production-workers-1/releases/77481629/backend/storage/app/render-specs/a7d47607-8bf2-49cb-a6bf-e1007eba1d5c/poster_MY3DQxPlpxs.jpg">
            <a:hlinkClick r:id="rId5"/>
          </p:cNvPr>
          <p:cNvPicPr>
            <a:picLocks noChangeAspect="1"/>
          </p:cNvPicPr>
          <p:nvPr>
            <a:videoFile r:link="rId1"/>
            <p:extLst>
              <p:ext uri="{C809E66F-F1BF-436E-b5F7-EEA9579F0CBA}">
                <p15:webVideoPr xmlns:p15="http://schemas.microsoft.com/office/powerpoint/2012/main" xmlns="" embeddedHtml="&lt;iframe width=&quot;560&quot; height=&quot;315&quot; src=&quot;https://www.youtube.com/embed/MY3DQxPlpxs?feature=oembed&quot; frameborder=&quot;0&quot; allowfullscreen=&quot;&quot;&gt;&lt;/iframe&gt;" h="315" w="560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5ff2226-32fe-4f42-9f53-98fb4fd4bcc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Ordenação: Configurando uma Lista</a:t>
            </a:r>
            <a:endParaRPr lang="en-US" sz="2246" dirty="0"/>
          </a:p>
        </p:txBody>
      </p:sp>
      <p:sp>
        <p:nvSpPr>
          <p:cNvPr id="3" name="842d3025-fcb3-4da2-a27a-23ebaa5f9f8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sequência correta para configurar uma lista suspensa de opções em uma célula?</a:t>
            </a:r>
            <a:endParaRPr lang="en-US" sz="1264" dirty="0"/>
          </a:p>
        </p:txBody>
      </p:sp>
      <p:sp>
        <p:nvSpPr>
          <p:cNvPr id="4" name="8b250ea3-c54f-48db-bb98-bdd0333a994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Selecionar as células que receberão a lista suspensa.</a:t>
            </a:r>
            <a:endParaRPr lang="en-US" sz="1264" dirty="0"/>
          </a:p>
        </p:txBody>
      </p:sp>
      <p:sp>
        <p:nvSpPr>
          <p:cNvPr id="5" name="a29ce7c6-d54a-4301-93c7-9cd4800fa8c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os itens no campo Fonte separados por ponto e vírgula.</a:t>
            </a:r>
            <a:endParaRPr lang="en-US" sz="1264" dirty="0"/>
          </a:p>
        </p:txBody>
      </p:sp>
      <p:sp>
        <p:nvSpPr>
          <p:cNvPr id="6" name="0938a55b-645d-4be8-a8c1-219b08ef378c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Acessar a guia Dados e clicar no botão Validação de Dados.</a:t>
            </a:r>
            <a:endParaRPr lang="en-US" sz="1264" dirty="0"/>
          </a:p>
        </p:txBody>
      </p:sp>
      <p:sp>
        <p:nvSpPr>
          <p:cNvPr id="7" name="a3acf851-82bf-4e7a-be8c-5f5de01b9c9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caixa de diálogo, alterar a opção Permitir para Lista.</a:t>
            </a:r>
            <a:endParaRPr lang="en-US" sz="126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5ff2226-32fe-4f42-9f53-98fb4fd4bcc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Ordenação: Configurando uma Lista</a:t>
            </a:r>
            <a:endParaRPr lang="en-US" sz="2246" dirty="0"/>
          </a:p>
        </p:txBody>
      </p:sp>
      <p:sp>
        <p:nvSpPr>
          <p:cNvPr id="3" name="842d3025-fcb3-4da2-a27a-23ebaa5f9f8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sequência correta para configurar uma lista suspensa de opções em uma célula?</a:t>
            </a:r>
            <a:endParaRPr lang="en-US" sz="1264" dirty="0"/>
          </a:p>
        </p:txBody>
      </p:sp>
      <p:sp>
        <p:nvSpPr>
          <p:cNvPr id="4" name="8b250ea3-c54f-48db-bb98-bdd0333a994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Selecionar as células que receberão a lista suspensa.</a:t>
            </a:r>
            <a:endParaRPr lang="en-US" sz="1264" dirty="0"/>
          </a:p>
        </p:txBody>
      </p:sp>
      <p:sp>
        <p:nvSpPr>
          <p:cNvPr id="5" name="a29ce7c6-d54a-4301-93c7-9cd4800fa8c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os itens no campo Fonte separados por ponto e vírgula.</a:t>
            </a:r>
            <a:endParaRPr lang="en-US" sz="1264" dirty="0"/>
          </a:p>
        </p:txBody>
      </p:sp>
      <p:sp>
        <p:nvSpPr>
          <p:cNvPr id="6" name="0938a55b-645d-4be8-a8c1-219b08ef378c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Acessar a guia Dados e clicar no botão Validação de Dados.</a:t>
            </a:r>
            <a:endParaRPr lang="en-US" sz="1264" dirty="0"/>
          </a:p>
        </p:txBody>
      </p:sp>
      <p:sp>
        <p:nvSpPr>
          <p:cNvPr id="7" name="a3acf851-82bf-4e7a-be8c-5f5de01b9c9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caixa de diálogo, alterar a opção Permitir para Lista.</a:t>
            </a:r>
            <a:endParaRPr lang="en-US" sz="1264" dirty="0"/>
          </a:p>
        </p:txBody>
      </p:sp>
      <p:sp>
        <p:nvSpPr>
          <p:cNvPr id="8" name="53c41f03-a8bb-4118-b0d5-9d8098093cd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327f4397-01bd-4bcd-9d86-6920fcee0ab2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5a1f009a-88b8-4cd7-b5d4-27f9ac0e803a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dc1ae7cc-7af3-41cc-a9d0-94416c9b149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51435545-4354-4695-a4f9-0c72aaa4c844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a042ba4-6044-42e1-ad89-b75f51668135" descr="/home/forge/chalkie-production-workers-1/releases/77481629/backend/storage/app/render-specs/a7d47607-8bf2-49cb-a6bf-e1007eba1d5c/img_c16b95492db6cd8b2d03ccce5f30d1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7a3397d-b9a1-424c-9523-b10d1259bdc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Mecanismos de Proteção no Excel</a:t>
            </a:r>
            <a:endParaRPr lang="en-US" sz="2246" dirty="0"/>
          </a:p>
        </p:txBody>
      </p:sp>
      <p:sp>
        <p:nvSpPr>
          <p:cNvPr id="4" name="d75d3d27-fc76-4065-9b7d-c66f5c840ce1"/>
          <p:cNvSpPr/>
          <p:nvPr/>
        </p:nvSpPr>
        <p:spPr>
          <a:xfrm>
            <a:off x="285750" y="86868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</a:t>
            </a:r>
            <a:endParaRPr lang="en-US" sz="842" dirty="0"/>
          </a:p>
        </p:txBody>
      </p:sp>
      <p:sp>
        <p:nvSpPr>
          <p:cNvPr id="5" name="fad23d66-5809-477f-aff4-7e188779d31e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Depois de despender horas calculando fórmulas sofisticadas, qualquer usuário desatento pode clicar acidentalmente na tecla Delete e apagar o modelo de projeção. O Excel oferece uma arquitetura de proteção em duas etapas para blindar a sua lógica de negócio.</a:t>
            </a:r>
            <a:endParaRPr lang="en-US" sz="1264" dirty="0"/>
          </a:p>
        </p:txBody>
      </p:sp>
      <p:sp>
        <p:nvSpPr>
          <p:cNvPr id="6" name="2b245b1a-d1b1-408a-8123-db79353f034a_card"/>
          <p:cNvSpPr/>
          <p:nvPr/>
        </p:nvSpPr>
        <p:spPr>
          <a:xfrm>
            <a:off x="285750" y="326898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2b245b1a-d1b1-408a-8123-db79353f034a_emoji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2b245b1a-d1b1-408a-8123-db79353f034a_text"/>
          <p:cNvSpPr/>
          <p:nvPr/>
        </p:nvSpPr>
        <p:spPr>
          <a:xfrm>
            <a:off x="765810" y="338328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proteção garante a integridade dos cálculos sem impedir que novos dados sejam lançados.</a:t>
            </a:r>
            <a:endParaRPr lang="en-US" sz="112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0d51e3-19db-4e7c-9576-ae0341817a59"/>
          <p:cNvSpPr/>
          <p:nvPr/>
        </p:nvSpPr>
        <p:spPr>
          <a:xfrm>
            <a:off x="285750" y="2743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Lógica do Bloqueio de Células</a:t>
            </a:r>
            <a:endParaRPr lang="en-US" sz="2246" dirty="0"/>
          </a:p>
        </p:txBody>
      </p:sp>
      <p:sp>
        <p:nvSpPr>
          <p:cNvPr id="3" name="84f0a29b-c1ed-4bb9-b2b8-cd3e380bc570"/>
          <p:cNvSpPr/>
          <p:nvPr/>
        </p:nvSpPr>
        <p:spPr>
          <a:xfrm>
            <a:off x="285750" y="90297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 1: Destravar Entradas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padrão, todas as células estão 'Bloqueadas'.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células para entrada de dados.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, aba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desmarque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Bloqueadas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  <p:sp>
        <p:nvSpPr>
          <p:cNvPr id="4" name="14702d95-d2d0-42bd-9403-4838da07b005"/>
          <p:cNvSpPr/>
          <p:nvPr/>
        </p:nvSpPr>
        <p:spPr>
          <a:xfrm>
            <a:off x="4652010" y="90297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 2: Proteger a Planilha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guia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clique em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Planilha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bloqueio será ativado.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Fórmulas ficam intocáveis.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Células desmarcadas seguem editáveis.</a:t>
            </a:r>
            <a:endParaRPr lang="en-US" sz="1544" dirty="0"/>
          </a:p>
        </p:txBody>
      </p:sp>
      <p:sp>
        <p:nvSpPr>
          <p:cNvPr id="5" name="0ef88ff4-b94c-43c8-b18d-1226d50b1f47_card"/>
          <p:cNvSpPr/>
          <p:nvPr/>
        </p:nvSpPr>
        <p:spPr>
          <a:xfrm>
            <a:off x="4652010" y="336042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0ef88ff4-b94c-43c8-b18d-1226d50b1f47_emoji"/>
          <p:cNvSpPr/>
          <p:nvPr/>
        </p:nvSpPr>
        <p:spPr>
          <a:xfrm>
            <a:off x="4766310" y="35090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0ef88ff4-b94c-43c8-b18d-1226d50b1f47_text"/>
          <p:cNvSpPr/>
          <p:nvPr/>
        </p:nvSpPr>
        <p:spPr>
          <a:xfrm>
            <a:off x="5132070" y="347472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sem destravar células de entrada congela toda a planilha!</a:t>
            </a:r>
            <a:endParaRPr lang="en-US" sz="112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ee4565d-5d7d-4514-acfe-c47e832dd441" descr="/home/forge/chalkie-production-workers-1/releases/77481629/backend/storage/app/render-specs/a7d47607-8bf2-49cb-a6bf-e1007eba1d5c/img_18f9a996d9f00f122051a4d8fe8292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f22c959f-d319-4321-bd00-74897139ea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Níveis de Segurança: Pasta vs. Planilha</a:t>
            </a:r>
            <a:endParaRPr lang="en-US" sz="2246" dirty="0"/>
          </a:p>
        </p:txBody>
      </p:sp>
      <p:sp>
        <p:nvSpPr>
          <p:cNvPr id="4" name="1dfdc0bf-8842-4291-bf3d-cd181da35aab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87e9a99e-111e-4245-bd2e-0aad38852c2e"/>
          <p:cNvSpPr/>
          <p:nvPr/>
        </p:nvSpPr>
        <p:spPr>
          <a:xfrm>
            <a:off x="285750" y="1177290"/>
            <a:ext cx="45720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Planilha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impede edição de células, fórmulas ou formatação na aba atual.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Estrutura da Pasta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impede que usuários excluam, renomeiem ou adicionem abas no arquivo.</a:t>
            </a:r>
            <a:endParaRPr lang="en-US" sz="1264" dirty="0"/>
          </a:p>
        </p:txBody>
      </p:sp>
      <p:sp>
        <p:nvSpPr>
          <p:cNvPr id="6" name="0bff5239-0dd9-4a80-a128-2196fee8909f_card"/>
          <p:cNvSpPr/>
          <p:nvPr/>
        </p:nvSpPr>
        <p:spPr>
          <a:xfrm>
            <a:off x="285750" y="312039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0bff5239-0dd9-4a80-a128-2196fee8909f_emoji"/>
          <p:cNvSpPr/>
          <p:nvPr/>
        </p:nvSpPr>
        <p:spPr>
          <a:xfrm>
            <a:off x="400050" y="32689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0bff5239-0dd9-4a80-a128-2196fee8909f_text"/>
          <p:cNvSpPr/>
          <p:nvPr/>
        </p:nvSpPr>
        <p:spPr>
          <a:xfrm>
            <a:off x="765810" y="323469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Defina uma senha opcional para impedir desativações não autorizadas.</a:t>
            </a:r>
            <a:endParaRPr lang="en-US" sz="112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669a7ab-a20c-4fcf-abe4-d9054c0cecbc" descr="/home/forge/chalkie-production-workers-1/releases/77481629/backend/storage/app/render-specs/a7d47607-8bf2-49cb-a6bf-e1007eba1d5c/img_233ebf7f8ff45265cfdeb127ae0d30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b3d544d-07eb-46d6-91cf-246bf995d09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Automático para Análise</a:t>
            </a:r>
            <a:endParaRPr lang="en-US" sz="2246" dirty="0"/>
          </a:p>
        </p:txBody>
      </p:sp>
      <p:sp>
        <p:nvSpPr>
          <p:cNvPr id="4" name="1292ab58-0de4-4336-a62f-59e2ff171722"/>
          <p:cNvSpPr/>
          <p:nvPr/>
        </p:nvSpPr>
        <p:spPr>
          <a:xfrm>
            <a:off x="42862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290da01d-4280-4252-b872-49038350f8b3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AutoFiltro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adiciona setas nos cabeçalhos para consultar dados sem alterar a tabela: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marque a filial ou vendedor desejado.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Filtros de Número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exiba vendas 'maiores que R$ 1.000'.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Ordenação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classifique de A a Z ou por valores.</a:t>
            </a:r>
            <a:endParaRPr lang="en-US" sz="1264" dirty="0"/>
          </a:p>
        </p:txBody>
      </p:sp>
      <p:sp>
        <p:nvSpPr>
          <p:cNvPr id="6" name="7e0d54af-cdde-400a-b4e8-c20d64e1937d_card"/>
          <p:cNvSpPr/>
          <p:nvPr/>
        </p:nvSpPr>
        <p:spPr>
          <a:xfrm>
            <a:off x="42862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7e0d54af-cdde-400a-b4e8-c20d64e1937d_emoji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7e0d54af-cdde-400a-b4e8-c20d64e1937d_text"/>
          <p:cNvSpPr/>
          <p:nvPr/>
        </p:nvSpPr>
        <p:spPr>
          <a:xfrm>
            <a:off x="47663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 para ativar ou desativar filtros rapidamente.</a:t>
            </a:r>
            <a:endParaRPr lang="en-US" sz="112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2850dca-5aa0-4450-8e21-8aa8d0b676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Procedimento de Proteção</a:t>
            </a:r>
            <a:endParaRPr lang="en-US" sz="2246" dirty="0"/>
          </a:p>
        </p:txBody>
      </p:sp>
      <p:sp>
        <p:nvSpPr>
          <p:cNvPr id="3" name="08e48030-7d0c-4f02-9721-054e6114e08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ordem correta para permitir que usuários editem apenas dados de entrada, preservando fórmulas protegidas?</a:t>
            </a:r>
            <a:endParaRPr lang="en-US" sz="1264" dirty="0"/>
          </a:p>
        </p:txBody>
      </p:sp>
      <p:sp>
        <p:nvSpPr>
          <p:cNvPr id="4" name="2e17a31d-1a3b-4d36-950b-d54f01f9ad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7e1250e6-313e-41b3-8e5c-5d3aad4b54dc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Ativar Proteger Planilha e em seguida apagar as fórmulas das células que devem ser editadas.</a:t>
            </a:r>
            <a:endParaRPr lang="en-US" sz="1264" dirty="0"/>
          </a:p>
        </p:txBody>
      </p:sp>
      <p:sp>
        <p:nvSpPr>
          <p:cNvPr id="6" name="173e8035-dc15-4363-b82b-9a1a7c79cd2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d09f7d6e-170e-445d-8aaf-8c1c311ddccf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formatação condicional vermelha sobre as células que não podem ser alteradas.</a:t>
            </a:r>
            <a:endParaRPr lang="en-US" sz="1264" dirty="0"/>
          </a:p>
        </p:txBody>
      </p:sp>
      <p:sp>
        <p:nvSpPr>
          <p:cNvPr id="8" name="a1f48d53-4f71-47ac-b031-ef8055aa8ba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70d9e34-1a13-40fd-a105-e0dd057983f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uma senha na pasta de trabalho e ocultar todas as colunas que possuem cálculos.</a:t>
            </a:r>
            <a:endParaRPr lang="en-US" sz="1264" dirty="0"/>
          </a:p>
        </p:txBody>
      </p:sp>
      <p:sp>
        <p:nvSpPr>
          <p:cNvPr id="10" name="ddb0d6eb-0332-4499-b49d-6698039192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4ed4d505-fbed-4195-8087-4ffabbbc39b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Destravar as células de entrada em Formatar Células e depois ativar Proteger Planilha.</a:t>
            </a:r>
            <a:endParaRPr lang="en-US" sz="126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2850dca-5aa0-4450-8e21-8aa8d0b676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Procedimento de Proteção</a:t>
            </a:r>
            <a:endParaRPr lang="en-US" sz="2246" dirty="0"/>
          </a:p>
        </p:txBody>
      </p:sp>
      <p:sp>
        <p:nvSpPr>
          <p:cNvPr id="3" name="08e48030-7d0c-4f02-9721-054e6114e08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ordem correta para permitir que usuários editem apenas dados de entrada, preservando fórmulas protegidas?</a:t>
            </a:r>
            <a:endParaRPr lang="en-US" sz="1264" dirty="0"/>
          </a:p>
        </p:txBody>
      </p:sp>
      <p:sp>
        <p:nvSpPr>
          <p:cNvPr id="4" name="2e17a31d-1a3b-4d36-950b-d54f01f9ad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7e1250e6-313e-41b3-8e5c-5d3aad4b54dc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Ativar Proteger Planilha e em seguida apagar as fórmulas das células que devem ser editadas.</a:t>
            </a:r>
            <a:endParaRPr lang="en-US" sz="1264" dirty="0"/>
          </a:p>
        </p:txBody>
      </p:sp>
      <p:sp>
        <p:nvSpPr>
          <p:cNvPr id="6" name="173e8035-dc15-4363-b82b-9a1a7c79cd2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d09f7d6e-170e-445d-8aaf-8c1c311ddccf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formatação condicional vermelha sobre as células que não podem ser alteradas.</a:t>
            </a:r>
            <a:endParaRPr lang="en-US" sz="1264" dirty="0"/>
          </a:p>
        </p:txBody>
      </p:sp>
      <p:sp>
        <p:nvSpPr>
          <p:cNvPr id="8" name="a1f48d53-4f71-47ac-b031-ef8055aa8ba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70d9e34-1a13-40fd-a105-e0dd057983f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uma senha na pasta de trabalho e ocultar todas as colunas que possuem cálculos.</a:t>
            </a:r>
            <a:endParaRPr lang="en-US" sz="1264" dirty="0"/>
          </a:p>
        </p:txBody>
      </p:sp>
      <p:sp>
        <p:nvSpPr>
          <p:cNvPr id="10" name="ddb0d6eb-0332-4499-b49d-6698039192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4ed4d505-fbed-4195-8087-4ffabbbc39b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Destravar as células de entrada em Formatar Células e depois ativar Proteger Planilha.</a:t>
            </a:r>
            <a:endParaRPr lang="en-US" sz="1264" dirty="0"/>
          </a:p>
        </p:txBody>
      </p:sp>
      <p:sp>
        <p:nvSpPr>
          <p:cNvPr id="12" name="50152892-9e75-4f09-ae5a-f28d221fd2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bd207810-c326-4349-96bc-ae4f2e9842ef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44196d1-b96f-4f21-bb9f-fa2449a62cf9" descr="/home/forge/chalkie-production-workers-1/releases/77481629/backend/storage/app/render-specs/a7d47607-8bf2-49cb-a6bf-e1007eba1d5c/img_b8e2e30cbb6ba10a8acb00af0ff4b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3" name="e305ab3d-bb09-41aa-b769-def9c4afe3f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1: Relatório de Vendas</a:t>
            </a:r>
            <a:endParaRPr lang="en-US" sz="2246" dirty="0"/>
          </a:p>
        </p:txBody>
      </p:sp>
      <p:sp>
        <p:nvSpPr>
          <p:cNvPr id="4" name="8270add2-3de2-47c0-9607-7d823bf6b52c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Abra a planilha de vendas e siga estes passos de estilização: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Formate Faturamento como 'Moeda (R$)' e datas como 'Data Abreviada'.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Cabeçalho: fundo azul-escuro, texto branco e negrito.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Condicional: verde para vendas &gt; R$ 5.000 e vermelho para &lt; R$ 1.000.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Congele a linha do cabeçalho para fixá-la na rolagem.</a:t>
            </a:r>
            <a:endParaRPr lang="en-US" sz="126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4c2f780-f080-487e-b601-9288bbbf837a" descr="/home/forge/chalkie-production-workers-1/releases/77481629/backend/storage/app/render-specs/a7d47607-8bf2-49cb-a6bf-e1007eba1d5c/img_b8e2e30cbb6ba10a8acb00af0ff4b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3" name="4ba5114d-77c7-437d-912a-757ae97d2de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2: Formulário com Validação</a:t>
            </a:r>
            <a:endParaRPr lang="en-US" sz="2246" dirty="0"/>
          </a:p>
        </p:txBody>
      </p:sp>
      <p:sp>
        <p:nvSpPr>
          <p:cNvPr id="4" name="3857af0c-57a4-4451-ad48-e2b49c4a42d4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Cadastro de novos pedidos: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Região: Lista (Norte, Sul, Sudeste, Centro-Oeste, Nordeste).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Quantidade: Inteiro (1 a 500 unidades).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Alerta: 'Parar', título 'Quantidade Inválida', msg 'Use 1 a 500'.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Teste: Verifique o bloqueio ao inserir valores fora do intervalo.</a:t>
            </a:r>
            <a:endParaRPr lang="en-US" sz="126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bb3d34d-f8c9-44a3-b11a-131b1387781a" descr="/home/forge/chalkie-production-workers-1/releases/77481629/backend/storage/app/render-specs/a7d47607-8bf2-49cb-a6bf-e1007eba1d5c/img_b8e2e30cbb6ba10a8acb00af0ff4b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3" name="dc9d2e1d-389b-4fd3-b2ef-a5f99d18f4c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3: Bloqueio Estratégico</a:t>
            </a:r>
            <a:endParaRPr lang="en-US" sz="2246" dirty="0"/>
          </a:p>
        </p:txBody>
      </p:sp>
      <p:sp>
        <p:nvSpPr>
          <p:cNvPr id="4" name="322562e5-df08-4b36-a5e4-1b9b7651f060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células de quantidades e preços unitários.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Em 'Formatar Células' (Ctrl+1), aba 'Proteção', desmarque 'Bloqueadas'.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Na guia 'Revisão', clique em 'Proteger Planilha' com a senha 'gestao2026'.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Tente editar a fórmula de faturamento e verifique o aviso do Excel.</a:t>
            </a:r>
            <a:endParaRPr lang="en-US" sz="126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37fbfd-072e-4b60-a57d-5486899abe50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Síntese dos Recursos Estudados</a:t>
            </a:r>
            <a:endParaRPr lang="en-US" sz="2246" dirty="0"/>
          </a:p>
        </p:txBody>
      </p:sp>
      <p:sp>
        <p:nvSpPr>
          <p:cNvPr id="3" name="6ed9e101-8155-433f-9fd0-674024f86783"/>
          <p:cNvSpPr/>
          <p:nvPr/>
        </p:nvSpPr>
        <p:spPr>
          <a:xfrm>
            <a:off x="285750" y="9372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Comunicação Visual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customizada de moedas, percentuais e datas.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condicional para chamar a atenção gerencial.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Congelamento de painéis para navegação sem perda de contexto.</a:t>
            </a:r>
            <a:endParaRPr lang="en-US" sz="1544" dirty="0"/>
          </a:p>
        </p:txBody>
      </p:sp>
      <p:sp>
        <p:nvSpPr>
          <p:cNvPr id="4" name="7d0e9efc-54bd-4b7a-a2eb-56f3176f0e02"/>
          <p:cNvSpPr/>
          <p:nvPr/>
        </p:nvSpPr>
        <p:spPr>
          <a:xfrm>
            <a:off x="4652010" y="9372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Confiabilidade Operacional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 com listas suspensas anti-erro.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Bloqueio seletivo e proteção de fórmulas essenciais.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AutoFiltros rápidos para segmentação e conferência de dados.</a:t>
            </a:r>
            <a:endParaRPr lang="en-US" sz="1544" dirty="0"/>
          </a:p>
        </p:txBody>
      </p:sp>
      <p:sp>
        <p:nvSpPr>
          <p:cNvPr id="5" name="1f43baaf-9463-42cf-a988-716eb38e6cd2_card"/>
          <p:cNvSpPr/>
          <p:nvPr/>
        </p:nvSpPr>
        <p:spPr>
          <a:xfrm>
            <a:off x="285750" y="346329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1f43baaf-9463-42cf-a988-716eb38e6cd2_emoji"/>
          <p:cNvSpPr/>
          <p:nvPr/>
        </p:nvSpPr>
        <p:spPr>
          <a:xfrm>
            <a:off x="400050" y="36118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1f43baaf-9463-42cf-a988-716eb38e6cd2_text"/>
          <p:cNvSpPr/>
          <p:nvPr/>
        </p:nvSpPr>
        <p:spPr>
          <a:xfrm>
            <a:off x="765810" y="357759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bom analista de dados não apenas faz contas; ele constrói ferramentas confiáveis que qualquer pessoa da equipe pode operar com segurança.</a:t>
            </a:r>
            <a:endParaRPr lang="en-US" sz="1123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017fd7a-4926-40ff-8893-e2e832bb1ff3" descr="/home/forge/chalkie-production-workers-1/releases/77481629/backend/storage/app/render-specs/a7d47607-8bf2-49cb-a6bf-e1007eba1d5c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1da58755-9bd6-4a30-9f56-fb3a34feae16" descr="/home/forge/chalkie-production-workers-1/releases/77481629/backend/storage/app/render-specs/a7d47607-8bf2-49cb-a6bf-e1007eba1d5c/img_0b03c9370cf996bde28e88c8423e9b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c5480ed6-83dd-46a7-ab8f-64ea608256b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Segurança vs. Facilidade</a:t>
            </a:r>
            <a:endParaRPr lang="en-US" sz="2246" dirty="0"/>
          </a:p>
        </p:txBody>
      </p:sp>
      <p:sp>
        <p:nvSpPr>
          <p:cNvPr id="5" name="bc50e99f-4a71-461d-b317-42ecb0ab2752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travar completamente uma planilha com senha pode, às vezes, atrapalhar o fluxo de trabalho de uma equipe se o analista não planejar bem quais células devem ficar livres?</a:t>
            </a:r>
            <a:endParaRPr lang="en-US" sz="126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017fd7a-4926-40ff-8893-e2e832bb1ff3" descr="/home/forge/chalkie-production-workers-1/releases/77481629/backend/storage/app/render-specs/a7d47607-8bf2-49cb-a6bf-e1007eba1d5c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c5480ed6-83dd-46a7-ab8f-64ea608256b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Segurança vs. Facilidade</a:t>
            </a:r>
            <a:endParaRPr lang="en-US" sz="2246" dirty="0"/>
          </a:p>
        </p:txBody>
      </p:sp>
      <p:sp>
        <p:nvSpPr>
          <p:cNvPr id="4" name="4816f1a6-afe1-4d1b-a97f-c6507c674786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as células de digitação não forem devidamente destravadas antes da proteção, os colegas de trabalho não conseguirão preencher pedidos ou lançamentos do dia a dia, paralisando a operação da empresa até que a senha seja inserida.</a:t>
            </a:r>
            <a:endParaRPr lang="en-US" sz="1264" dirty="0"/>
          </a:p>
        </p:txBody>
      </p:sp>
      <p:sp>
        <p:nvSpPr>
          <p:cNvPr id="5" name="e71cc45c-793e-40a9-afe1-13f6184197a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883256c-54ce-4001-afbc-566159432bff" descr="/home/forge/chalkie-production-workers-1/releases/77481629/backend/storage/app/render-specs/a7d47607-8bf2-49cb-a6bf-e1007eba1d5c/img_74db676abbf9321227487417a15623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8ed52515-be2a-4ef3-890b-f07207477b1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 Final de Fixação</a:t>
            </a:r>
            <a:endParaRPr lang="en-US" sz="2246" dirty="0"/>
          </a:p>
        </p:txBody>
      </p:sp>
      <p:sp>
        <p:nvSpPr>
          <p:cNvPr id="4" name="3c39321f-d770-4595-b861-5d01e9a1d4f9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acontece com o valor numérico armazenado no Excel quando aplicamos a formatação de Moeda em uma célula?</a:t>
            </a:r>
            <a:endParaRPr lang="en-US" sz="1264" dirty="0"/>
          </a:p>
        </p:txBody>
      </p:sp>
      <p:sp>
        <p:nvSpPr>
          <p:cNvPr id="5" name="aff1eb3a-27a9-418b-a225-eee87007cd20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função do separador ponto e vírgula (;) ao configurar manualmente os itens de uma Lista Suspensa?</a:t>
            </a:r>
            <a:endParaRPr lang="en-US" sz="1264" dirty="0"/>
          </a:p>
        </p:txBody>
      </p:sp>
      <p:sp>
        <p:nvSpPr>
          <p:cNvPr id="6" name="fede6e06-9518-4863-b09a-56600dca175a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devemos desmarcar a opção 'Bloqueadas' antes de clicar no botão 'Proteger Planilha'?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ed52515-be2a-4ef3-890b-f07207477b1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 Final de Fixação</a:t>
            </a:r>
            <a:endParaRPr lang="en-US" sz="2246" dirty="0"/>
          </a:p>
        </p:txBody>
      </p:sp>
      <p:sp>
        <p:nvSpPr>
          <p:cNvPr id="3" name="9201af91-1733-4881-90a1-0fca8fa25544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valor permanece exatamente o mesmo nos bastidores; apenas a sua exibição visual ganha o símbolo R$, separadores de milhar e duas casas decimais.</a:t>
            </a:r>
            <a:endParaRPr lang="en-US" sz="1264" dirty="0"/>
          </a:p>
        </p:txBody>
      </p:sp>
      <p:sp>
        <p:nvSpPr>
          <p:cNvPr id="4" name="c7190f63-bf88-4c0f-9f6a-ac6fab08bf6a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Separar cada uma das opções individuais que serão exibidas como alternativas selecionáveis dentro do menu suspenso.</a:t>
            </a:r>
            <a:endParaRPr lang="en-US" sz="1264" dirty="0"/>
          </a:p>
        </p:txBody>
      </p:sp>
      <p:sp>
        <p:nvSpPr>
          <p:cNvPr id="5" name="c9386403-6ca4-4a84-9674-5c8eca06f5e8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indicar ao Excel quais células específicas devem continuar liberadas para digitação, mantendo apenas as células com fórmulas e cabeçalhos travados.</a:t>
            </a:r>
            <a:endParaRPr lang="en-US" sz="1264" dirty="0"/>
          </a:p>
        </p:txBody>
      </p:sp>
      <p:sp>
        <p:nvSpPr>
          <p:cNvPr id="6" name="52991380-e5cd-4c0b-a786-8bf50de5eac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2654</Words>
  <Application>Microsoft Office PowerPoint</Application>
  <PresentationFormat>Apresentação no Ecrã (16:9)</PresentationFormat>
  <Paragraphs>357</Paragraphs>
  <Slides>41</Slides>
  <Notes>41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41</vt:i4>
      </vt:variant>
    </vt:vector>
  </HeadingPairs>
  <TitlesOfParts>
    <vt:vector size="44" baseType="lpstr">
      <vt:lpstr>Dyslexie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Intermediário: Formatação e Validação</dc:title>
  <dc:subject>PptxGenJS Presentation</dc:subject>
  <dc:creator>PptxGenJS</dc:creator>
  <cp:lastModifiedBy>Gelvazio Camargo - HOTMAIL</cp:lastModifiedBy>
  <cp:revision>2</cp:revision>
  <dcterms:created xsi:type="dcterms:W3CDTF">2026-09-11T11:20:04Z</dcterms:created>
  <dcterms:modified xsi:type="dcterms:W3CDTF">2026-09-27T15:42:52Z</dcterms:modified>
</cp:coreProperties>
</file>