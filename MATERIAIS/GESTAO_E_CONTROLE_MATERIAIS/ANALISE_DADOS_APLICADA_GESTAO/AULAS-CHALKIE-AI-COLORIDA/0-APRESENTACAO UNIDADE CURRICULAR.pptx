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4" r:id="rId7"/>
    <p:sldId id="269" r:id="rId8"/>
    <p:sldId id="270" r:id="rId9"/>
    <p:sldId id="271" r:id="rId10"/>
    <p:sldId id="272" r:id="rId11"/>
    <p:sldId id="273" r:id="rId12"/>
    <p:sldId id="268" r:id="rId1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Roboto Light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gOXPaY8zH1zvuJOvX0cD/ays6L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ac4e7c2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37ac4e7c2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AA2E15E-4784-F0F9-0755-73E617219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ac4e7c291_0_0:notes">
            <a:extLst>
              <a:ext uri="{FF2B5EF4-FFF2-40B4-BE49-F238E27FC236}">
                <a16:creationId xmlns:a16="http://schemas.microsoft.com/office/drawing/2014/main" id="{440EA8A7-849B-E68D-A326-C63712C87E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37ac4e7c291_0_0:notes">
            <a:extLst>
              <a:ext uri="{FF2B5EF4-FFF2-40B4-BE49-F238E27FC236}">
                <a16:creationId xmlns:a16="http://schemas.microsoft.com/office/drawing/2014/main" id="{54F907B1-6864-9D31-C02D-E05F95BB2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7808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5DE69ED-AB8D-86D9-133C-2D707E899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ac4e7c291_0_0:notes">
            <a:extLst>
              <a:ext uri="{FF2B5EF4-FFF2-40B4-BE49-F238E27FC236}">
                <a16:creationId xmlns:a16="http://schemas.microsoft.com/office/drawing/2014/main" id="{FA294A0C-3DED-5C1A-03D1-981BB7A5B0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37ac4e7c291_0_0:notes">
            <a:extLst>
              <a:ext uri="{FF2B5EF4-FFF2-40B4-BE49-F238E27FC236}">
                <a16:creationId xmlns:a16="http://schemas.microsoft.com/office/drawing/2014/main" id="{8FBD821D-B1E7-D591-5464-3F62312984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7288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60DA44D-4BE1-C892-BFE2-54AA1C351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ac4e7c291_0_0:notes">
            <a:extLst>
              <a:ext uri="{FF2B5EF4-FFF2-40B4-BE49-F238E27FC236}">
                <a16:creationId xmlns:a16="http://schemas.microsoft.com/office/drawing/2014/main" id="{44CBB23C-A079-30D5-50BD-61F8D16C25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37ac4e7c291_0_0:notes">
            <a:extLst>
              <a:ext uri="{FF2B5EF4-FFF2-40B4-BE49-F238E27FC236}">
                <a16:creationId xmlns:a16="http://schemas.microsoft.com/office/drawing/2014/main" id="{23527B2D-5A39-A2F2-5D18-1E963870FF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3041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3CA6775-1320-8E58-6BD9-09A3BC92B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ac4e7c291_0_0:notes">
            <a:extLst>
              <a:ext uri="{FF2B5EF4-FFF2-40B4-BE49-F238E27FC236}">
                <a16:creationId xmlns:a16="http://schemas.microsoft.com/office/drawing/2014/main" id="{FEB4B5F5-7B2B-9D8B-FCFA-AF8AB6238F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37ac4e7c291_0_0:notes">
            <a:extLst>
              <a:ext uri="{FF2B5EF4-FFF2-40B4-BE49-F238E27FC236}">
                <a16:creationId xmlns:a16="http://schemas.microsoft.com/office/drawing/2014/main" id="{F07BD683-DA95-B946-AC3C-CE4617FE2F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25180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2A3FD31-9D73-5D1F-89CC-EA731B78C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ac4e7c291_0_0:notes">
            <a:extLst>
              <a:ext uri="{FF2B5EF4-FFF2-40B4-BE49-F238E27FC236}">
                <a16:creationId xmlns:a16="http://schemas.microsoft.com/office/drawing/2014/main" id="{AA3375AD-29C0-993D-9EDA-2EF136AEB1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37ac4e7c291_0_0:notes">
            <a:extLst>
              <a:ext uri="{FF2B5EF4-FFF2-40B4-BE49-F238E27FC236}">
                <a16:creationId xmlns:a16="http://schemas.microsoft.com/office/drawing/2014/main" id="{6C5F6DDA-66A5-3AE1-B796-E34EBCEB57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97769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b3a04cb2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35b3a04cb2e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EP] Capa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1"/>
          <p:cNvSpPr txBox="1">
            <a:spLocks noGrp="1"/>
          </p:cNvSpPr>
          <p:nvPr>
            <p:ph type="ctrTitle"/>
          </p:nvPr>
        </p:nvSpPr>
        <p:spPr>
          <a:xfrm>
            <a:off x="1366700" y="1568025"/>
            <a:ext cx="34905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 i="1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 i="1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 i="1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 i="1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 i="1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 i="1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 i="1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 i="1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 i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Capa seção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título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" name="Google Shape;15;p123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23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conteúdo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" name="Google Shape;19;p124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24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EP] Final">
  <p:cSld name="TITLE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1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p1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None/>
              <a:defRPr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  <a:defRPr sz="1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gif"/><Relationship Id="rId4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gif"/><Relationship Id="rId4" Type="http://schemas.openxmlformats.org/officeDocument/2006/relationships/image" Target="../media/image12.gif"/><Relationship Id="rId5" Type="http://schemas.openxmlformats.org/officeDocument/2006/relationships/image" Target="../media/image13.gif"/><Relationship Id="rId6" Type="http://schemas.openxmlformats.org/officeDocument/2006/relationships/image" Target="../media/image14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"/>
          <p:cNvSpPr txBox="1">
            <a:spLocks noGrp="1"/>
          </p:cNvSpPr>
          <p:nvPr>
            <p:ph type="ctrTitle"/>
          </p:nvPr>
        </p:nvSpPr>
        <p:spPr>
          <a:xfrm>
            <a:off x="1366700" y="1568025"/>
            <a:ext cx="34905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3600">
                <a:solidFill/>
              </a:rPr>
              <a:t>Formando </a:t>
            </a:r>
            <a:endParaRPr sz="3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3600">
                <a:solidFill/>
              </a:rPr>
              <a:t>  quem forma </a:t>
            </a:r>
            <a:endParaRPr sz="3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3600">
                <a:solidFill/>
              </a:rPr>
              <a:t>a indústria</a:t>
            </a:r>
            <a:endParaRPr sz="3600"/>
          </a:p>
        </p:txBody>
      </p:sp>
      <p:pic>
        <p:nvPicPr>
          <p:cNvPr id="32" name="Google Shape;3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76950" y="290755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875" y="3184125"/>
            <a:ext cx="683895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0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b="1" dirty="0">
                <a:solidFill/>
                <a:latin typeface="Roboto"/>
                <a:ea typeface="Roboto"/>
                <a:cs typeface="Roboto"/>
                <a:sym typeface="Roboto"/>
              </a:rPr>
              <a:t>Apresentação</a:t>
            </a:r>
            <a:endParaRPr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" name="Google Shape;44;p4"/>
          <p:cNvSpPr txBox="1">
            <a:spLocks noGrp="1"/>
          </p:cNvSpPr>
          <p:nvPr>
            <p:ph type="subTitle" idx="1"/>
          </p:nvPr>
        </p:nvSpPr>
        <p:spPr>
          <a:xfrm>
            <a:off x="1021400" y="1900950"/>
            <a:ext cx="30294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>
                <a:solidFill/>
              </a:rPr>
              <a:t>1988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>
                <a:solidFill/>
              </a:rPr>
              <a:t>Desenvolvedor de Software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>
                <a:solidFill/>
              </a:rPr>
              <a:t>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>
                <a:solidFill/>
              </a:rPr>
              <a:t>Experiência de 16 anos na Indústria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dirty="0">
                <a:solidFill/>
              </a:rPr>
              <a:t>Desde Julho/2026 no Senai</a:t>
            </a:r>
            <a:endParaRPr dirty="0"/>
          </a:p>
        </p:txBody>
      </p:sp>
      <p:sp>
        <p:nvSpPr>
          <p:cNvPr id="45" name="Google Shape;45;p4"/>
          <p:cNvSpPr txBox="1"/>
          <p:nvPr/>
        </p:nvSpPr>
        <p:spPr>
          <a:xfrm>
            <a:off x="5577975" y="3127788"/>
            <a:ext cx="3149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Professor Gelvazio(</a:t>
            </a:r>
            <a:r>
              <a:rPr lang="pt-BR" sz="1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Gêo</a:t>
            </a: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4" descr="a penguin wearing ear muffs stands next to a soccer ball on a flag (Fornecido por Tenor)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7450" y="3722425"/>
            <a:ext cx="1221050" cy="122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62AC34B-7452-ACB1-8BB2-3D9437873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6555" y="200025"/>
            <a:ext cx="2651940" cy="26469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ctrTitle"/>
          </p:nvPr>
        </p:nvSpPr>
        <p:spPr>
          <a:xfrm>
            <a:off x="1403850" y="493325"/>
            <a:ext cx="3048000" cy="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b="1">
                <a:solidFill/>
                <a:latin typeface="Roboto"/>
                <a:ea typeface="Roboto"/>
                <a:cs typeface="Roboto"/>
                <a:sym typeface="Roboto"/>
              </a:rPr>
              <a:t>Combinados!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" name="Google Shape;53;p10"/>
          <p:cNvSpPr txBox="1">
            <a:spLocks noGrp="1"/>
          </p:cNvSpPr>
          <p:nvPr>
            <p:ph type="subTitle" idx="1"/>
          </p:nvPr>
        </p:nvSpPr>
        <p:spPr>
          <a:xfrm>
            <a:off x="674025" y="4339275"/>
            <a:ext cx="26322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b="1">
                <a:solidFill/>
                <a:latin typeface="Roboto"/>
                <a:ea typeface="Roboto"/>
                <a:cs typeface="Roboto"/>
                <a:sym typeface="Roboto"/>
              </a:rPr>
              <a:t>Uso indevido de celular: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solidFill/>
              </a:rPr>
              <a:t>apenas 15 minutos de intervalo</a:t>
            </a:r>
            <a:endParaRPr/>
          </a:p>
        </p:txBody>
      </p:sp>
      <p:pic>
        <p:nvPicPr>
          <p:cNvPr id="54" name="Google Shape;54;p10" title="Love Kermit 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950" y="1970789"/>
            <a:ext cx="1864350" cy="236847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5" name="Google Shape;55;p10" title="Cap Thats Cap GIF"/>
          <p:cNvPicPr preferRelativeResize="0"/>
          <p:nvPr/>
        </p:nvPicPr>
        <p:blipFill rotWithShape="1">
          <a:blip r:embed="rId4">
            <a:alphaModFix/>
          </a:blip>
          <a:srcRect t="22187" b="13334"/>
          <a:stretch/>
        </p:blipFill>
        <p:spPr>
          <a:xfrm>
            <a:off x="3851599" y="2150751"/>
            <a:ext cx="1864350" cy="236599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6" name="Google Shape;56;p10"/>
          <p:cNvSpPr txBox="1">
            <a:spLocks noGrp="1"/>
          </p:cNvSpPr>
          <p:nvPr>
            <p:ph type="subTitle" idx="1"/>
          </p:nvPr>
        </p:nvSpPr>
        <p:spPr>
          <a:xfrm>
            <a:off x="3467675" y="4489725"/>
            <a:ext cx="2632200" cy="6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lang="pt-BR" sz="2500" u="sng" strike="sngStrike">
                <a:solidFill>
                  <a:srgbClr val="000000"/>
                </a:solidFill>
              </a:rPr>
              <a:t>Bonés!</a:t>
            </a:r>
            <a:endParaRPr sz="2500" u="sng" strike="sngStrike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44000"/>
              <a:buNone/>
            </a:pPr>
            <a:r>
              <a:rPr lang="pt-BR" sz="2500" u="sng" strike="sngStrike">
                <a:solidFill>
                  <a:srgbClr val="000000"/>
                </a:solidFill>
              </a:rPr>
              <a:t>Fone de Ouvido!</a:t>
            </a:r>
            <a:endParaRPr/>
          </a:p>
        </p:txBody>
      </p:sp>
      <p:pic>
        <p:nvPicPr>
          <p:cNvPr id="57" name="Google Shape;57;p10" descr="a cartoon of spongebob holding a bottle of water (Fornecido por Tenor)"/>
          <p:cNvPicPr preferRelativeResize="0"/>
          <p:nvPr/>
        </p:nvPicPr>
        <p:blipFill rotWithShape="1">
          <a:blip r:embed="rId5">
            <a:alphaModFix/>
          </a:blip>
          <a:srcRect l="21148" r="13576"/>
          <a:stretch/>
        </p:blipFill>
        <p:spPr>
          <a:xfrm>
            <a:off x="6737962" y="2690950"/>
            <a:ext cx="2004725" cy="20042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8" name="Google Shape;58;p10"/>
          <p:cNvSpPr txBox="1">
            <a:spLocks noGrp="1"/>
          </p:cNvSpPr>
          <p:nvPr>
            <p:ph type="subTitle" idx="1"/>
          </p:nvPr>
        </p:nvSpPr>
        <p:spPr>
          <a:xfrm>
            <a:off x="6424200" y="4695200"/>
            <a:ext cx="2632200" cy="4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solidFill/>
              </a:rPr>
              <a:t>Evitar Saídas em excesso!</a:t>
            </a:r>
            <a:endParaRPr/>
          </a:p>
        </p:txBody>
      </p:sp>
      <p:pic>
        <p:nvPicPr>
          <p:cNvPr id="59" name="Google Shape;59;p10" descr="a man in a suit is carrying a rack of jackets on a football field (Fornecido por Tenor)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15075" y="74872"/>
            <a:ext cx="3527243" cy="18344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0" name="Google Shape;60;p10"/>
          <p:cNvSpPr txBox="1">
            <a:spLocks noGrp="1"/>
          </p:cNvSpPr>
          <p:nvPr>
            <p:ph type="subTitle" idx="1"/>
          </p:nvPr>
        </p:nvSpPr>
        <p:spPr>
          <a:xfrm>
            <a:off x="4915150" y="1813850"/>
            <a:ext cx="35271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b="1">
                <a:solidFill/>
                <a:latin typeface="Roboto"/>
                <a:ea typeface="Roboto"/>
                <a:cs typeface="Roboto"/>
                <a:sym typeface="Roboto"/>
              </a:rPr>
              <a:t>Uso obrigatório do uniforme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0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b="1">
                <a:solidFill/>
                <a:latin typeface="Roboto"/>
                <a:ea typeface="Roboto"/>
                <a:cs typeface="Roboto"/>
                <a:sym typeface="Roboto"/>
              </a:rPr>
              <a:t>Plano de Ensino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6"/>
          <p:cNvSpPr txBox="1">
            <a:spLocks noGrp="1"/>
          </p:cNvSpPr>
          <p:nvPr>
            <p:ph type="subTitle" idx="1"/>
          </p:nvPr>
        </p:nvSpPr>
        <p:spPr>
          <a:xfrm>
            <a:off x="668375" y="1900950"/>
            <a:ext cx="3989700" cy="1663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b="1" dirty="0">
                <a:solidFill/>
                <a:latin typeface="Roboto"/>
                <a:ea typeface="Roboto"/>
                <a:cs typeface="Roboto"/>
                <a:sym typeface="Roboto"/>
              </a:rPr>
              <a:t>U.C.:</a:t>
            </a:r>
            <a:r>
              <a:rPr lang="pt-BR" dirty="0">
                <a:solidFill/>
              </a:rPr>
              <a:t> Análise de Dados Aplicada a Gestão</a:t>
            </a:r>
            <a:endParaRPr dirty="0"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b="1" dirty="0">
                <a:solidFill/>
                <a:latin typeface="Roboto"/>
                <a:ea typeface="Roboto"/>
                <a:cs typeface="Roboto"/>
                <a:sym typeface="Roboto"/>
              </a:rPr>
              <a:t>Carga Horária: </a:t>
            </a:r>
            <a:r>
              <a:rPr lang="pt-BR" dirty="0">
                <a:solidFill/>
              </a:rPr>
              <a:t>32 horas</a:t>
            </a:r>
            <a:endParaRPr dirty="0"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b="1" dirty="0">
                <a:solidFill/>
                <a:latin typeface="Roboto"/>
                <a:ea typeface="Roboto"/>
                <a:cs typeface="Roboto"/>
                <a:sym typeface="Roboto"/>
              </a:rPr>
              <a:t>Nº de Aulas:</a:t>
            </a:r>
            <a:r>
              <a:rPr lang="pt-BR" dirty="0">
                <a:solidFill/>
              </a:rPr>
              <a:t> 4 aulas de 8 horas</a:t>
            </a:r>
            <a:endParaRPr dirty="0"/>
          </a:p>
        </p:txBody>
      </p:sp>
      <p:pic>
        <p:nvPicPr>
          <p:cNvPr id="67" name="Google Shape;67;p6"/>
          <p:cNvPicPr preferRelativeResize="0"/>
          <p:nvPr/>
        </p:nvPicPr>
        <p:blipFill rotWithShape="1">
          <a:blip r:embed="rId3">
            <a:alphaModFix/>
          </a:blip>
          <a:srcRect l="11381" r="11233"/>
          <a:stretch/>
        </p:blipFill>
        <p:spPr>
          <a:xfrm>
            <a:off x="5223025" y="1661425"/>
            <a:ext cx="3080100" cy="22371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ac4e7c291_0_0"/>
          <p:cNvSpPr txBox="1">
            <a:spLocks noGrp="1"/>
          </p:cNvSpPr>
          <p:nvPr>
            <p:ph type="ctrTitle"/>
          </p:nvPr>
        </p:nvSpPr>
        <p:spPr>
          <a:xfrm>
            <a:off x="176169" y="2050256"/>
            <a:ext cx="4219500" cy="2072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200000"/>
              </a:lnSpc>
            </a:pPr>
            <a:r>
              <a:rPr lang="pt-BR" sz="1600" b="1" dirty="0">
                <a:solidFill/>
                <a:latin typeface="Roboto"/>
                <a:ea typeface="Roboto"/>
                <a:cs typeface="Roboto"/>
                <a:sym typeface="Roboto"/>
              </a:rPr>
              <a:t>Desenvolver capacidades técnicas que possibilitem a análise de dados aplicados à gestão, com uso de tecnologias e conceitos de operações matemáticas e estatística.</a:t>
            </a:r>
            <a:endParaRPr sz="16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43;p4">
            <a:extLst>
              <a:ext uri="{FF2B5EF4-FFF2-40B4-BE49-F238E27FC236}">
                <a16:creationId xmlns:a16="http://schemas.microsoft.com/office/drawing/2014/main" id="{085EFBE6-8EC3-C7CF-85EE-3B58970D05E5}"/>
              </a:ext>
            </a:extLst>
          </p:cNvPr>
          <p:cNvSpPr txBox="1">
            <a:spLocks/>
          </p:cNvSpPr>
          <p:nvPr/>
        </p:nvSpPr>
        <p:spPr>
          <a:xfrm>
            <a:off x="894587" y="921137"/>
            <a:ext cx="3244800" cy="78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Light"/>
              <a:buNone/>
              <a:defRPr sz="30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pt-BR" b="1" dirty="0">
                <a:solidFill/>
                <a:latin typeface="Roboto"/>
                <a:ea typeface="Roboto"/>
                <a:cs typeface="Roboto"/>
                <a:sym typeface="Roboto"/>
              </a:rPr>
              <a:t>Objetivo Geral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0678E790-5E5E-36D8-2040-159B994CA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ac4e7c291_0_0">
            <a:extLst>
              <a:ext uri="{FF2B5EF4-FFF2-40B4-BE49-F238E27FC236}">
                <a16:creationId xmlns:a16="http://schemas.microsoft.com/office/drawing/2014/main" id="{2B8C18EE-55CC-E529-8149-CF900AB03CE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76169" y="814388"/>
            <a:ext cx="4219500" cy="432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200000"/>
              </a:lnSpc>
            </a:pPr>
            <a:r>
              <a:rPr lang="pt-BR" sz="1600" b="1" dirty="0">
                <a:solidFill/>
                <a:latin typeface="Roboto"/>
                <a:ea typeface="Roboto"/>
                <a:cs typeface="Roboto"/>
                <a:sym typeface="Roboto"/>
              </a:rPr>
              <a:t>=&gt;Utilizar os recursos da tecnologia da informação e comunicação relativos a planilhas eletrônicas e dashboard nas operações administrativas</a:t>
            </a:r>
            <a:br>
              <a:rPr lang="pt-BR" sz="16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pt-BR" sz="1600" b="1" dirty="0">
                <a:solidFill/>
                <a:latin typeface="Roboto"/>
                <a:ea typeface="Roboto"/>
                <a:cs typeface="Roboto"/>
                <a:sym typeface="Roboto"/>
              </a:rPr>
              <a:t>=&gt;Aplicar conceitos matemáticos na realização de cálculos básicos e de estatística básica pertinentes aos processos</a:t>
            </a:r>
            <a:endParaRPr sz="16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43;p4">
            <a:extLst>
              <a:ext uri="{FF2B5EF4-FFF2-40B4-BE49-F238E27FC236}">
                <a16:creationId xmlns:a16="http://schemas.microsoft.com/office/drawing/2014/main" id="{8E1469BB-C1CF-8F41-C067-F05317D5EC3B}"/>
              </a:ext>
            </a:extLst>
          </p:cNvPr>
          <p:cNvSpPr txBox="1">
            <a:spLocks/>
          </p:cNvSpPr>
          <p:nvPr/>
        </p:nvSpPr>
        <p:spPr>
          <a:xfrm>
            <a:off x="808862" y="185737"/>
            <a:ext cx="3244800" cy="524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Light"/>
              <a:buNone/>
              <a:defRPr sz="30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pt-BR" b="1" dirty="0">
                <a:solidFill/>
                <a:latin typeface="Roboto"/>
                <a:ea typeface="Roboto"/>
                <a:cs typeface="Roboto"/>
                <a:sym typeface="Roboto"/>
              </a:rPr>
              <a:t>Capacidades Básicas</a:t>
            </a:r>
          </a:p>
        </p:txBody>
      </p:sp>
    </p:spTree>
    <p:extLst>
      <p:ext uri="{BB962C8B-B14F-4D97-AF65-F5344CB8AC3E}">
        <p14:creationId xmlns:p14="http://schemas.microsoft.com/office/powerpoint/2010/main" val="2467970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E84435E6-08E6-914B-96E2-F315A33A7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ac4e7c291_0_0">
            <a:extLst>
              <a:ext uri="{FF2B5EF4-FFF2-40B4-BE49-F238E27FC236}">
                <a16:creationId xmlns:a16="http://schemas.microsoft.com/office/drawing/2014/main" id="{1E400052-B89A-D1F2-6A0A-31A0FDA2F8E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76169" y="1407319"/>
            <a:ext cx="4219500" cy="373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/>
                <a:latin typeface="Roboto"/>
                <a:ea typeface="Roboto"/>
                <a:cs typeface="Roboto"/>
                <a:sym typeface="Roboto"/>
              </a:rPr>
              <a:t>- 1.1 Conjuntos numéricos</a:t>
            </a:r>
            <a:br>
              <a:rPr lang="pt-BR" sz="16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pt-BR" sz="1600" b="1" dirty="0">
                <a:solidFill/>
                <a:latin typeface="Roboto"/>
                <a:ea typeface="Roboto"/>
                <a:cs typeface="Roboto"/>
                <a:sym typeface="Roboto"/>
              </a:rPr>
              <a:t>- 1.2 Razão e Proporção</a:t>
            </a:r>
            <a:br>
              <a:rPr lang="pt-BR" sz="16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pt-BR" sz="1600" b="1" dirty="0">
                <a:solidFill/>
                <a:latin typeface="Roboto"/>
                <a:ea typeface="Roboto"/>
                <a:cs typeface="Roboto"/>
                <a:sym typeface="Roboto"/>
              </a:rPr>
              <a:t>- 1.3 Regra de Três</a:t>
            </a:r>
            <a:br>
              <a:rPr lang="pt-BR" sz="16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pt-BR" sz="1600" b="1" dirty="0">
                <a:solidFill/>
                <a:latin typeface="Roboto"/>
                <a:ea typeface="Roboto"/>
                <a:cs typeface="Roboto"/>
                <a:sym typeface="Roboto"/>
              </a:rPr>
              <a:t>- 1.4 Conversão de unidades</a:t>
            </a:r>
            <a:br>
              <a:rPr lang="pt-BR" sz="16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pt-BR" sz="1600" b="1" dirty="0">
                <a:solidFill/>
                <a:latin typeface="Roboto"/>
                <a:ea typeface="Roboto"/>
                <a:cs typeface="Roboto"/>
                <a:sym typeface="Roboto"/>
              </a:rPr>
              <a:t>- 1.5 Porcentagem</a:t>
            </a:r>
            <a:br>
              <a:rPr lang="pt-BR" sz="16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pt-BR" sz="1600" b="1" dirty="0">
                <a:solidFill/>
                <a:latin typeface="Roboto"/>
                <a:ea typeface="Roboto"/>
                <a:cs typeface="Roboto"/>
                <a:sym typeface="Roboto"/>
              </a:rPr>
              <a:t>- 1.6 Área, volume e peso</a:t>
            </a:r>
            <a:br>
              <a:rPr lang="pt-BR" sz="16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pt-BR" sz="1600" b="1" dirty="0">
                <a:solidFill/>
                <a:latin typeface="Roboto"/>
                <a:ea typeface="Roboto"/>
                <a:cs typeface="Roboto"/>
                <a:sym typeface="Roboto"/>
              </a:rPr>
              <a:t>- 1.7 Sequência lógica</a:t>
            </a:r>
            <a:br>
              <a:rPr lang="pt-BR" sz="16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pt-BR" sz="1600" b="1" dirty="0">
                <a:solidFill/>
                <a:latin typeface="Roboto"/>
                <a:ea typeface="Roboto"/>
                <a:cs typeface="Roboto"/>
                <a:sym typeface="Roboto"/>
              </a:rPr>
              <a:t>- 1.8 Estatística Básica</a:t>
            </a:r>
            <a:endParaRPr sz="16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43;p4">
            <a:extLst>
              <a:ext uri="{FF2B5EF4-FFF2-40B4-BE49-F238E27FC236}">
                <a16:creationId xmlns:a16="http://schemas.microsoft.com/office/drawing/2014/main" id="{7562AED8-CF7B-CFB9-5B8D-E424F893DB33}"/>
              </a:ext>
            </a:extLst>
          </p:cNvPr>
          <p:cNvSpPr txBox="1">
            <a:spLocks/>
          </p:cNvSpPr>
          <p:nvPr/>
        </p:nvSpPr>
        <p:spPr>
          <a:xfrm>
            <a:off x="57150" y="61520"/>
            <a:ext cx="4836319" cy="134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Light"/>
              <a:buNone/>
              <a:defRPr sz="30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pt-BR" sz="2000" b="1" dirty="0">
                <a:solidFill/>
                <a:latin typeface="Roboto"/>
                <a:ea typeface="Roboto"/>
                <a:cs typeface="Roboto"/>
                <a:sym typeface="Roboto"/>
              </a:rPr>
              <a:t>1. Operações Matemáticas Aplicadas aos Processos Organizacionais</a:t>
            </a:r>
          </a:p>
        </p:txBody>
      </p:sp>
    </p:spTree>
    <p:extLst>
      <p:ext uri="{BB962C8B-B14F-4D97-AF65-F5344CB8AC3E}">
        <p14:creationId xmlns:p14="http://schemas.microsoft.com/office/powerpoint/2010/main" val="2721038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26AC02F0-0D04-8973-AC81-AA98FB62F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ac4e7c291_0_0">
            <a:extLst>
              <a:ext uri="{FF2B5EF4-FFF2-40B4-BE49-F238E27FC236}">
                <a16:creationId xmlns:a16="http://schemas.microsoft.com/office/drawing/2014/main" id="{2B27DD77-CD56-A92A-D877-26F7EC3E158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9018" y="400050"/>
            <a:ext cx="5260225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pt-BR" sz="1800" b="1" dirty="0">
                <a:solidFill/>
                <a:latin typeface="Roboto"/>
                <a:ea typeface="Roboto"/>
                <a:cs typeface="Roboto"/>
                <a:sym typeface="Roboto"/>
              </a:rPr>
              <a:t>- 2.1 Introdução ao Editor de Planilhas</a:t>
            </a:r>
            <a:br>
              <a:rPr lang="pt-BR" sz="18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pt-BR" sz="1800" b="1" dirty="0">
                <a:solidFill/>
                <a:latin typeface="Roboto"/>
                <a:ea typeface="Roboto"/>
                <a:cs typeface="Roboto"/>
                <a:sym typeface="Roboto"/>
              </a:rPr>
              <a:t>- 2.2 Aplicação Avançada de Editor de Planilhas  </a:t>
            </a:r>
            <a:br>
              <a:rPr lang="pt-BR" sz="18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pt-BR" sz="1800" b="1" dirty="0">
                <a:solidFill/>
                <a:latin typeface="Roboto"/>
                <a:ea typeface="Roboto"/>
                <a:cs typeface="Roboto"/>
                <a:sym typeface="Roboto"/>
              </a:rPr>
              <a:t>- 2.2.1 Formatação condicional  </a:t>
            </a:r>
            <a:br>
              <a:rPr lang="pt-BR" sz="18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pt-BR" sz="1800" b="1" dirty="0">
                <a:solidFill/>
                <a:latin typeface="Roboto"/>
                <a:ea typeface="Roboto"/>
                <a:cs typeface="Roboto"/>
                <a:sym typeface="Roboto"/>
              </a:rPr>
              <a:t>- 2.2.2 Funções (PROCV, PROCH, Função </a:t>
            </a:r>
            <a:r>
              <a:rPr lang="pt-BR" sz="1800" b="1" dirty="0" err="1">
                <a:solidFill/>
                <a:latin typeface="Roboto"/>
                <a:ea typeface="Roboto"/>
                <a:cs typeface="Roboto"/>
                <a:sym typeface="Roboto"/>
              </a:rPr>
              <a:t>SE,Cont</a:t>
            </a:r>
            <a:r>
              <a:rPr lang="pt-BR" sz="1800" b="1" dirty="0">
                <a:solidFill/>
                <a:latin typeface="Roboto"/>
                <a:ea typeface="Roboto"/>
                <a:cs typeface="Roboto"/>
                <a:sym typeface="Roboto"/>
              </a:rPr>
              <a:t> SE)  </a:t>
            </a:r>
            <a:br>
              <a:rPr lang="pt-BR" sz="18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pt-BR" sz="1800" b="1" dirty="0">
                <a:solidFill/>
                <a:latin typeface="Roboto"/>
                <a:ea typeface="Roboto"/>
                <a:cs typeface="Roboto"/>
                <a:sym typeface="Roboto"/>
              </a:rPr>
              <a:t>- 2.2.3 Tabela dinâmica  </a:t>
            </a:r>
            <a:br>
              <a:rPr lang="pt-BR" sz="18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pt-BR" sz="1800" b="1" dirty="0">
                <a:solidFill/>
                <a:latin typeface="Roboto"/>
                <a:ea typeface="Roboto"/>
                <a:cs typeface="Roboto"/>
                <a:sym typeface="Roboto"/>
              </a:rPr>
              <a:t>- 2.2.4 Filtros  </a:t>
            </a:r>
            <a:br>
              <a:rPr lang="pt-BR" sz="18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pt-BR" sz="1800" b="1" dirty="0">
                <a:solidFill/>
                <a:latin typeface="Roboto"/>
                <a:ea typeface="Roboto"/>
                <a:cs typeface="Roboto"/>
                <a:sym typeface="Roboto"/>
              </a:rPr>
              <a:t>- 2.2.5 Validação de dados  </a:t>
            </a:r>
            <a:br>
              <a:rPr lang="pt-BR" sz="18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pt-BR" sz="1800" b="1" dirty="0">
                <a:solidFill/>
                <a:latin typeface="Roboto"/>
                <a:ea typeface="Roboto"/>
                <a:cs typeface="Roboto"/>
                <a:sym typeface="Roboto"/>
              </a:rPr>
              <a:t>- 2.2.6 Proteção de células  </a:t>
            </a:r>
            <a:br>
              <a:rPr lang="pt-BR" sz="18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pt-BR" sz="1800" b="1" dirty="0">
                <a:solidFill/>
                <a:latin typeface="Roboto"/>
                <a:ea typeface="Roboto"/>
                <a:cs typeface="Roboto"/>
                <a:sym typeface="Roboto"/>
              </a:rPr>
              <a:t>- 2.2.7 Dashboard  </a:t>
            </a:r>
            <a:br>
              <a:rPr lang="pt-BR" sz="18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pt-BR" sz="1800" b="1" dirty="0">
                <a:solidFill/>
                <a:latin typeface="Roboto"/>
                <a:ea typeface="Roboto"/>
                <a:cs typeface="Roboto"/>
                <a:sym typeface="Roboto"/>
              </a:rPr>
              <a:t>- 2.2.8 Gráficos dinâmicos</a:t>
            </a:r>
            <a:endParaRPr sz="18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43;p4">
            <a:extLst>
              <a:ext uri="{FF2B5EF4-FFF2-40B4-BE49-F238E27FC236}">
                <a16:creationId xmlns:a16="http://schemas.microsoft.com/office/drawing/2014/main" id="{F6264DE0-1A20-9ACA-AE9A-EF5FBA3BC6CA}"/>
              </a:ext>
            </a:extLst>
          </p:cNvPr>
          <p:cNvSpPr txBox="1">
            <a:spLocks/>
          </p:cNvSpPr>
          <p:nvPr/>
        </p:nvSpPr>
        <p:spPr>
          <a:xfrm>
            <a:off x="119018" y="100013"/>
            <a:ext cx="4836319" cy="40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Light"/>
              <a:buNone/>
              <a:defRPr sz="30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pt-BR" sz="2000" b="1" dirty="0">
                <a:solidFill/>
                <a:latin typeface="Roboto"/>
                <a:ea typeface="Roboto"/>
                <a:cs typeface="Roboto"/>
                <a:sym typeface="Roboto"/>
              </a:rPr>
              <a:t>Excel Aplicado à Gestão Organizacional</a:t>
            </a:r>
          </a:p>
        </p:txBody>
      </p:sp>
    </p:spTree>
    <p:extLst>
      <p:ext uri="{BB962C8B-B14F-4D97-AF65-F5344CB8AC3E}">
        <p14:creationId xmlns:p14="http://schemas.microsoft.com/office/powerpoint/2010/main" val="1166694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F12D0DEC-4A6B-959E-95F1-5C0F28FA0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ac4e7c291_0_0">
            <a:extLst>
              <a:ext uri="{FF2B5EF4-FFF2-40B4-BE49-F238E27FC236}">
                <a16:creationId xmlns:a16="http://schemas.microsoft.com/office/drawing/2014/main" id="{7B67DA5D-4BFC-87E9-7875-7E3054D9A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9018" y="628650"/>
            <a:ext cx="5260225" cy="451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pt-BR" sz="1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lang="pt-BR" sz="14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Pensamento Crítico e Inovação </a:t>
            </a:r>
            <a:r>
              <a:rPr lang="pt-BR" sz="1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Adotar postura crítica e argumentativa, visando compreender e aperfeiçoar as etapas e processos de trabalho sob sua responsabilidade.</a:t>
            </a:r>
            <a:br>
              <a:rPr lang="pt-BR" sz="14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4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lang="pt-BR" sz="14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Aprendizagem Ativa e Estratégias de Aprendizagem </a:t>
            </a:r>
            <a:r>
              <a:rPr lang="pt-BR" sz="1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Demonstrar postura profissional aberta a novos aprendizados e experiências, orientados à melhoria dos processos de trabalho sob sua responsabilidade.- </a:t>
            </a:r>
            <a:br>
              <a:rPr lang="pt-BR" sz="14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4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lang="pt-BR" sz="14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Criatividade, Originalidade e Iniciativa </a:t>
            </a:r>
            <a:r>
              <a:rPr lang="pt-BR" sz="1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Adotar comportamentos profissionais com iniciativa e criatividade, considerando as premissas da autogestão das suas atividades, bem como os critérios de organização, disciplina, responsabilidade, concentração e gestão do tempo</a:t>
            </a:r>
            <a:endParaRPr sz="14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43;p4">
            <a:extLst>
              <a:ext uri="{FF2B5EF4-FFF2-40B4-BE49-F238E27FC236}">
                <a16:creationId xmlns:a16="http://schemas.microsoft.com/office/drawing/2014/main" id="{5F126162-5ABB-7A4A-09A4-7393021C6E11}"/>
              </a:ext>
            </a:extLst>
          </p:cNvPr>
          <p:cNvSpPr txBox="1">
            <a:spLocks/>
          </p:cNvSpPr>
          <p:nvPr/>
        </p:nvSpPr>
        <p:spPr>
          <a:xfrm>
            <a:off x="119018" y="100013"/>
            <a:ext cx="4836319" cy="40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Light"/>
              <a:buNone/>
              <a:defRPr sz="30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pt-BR" sz="2000" b="1" dirty="0">
                <a:solidFill/>
                <a:latin typeface="Roboto"/>
                <a:ea typeface="Roboto"/>
                <a:cs typeface="Roboto"/>
                <a:sym typeface="Roboto"/>
              </a:rPr>
              <a:t>Capacidades Socioemocionais</a:t>
            </a:r>
          </a:p>
        </p:txBody>
      </p:sp>
    </p:spTree>
    <p:extLst>
      <p:ext uri="{BB962C8B-B14F-4D97-AF65-F5344CB8AC3E}">
        <p14:creationId xmlns:p14="http://schemas.microsoft.com/office/powerpoint/2010/main" val="617116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D210C571-4DB8-0D72-DE05-D261C7AC8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ac4e7c291_0_0">
            <a:extLst>
              <a:ext uri="{FF2B5EF4-FFF2-40B4-BE49-F238E27FC236}">
                <a16:creationId xmlns:a16="http://schemas.microsoft.com/office/drawing/2014/main" id="{3DE08181-FF44-4E2D-6F70-1F391404F77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9018" y="400050"/>
            <a:ext cx="5260225" cy="474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pt-BR" sz="11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lang="pt-BR" sz="11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Resolução de Problemas Complexos </a:t>
            </a:r>
            <a:r>
              <a:rPr lang="pt-BR" sz="11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Demonstrar postura proativa para solucionar os problemas ou suprir as necessidades que foram apontados no processo ou produto sob sua responsabilidade.-</a:t>
            </a:r>
            <a:br>
              <a:rPr lang="pt-BR" sz="11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1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1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lang="pt-BR" sz="11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Liderança, Influência Social e Empreendedorismo</a:t>
            </a:r>
            <a:r>
              <a:rPr lang="pt-BR" sz="11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- Contribuir de forma colaborativa e construtiva em pequenos e grandes grupos, por meio do diálogo nas suas atividades, visando a geração de valor individual e coletivo.</a:t>
            </a:r>
            <a:br>
              <a:rPr lang="pt-BR" sz="11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1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1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lang="pt-BR" sz="11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Autoconhecimento e Autorregulação</a:t>
            </a:r>
            <a:r>
              <a:rPr lang="pt-BR" sz="11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- Reconhecer suas emoções e o impacto das mesmas nas suas relações profissionais, cultivando relacionamentos positivos.</a:t>
            </a:r>
            <a:br>
              <a:rPr lang="pt-BR" sz="11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1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1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lang="pt-BR" sz="11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Percepção Social e Habilidades de Relacionamento</a:t>
            </a:r>
            <a:r>
              <a:rPr lang="pt-BR" sz="11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- Praticar o diálogo, a empatia, a tolerância e o altruísmo, como atitudes de respeito e que levam à cooperação e engajamento nas relações profissionais.</a:t>
            </a:r>
            <a:br>
              <a:rPr lang="pt-BR" sz="11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11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1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lang="pt-BR" sz="11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Ética</a:t>
            </a:r>
            <a:r>
              <a:rPr lang="pt-BR" sz="11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- Comprometer-se com comportamentos que se fundamentam em princípios éticos, morais e códigos de conduta estabelecidos.</a:t>
            </a:r>
            <a:endParaRPr sz="1100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43;p4">
            <a:extLst>
              <a:ext uri="{FF2B5EF4-FFF2-40B4-BE49-F238E27FC236}">
                <a16:creationId xmlns:a16="http://schemas.microsoft.com/office/drawing/2014/main" id="{125D72A5-312E-AB39-7B13-DF6D3A11B55E}"/>
              </a:ext>
            </a:extLst>
          </p:cNvPr>
          <p:cNvSpPr txBox="1">
            <a:spLocks/>
          </p:cNvSpPr>
          <p:nvPr/>
        </p:nvSpPr>
        <p:spPr>
          <a:xfrm>
            <a:off x="119018" y="100013"/>
            <a:ext cx="4836319" cy="40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Light"/>
              <a:buNone/>
              <a:defRPr sz="30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pt-BR" sz="2000" b="1" dirty="0">
                <a:solidFill/>
                <a:latin typeface="Roboto"/>
                <a:ea typeface="Roboto"/>
                <a:cs typeface="Roboto"/>
                <a:sym typeface="Roboto"/>
              </a:rPr>
              <a:t>Capacidades Socioemocionais</a:t>
            </a:r>
          </a:p>
        </p:txBody>
      </p:sp>
    </p:spTree>
    <p:extLst>
      <p:ext uri="{BB962C8B-B14F-4D97-AF65-F5344CB8AC3E}">
        <p14:creationId xmlns:p14="http://schemas.microsoft.com/office/powerpoint/2010/main" val="3862270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b3a04cb2e_0_25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28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b="1">
                <a:solidFill/>
                <a:latin typeface="Roboto"/>
                <a:ea typeface="Roboto"/>
                <a:cs typeface="Roboto"/>
                <a:sym typeface="Roboto"/>
              </a:rPr>
              <a:t>ATIVIDADE!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g35b3a04cb2e_0_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7700" y="2898725"/>
            <a:ext cx="1980900" cy="1553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5" name="Google Shape;115;g35b3a04cb2e_0_25"/>
          <p:cNvSpPr txBox="1">
            <a:spLocks noGrp="1"/>
          </p:cNvSpPr>
          <p:nvPr>
            <p:ph type="subTitle" idx="1"/>
          </p:nvPr>
        </p:nvSpPr>
        <p:spPr>
          <a:xfrm>
            <a:off x="4870350" y="99025"/>
            <a:ext cx="3899400" cy="46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7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Atividade:</a:t>
            </a:r>
            <a:endParaRPr sz="17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 sz="16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Criando uma planilha</a:t>
            </a:r>
            <a:endParaRPr sz="16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AutoNum type="arabicPeriod"/>
            </a:pPr>
            <a:r>
              <a:rPr lang="pt-BR" sz="1100">
                <a:solidFill>
                  <a:srgbClr val="000000"/>
                </a:solidFill>
              </a:rPr>
              <a:t>Criar uma planilha com os campos: Nome do colaborador, Função, EPI, Data de entrega, Quantidade.</a:t>
            </a:r>
            <a:br>
              <a:rPr lang="pt-B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AutoNum type="arabicPeriod"/>
            </a:pPr>
            <a:r>
              <a:rPr lang="pt-BR" sz="1100">
                <a:solidFill>
                  <a:srgbClr val="000000"/>
                </a:solidFill>
              </a:rPr>
              <a:t>Inserir dados fictícios de 10 colaboradores.</a:t>
            </a:r>
            <a:br>
              <a:rPr lang="pt-B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pt-BR" sz="1100">
                <a:solidFill>
                  <a:srgbClr val="000000"/>
                </a:solidFill>
              </a:rPr>
              <a:t>Utilizar fórmulas de soma para calcular total de EPIs distribuídos.</a:t>
            </a:r>
            <a:br>
              <a:rPr lang="pt-B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pt-BR" sz="1100">
                <a:solidFill>
                  <a:srgbClr val="000000"/>
                </a:solidFill>
              </a:rPr>
              <a:t>Usar filtros para visualizar apenas um tipo de EPI.</a:t>
            </a:r>
            <a:br>
              <a:rPr lang="pt-B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pt-BR" sz="1100">
                <a:solidFill>
                  <a:srgbClr val="000000"/>
                </a:solidFill>
              </a:rPr>
              <a:t>Gerar um gráfico de colunas mostrando a quantidade de EPIs entregues por tipo.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sz="17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Postar foto do quadro no AVA.</a:t>
            </a:r>
            <a:endParaRPr sz="17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ção Profission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605</Words>
  <Application>Microsoft Office PowerPoint</Application>
  <PresentationFormat>Apresentação no Ecrã (16:9)</PresentationFormat>
  <Paragraphs>45</Paragraphs>
  <Slides>12</Slides>
  <Notes>12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6" baseType="lpstr">
      <vt:lpstr>Roboto</vt:lpstr>
      <vt:lpstr>Arial</vt:lpstr>
      <vt:lpstr>Roboto Light</vt:lpstr>
      <vt:lpstr>Educação Profissional</vt:lpstr>
      <vt:lpstr>Formando    quem forma  a indústria</vt:lpstr>
      <vt:lpstr>Apresentação do PowerPoint</vt:lpstr>
      <vt:lpstr>Apresentação</vt:lpstr>
      <vt:lpstr>Combinados!</vt:lpstr>
      <vt:lpstr>Plano de Ensino</vt:lpstr>
      <vt:lpstr>Desenvolver capacidades técnicas que possibilitem a análise de dados aplicados à gestão, com uso de tecnologias e conceitos de operações matemáticas e estatística.</vt:lpstr>
      <vt:lpstr>=&gt;Utilizar os recursos da tecnologia da informação e comunicação relativos a planilhas eletrônicas e dashboard nas operações administrativas =&gt;Aplicar conceitos matemáticos na realização de cálculos básicos e de estatística básica pertinentes aos processos</vt:lpstr>
      <vt:lpstr>- 1.1 Conjuntos numéricos - 1.2 Razão e Proporção - 1.3 Regra de Três - 1.4 Conversão de unidades - 1.5 Porcentagem - 1.6 Área, volume e peso - 1.7 Sequência lógica - 1.8 Estatística Básica</vt:lpstr>
      <vt:lpstr>- 2.1 Introdução ao Editor de Planilhas - 2.2 Aplicação Avançada de Editor de Planilhas   - 2.2.1 Formatação condicional   - 2.2.2 Funções (PROCV, PROCH, Função SE,Cont SE)   - 2.2.3 Tabela dinâmica   - 2.2.4 Filtros   - 2.2.5 Validação de dados   - 2.2.6 Proteção de células   - 2.2.7 Dashboard   - 2.2.8 Gráficos dinâmicos</vt:lpstr>
      <vt:lpstr>- Pensamento Crítico e Inovação - Adotar postura crítica e argumentativa, visando compreender e aperfeiçoar as etapas e processos de trabalho sob sua responsabilidade.  - Aprendizagem Ativa e Estratégias de Aprendizagem - Demonstrar postura profissional aberta a novos aprendizados e experiências, orientados à melhoria dos processos de trabalho sob sua responsabilidade.-   - Criatividade, Originalidade e Iniciativa - Adotar comportamentos profissionais com iniciativa e criatividade, considerando as premissas da autogestão das suas atividades, bem como os critérios de organização, disciplina, responsabilidade, concentração e gestão do tempo</vt:lpstr>
      <vt:lpstr>- Resolução de Problemas Complexos - Demonstrar postura proativa para solucionar os problemas ou suprir as necessidades que foram apontados no processo ou produto sob sua responsabilidade.-  - Liderança, Influência Social e Empreendedorismo - Contribuir de forma colaborativa e construtiva em pequenos e grandes grupos, por meio do diálogo nas suas atividades, visando a geração de valor individual e coletivo.  - Autoconhecimento e Autorregulação - Reconhecer suas emoções e o impacto das mesmas nas suas relações profissionais, cultivando relacionamentos positivos.  - Percepção Social e Habilidades de Relacionamento - Praticar o diálogo, a empatia, a tolerância e o altruísmo, como atitudes de respeito e que levam à cooperação e engajamento nas relações profissionais.  - Ética - Comprometer-se com comportamentos que se fundamentam em princípios éticos, morais e códigos de conduta estabelecidos.</vt:lpstr>
      <vt:lpstr>ATIVIDADE!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Gelvazio Camargo - HOTMAIL</cp:lastModifiedBy>
  <cp:revision>7</cp:revision>
  <dcterms:modified xsi:type="dcterms:W3CDTF">2026-09-14T19:22:42Z</dcterms:modified>
</cp:coreProperties>
</file>