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embeddedFontLst>
    <p:embeddedFont>
      <p:font typeface="Dyslexie"/>
      <p:regular r:id="rId49"/>
      <p:bold r:id="rId5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font" Target="fonts/font1.fntdata"/><Relationship Id="rId5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jp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png"/><Relationship Id="rId3" Type="http://schemas.openxmlformats.org/officeDocument/2006/relationships/image" Target="../media/image-2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image" Target="../media/image-3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image" Target="../media/image-33-2.jpg"/><Relationship Id="rId3" Type="http://schemas.openxmlformats.org/officeDocument/2006/relationships/image" Target="../media/image-3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image" Target="../media/image-36-2.jp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image" Target="../media/image-37-2.png"/><Relationship Id="rId3" Type="http://schemas.openxmlformats.org/officeDocument/2006/relationships/image" Target="../media/image-37-3.jpg"/><Relationship Id="rId4" Type="http://schemas.openxmlformats.org/officeDocument/2006/relationships/image" Target="../media/image-37-4.png"/><Relationship Id="rId5" Type="http://schemas.openxmlformats.org/officeDocument/2006/relationships/image" Target="../media/image-3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image" Target="../media/image-4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ksh7you" descr="/home/forge/chalkie-production-workers-1/releases/78875031/backend/storage/app/render-specs/acc7b6dc-6b02-4254-8b50-d4b83de50b76/img_85026dc61ed9555c82468a63ea1a35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5730"/>
            <a:ext cx="8926830" cy="50177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vzj0jbj" descr="/home/forge/chalkie-production-workers-1/releases/78875031/backend/storage/app/render-specs/acc7b6dc-6b02-4254-8b50-d4b83de50b76/img_74e4f6ff35dcc5a1ceb8cad31a9ca64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91440"/>
            <a:ext cx="8869680" cy="49949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sxsL64E"/>
          <p:cNvSpPr/>
          <p:nvPr/>
        </p:nvSpPr>
        <p:spPr>
          <a:xfrm>
            <a:off x="365760" y="278550"/>
            <a:ext cx="4297680" cy="459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8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Introdução à Tecnologia e Dispositivos Digitais</a:t>
            </a:r>
            <a:endParaRPr lang="en-US" sz="2527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Fundamentos da Tecnologia e Programação • Aula 1 de 5</a:t>
            </a:r>
            <a:endParaRPr lang="en-US" sz="2527" dirty="0"/>
          </a:p>
        </p:txBody>
      </p:sp>
      <p:pic>
        <p:nvPicPr>
          <p:cNvPr id="3" name="imgcov01" descr="/home/forge/chalkie-production-workers-1/releases/78875031/backend/storage/app/render-specs/acc7b6dc-6b02-4254-8b50-d4b83de50b76/img_52980cfdb2472baaf00a05042b1ad0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hook02" descr="/home/forge/chalkie-production-workers-1/releases/78875031/backend/storage/app/render-specs/acc7b6dc-6b02-4254-8b50-d4b83de50b76/img_f46188e164ea343392e5da6bd414080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171700"/>
          </a:xfrm>
          <a:prstGeom prst="rect">
            <a:avLst/>
          </a:prstGeom>
        </p:spPr>
      </p:pic>
      <p:sp>
        <p:nvSpPr>
          <p:cNvPr id="3" name="xYJV1oIJ"/>
          <p:cNvSpPr/>
          <p:nvPr/>
        </p:nvSpPr>
        <p:spPr>
          <a:xfrm>
            <a:off x="274320" y="240403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smartphone no espaço?</a:t>
            </a:r>
            <a:endParaRPr lang="en-US" sz="2246" dirty="0"/>
          </a:p>
        </p:txBody>
      </p:sp>
      <p:sp>
        <p:nvSpPr>
          <p:cNvPr id="4" name="qfQv0Wl8"/>
          <p:cNvSpPr/>
          <p:nvPr/>
        </p:nvSpPr>
        <p:spPr>
          <a:xfrm>
            <a:off x="274320" y="3170560"/>
            <a:ext cx="8595360" cy="14516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computador da missão Apollo 11, que levou a humanidade à Lua em 1969, tinha apenas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64 kilobytes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 memória e operava a 0,043 MHz.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smartphone básico no seu bolso possui milhões de vezes mais memória e processamento. Como chegamos a esse nível de tecnologia tão rápido?</a:t>
            </a:r>
            <a:endParaRPr lang="en-US" sz="126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z8Wz8xY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Objetivos de aprendizagem</a:t>
            </a:r>
            <a:endParaRPr lang="en-US" sz="2246" dirty="0"/>
          </a:p>
        </p:txBody>
      </p:sp>
      <p:sp>
        <p:nvSpPr>
          <p:cNvPr id="3" name="qUdBH4Dz"/>
          <p:cNvSpPr/>
          <p:nvPr/>
        </p:nvSpPr>
        <p:spPr>
          <a:xfrm>
            <a:off x="274320" y="1257300"/>
            <a:ext cx="8595360" cy="1017270"/>
          </a:xfrm>
          <a:prstGeom prst="roundRect">
            <a:avLst>
              <a:gd name="adj" fmla="val 1348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qchEq5f8"/>
          <p:cNvSpPr/>
          <p:nvPr/>
        </p:nvSpPr>
        <p:spPr>
          <a:xfrm>
            <a:off x="468630" y="15657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5" name="MEBfoF4i"/>
          <p:cNvSpPr/>
          <p:nvPr/>
        </p:nvSpPr>
        <p:spPr>
          <a:xfrm>
            <a:off x="1108710" y="136462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Compreender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 conceito de tecnologia e sua evolução histórica até os dispositivos atuais.</a:t>
            </a:r>
            <a:endParaRPr lang="en-US" sz="1264" dirty="0"/>
          </a:p>
        </p:txBody>
      </p:sp>
      <p:sp>
        <p:nvSpPr>
          <p:cNvPr id="6" name="pkYC9J2i"/>
          <p:cNvSpPr/>
          <p:nvPr/>
        </p:nvSpPr>
        <p:spPr>
          <a:xfrm>
            <a:off x="274320" y="2434590"/>
            <a:ext cx="8595360" cy="1017270"/>
          </a:xfrm>
          <a:prstGeom prst="roundRect">
            <a:avLst>
              <a:gd name="adj" fmla="val 1348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7" name="mIHtNzFq"/>
          <p:cNvSpPr/>
          <p:nvPr/>
        </p:nvSpPr>
        <p:spPr>
          <a:xfrm>
            <a:off x="468630" y="274307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8" name="NpzDU1HW"/>
          <p:cNvSpPr/>
          <p:nvPr/>
        </p:nvSpPr>
        <p:spPr>
          <a:xfrm>
            <a:off x="1108710" y="254191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Diferenciar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hardware de software, periféricos de entrada e saída, e sistemas operacionais.</a:t>
            </a:r>
            <a:endParaRPr lang="en-US" sz="1264" dirty="0"/>
          </a:p>
        </p:txBody>
      </p:sp>
      <p:sp>
        <p:nvSpPr>
          <p:cNvPr id="9" name="Bib8LUhp"/>
          <p:cNvSpPr/>
          <p:nvPr/>
        </p:nvSpPr>
        <p:spPr>
          <a:xfrm>
            <a:off x="274320" y="3611880"/>
            <a:ext cx="8595360" cy="1017270"/>
          </a:xfrm>
          <a:prstGeom prst="roundRect">
            <a:avLst>
              <a:gd name="adj" fmla="val 1348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10" name="h6hOuIBB"/>
          <p:cNvSpPr/>
          <p:nvPr/>
        </p:nvSpPr>
        <p:spPr>
          <a:xfrm>
            <a:off x="468630" y="3920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1" name="2oPRGSbb"/>
          <p:cNvSpPr/>
          <p:nvPr/>
        </p:nvSpPr>
        <p:spPr>
          <a:xfrm>
            <a:off x="1108710" y="371920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Analisar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 impacto das redes, acessibilidade e uso ético dos dispositivos digitais no cotidiano.</a:t>
            </a:r>
            <a:endParaRPr lang="en-US" sz="126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G2Yb1is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Vocabulário essencial</a:t>
            </a:r>
            <a:endParaRPr lang="en-US" sz="2246" dirty="0"/>
          </a:p>
        </p:txBody>
      </p:sp>
      <p:pic>
        <p:nvPicPr>
          <p:cNvPr id="3" name="imgvoc01" descr="/home/forge/chalkie-production-workers-1/releases/78875031/backend/storage/app/render-specs/acc7b6dc-6b02-4254-8b50-d4b83de50b76/img_7508aaefedfe9a44a424964201f2638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73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4" name="j2sTJCRh"/>
          <p:cNvSpPr/>
          <p:nvPr/>
        </p:nvSpPr>
        <p:spPr>
          <a:xfrm>
            <a:off x="274320" y="3558885"/>
            <a:ext cx="2011680" cy="13487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Tecnologia: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Aplicação prática do conhecimento para solucionar desafios humanos.</a:t>
            </a:r>
            <a:endParaRPr lang="en-US" sz="1123" dirty="0"/>
          </a:p>
        </p:txBody>
      </p:sp>
      <p:pic>
        <p:nvPicPr>
          <p:cNvPr id="5" name="imgvoc02" descr="/home/forge/chalkie-production-workers-1/releases/78875031/backend/storage/app/render-specs/acc7b6dc-6b02-4254-8b50-d4b83de50b76/img_dde7bb1ca8528ea836dbdcdfeca4f6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6" name="FPqQg7d2"/>
          <p:cNvSpPr/>
          <p:nvPr/>
        </p:nvSpPr>
        <p:spPr>
          <a:xfrm>
            <a:off x="2468880" y="3090255"/>
            <a:ext cx="2011680" cy="11201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Hardware: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Parte física e tangível de qualquer sistema de computação.</a:t>
            </a:r>
            <a:endParaRPr lang="en-US" sz="1123" dirty="0"/>
          </a:p>
        </p:txBody>
      </p:sp>
      <p:pic>
        <p:nvPicPr>
          <p:cNvPr id="7" name="imgvoc03" descr="/home/forge/chalkie-production-workers-1/releases/78875031/backend/storage/app/render-specs/acc7b6dc-6b02-4254-8b50-d4b83de50b76/img_898f9294d68e03688b365e51d89fb7f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973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8" name="q6AB2hKU"/>
          <p:cNvSpPr/>
          <p:nvPr/>
        </p:nvSpPr>
        <p:spPr>
          <a:xfrm>
            <a:off x="4663440" y="3661755"/>
            <a:ext cx="2011680" cy="11201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Software: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Instruções, dados e programas lógicos que orientam o hardware.</a:t>
            </a:r>
            <a:endParaRPr lang="en-US" sz="1123" dirty="0"/>
          </a:p>
        </p:txBody>
      </p:sp>
      <p:pic>
        <p:nvPicPr>
          <p:cNvPr id="9" name="imgvoc04" descr="/home/forge/chalkie-production-workers-1/releases/78875031/backend/storage/app/render-specs/acc7b6dc-6b02-4254-8b50-d4b83de50b76/img_6c95ad5abcfa722edfdf66b05bf0fb8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10" name="1MeSJlbb"/>
          <p:cNvSpPr/>
          <p:nvPr/>
        </p:nvSpPr>
        <p:spPr>
          <a:xfrm>
            <a:off x="6858000" y="3090255"/>
            <a:ext cx="2011680" cy="11201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Dispositivo: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Aparelho eletrônico concebido para processar informações.</a:t>
            </a:r>
            <a:endParaRPr lang="en-US" sz="112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J3oKPLT"/>
          <p:cNvSpPr/>
          <p:nvPr/>
        </p:nvSpPr>
        <p:spPr>
          <a:xfrm>
            <a:off x="274320" y="186618"/>
            <a:ext cx="27432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tecnologia?</a:t>
            </a:r>
            <a:endParaRPr lang="en-US" sz="2246" dirty="0"/>
          </a:p>
        </p:txBody>
      </p:sp>
      <p:sp>
        <p:nvSpPr>
          <p:cNvPr id="3" name="LkI1E011"/>
          <p:cNvSpPr/>
          <p:nvPr/>
        </p:nvSpPr>
        <p:spPr>
          <a:xfrm>
            <a:off x="274320" y="1398615"/>
            <a:ext cx="2743200" cy="4000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Mais do que telas e cabos</a:t>
            </a:r>
            <a:endParaRPr lang="en-US" sz="1123" dirty="0"/>
          </a:p>
        </p:txBody>
      </p:sp>
      <p:pic>
        <p:nvPicPr>
          <p:cNvPr id="4" name="imgtech01" descr="/home/forge/chalkie-production-workers-1/releases/78875031/backend/storage/app/render-specs/acc7b6dc-6b02-4254-8b50-d4b83de50b76/img_c2791a561fcd03abc897ec572db0a4b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43100"/>
            <a:ext cx="22860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3liA9UEp"/>
          <p:cNvSpPr/>
          <p:nvPr/>
        </p:nvSpPr>
        <p:spPr>
          <a:xfrm>
            <a:off x="3383280" y="1132947"/>
            <a:ext cx="237744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square" lIns="114300" tIns="45720" rIns="114300" bIns="45720" rtlCol="0" anchor="t"/>
          <a:lstStyle/>
          <a:p>
            <a:pPr algn="ctr" indent="0" marL="0">
              <a:lnSpc>
                <a:spcPts val="129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842" b="1" spc="54" kern="0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 FUNDAMENTAL</a:t>
            </a:r>
            <a:endParaRPr lang="en-US" sz="842" dirty="0"/>
          </a:p>
        </p:txBody>
      </p:sp>
      <p:sp>
        <p:nvSpPr>
          <p:cNvPr id="6" name="M8fWHK0H"/>
          <p:cNvSpPr/>
          <p:nvPr/>
        </p:nvSpPr>
        <p:spPr>
          <a:xfrm>
            <a:off x="3383280" y="1558930"/>
            <a:ext cx="5486400" cy="23431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palavra vem do grego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téchne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(arte, técnica) e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logos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(estudo). Não se limita à informática: o domínio do fogo, a invenção da roda e a imprensa de Gutenberg também foram revoluções tecnológicas.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informática, chamamos de tecnologia os métodos e aparelhos criados para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coletar, processar, armazenar e transmitir dados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com agilidade e precisão.</a:t>
            </a:r>
            <a:endParaRPr lang="en-US" sz="126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MrVR8e9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Evolução dos computadores</a:t>
            </a:r>
            <a:endParaRPr lang="en-US" sz="2246" dirty="0"/>
          </a:p>
        </p:txBody>
      </p:sp>
      <p:sp>
        <p:nvSpPr>
          <p:cNvPr id="3" name="VmUZb5kG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7EB5A6"/>
          </a:solidFill>
          <a:ln/>
        </p:spPr>
      </p:sp>
      <p:sp>
        <p:nvSpPr>
          <p:cNvPr id="4" name="0yaUYBuf"/>
          <p:cNvSpPr/>
          <p:nvPr/>
        </p:nvSpPr>
        <p:spPr>
          <a:xfrm>
            <a:off x="1325880" y="268605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Tw3AKjqo"/>
          <p:cNvSpPr/>
          <p:nvPr/>
        </p:nvSpPr>
        <p:spPr>
          <a:xfrm>
            <a:off x="3383280" y="268605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8BLW1HEL"/>
          <p:cNvSpPr/>
          <p:nvPr/>
        </p:nvSpPr>
        <p:spPr>
          <a:xfrm>
            <a:off x="5440680" y="268605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7" name="rCyjSkf2"/>
          <p:cNvSpPr/>
          <p:nvPr/>
        </p:nvSpPr>
        <p:spPr>
          <a:xfrm>
            <a:off x="7498080" y="268605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8" name="xRI1qrqA"/>
          <p:cNvSpPr/>
          <p:nvPr/>
        </p:nvSpPr>
        <p:spPr>
          <a:xfrm>
            <a:off x="514350" y="3067690"/>
            <a:ext cx="1943100" cy="1714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1946: Válvulas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ENIAC pesava 30 toneladas e ocupava salas inteiras.</a:t>
            </a:r>
            <a:endParaRPr lang="en-US" sz="1264" dirty="0"/>
          </a:p>
        </p:txBody>
      </p:sp>
      <p:sp>
        <p:nvSpPr>
          <p:cNvPr id="9" name="BrjYM2iQ"/>
          <p:cNvSpPr/>
          <p:nvPr/>
        </p:nvSpPr>
        <p:spPr>
          <a:xfrm>
            <a:off x="2571750" y="918850"/>
            <a:ext cx="1943100" cy="1714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1958: Transistores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Substituíram válvulas, reduzindo calor e volume.</a:t>
            </a:r>
            <a:endParaRPr lang="en-US" sz="1264" dirty="0"/>
          </a:p>
        </p:txBody>
      </p:sp>
      <p:sp>
        <p:nvSpPr>
          <p:cNvPr id="10" name="mJipQEin"/>
          <p:cNvSpPr/>
          <p:nvPr/>
        </p:nvSpPr>
        <p:spPr>
          <a:xfrm>
            <a:off x="4629150" y="3067690"/>
            <a:ext cx="1943100" cy="1714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1971: Microchip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Processadores integrados permitiram o PC doméstico.</a:t>
            </a:r>
            <a:endParaRPr lang="en-US" sz="1264" dirty="0"/>
          </a:p>
        </p:txBody>
      </p:sp>
      <p:sp>
        <p:nvSpPr>
          <p:cNvPr id="11" name="eOxNYGRa"/>
          <p:cNvSpPr/>
          <p:nvPr/>
        </p:nvSpPr>
        <p:spPr>
          <a:xfrm>
            <a:off x="6686550" y="335920"/>
            <a:ext cx="1943100" cy="22974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Hoje: Computação ubíqua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Smartphones, relógios conectados e inteligência em nuvem.</a:t>
            </a:r>
            <a:endParaRPr lang="en-US" sz="126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7d7gF03"/>
          <p:cNvSpPr/>
          <p:nvPr/>
        </p:nvSpPr>
        <p:spPr>
          <a:xfrm>
            <a:off x="274320" y="380928"/>
            <a:ext cx="472059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tecnologia no século XXI</a:t>
            </a:r>
            <a:endParaRPr lang="en-US" sz="2246" dirty="0"/>
          </a:p>
        </p:txBody>
      </p:sp>
      <p:sp>
        <p:nvSpPr>
          <p:cNvPr id="3" name="DHfs23lJ"/>
          <p:cNvSpPr/>
          <p:nvPr/>
        </p:nvSpPr>
        <p:spPr>
          <a:xfrm>
            <a:off x="274320" y="1582736"/>
            <a:ext cx="4720590" cy="30746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Hoje os dispositivos digitais deixaram de ser ferramentas isoladas de escritório e tornaram-se a espinha dorsal da sociedade moderna.</a:t>
            </a:r>
            <a:endParaRPr lang="en-US" sz="1193" dirty="0"/>
          </a:p>
          <a:p>
            <a:pPr algn="l" marL="228600" indent="-68580">
              <a:lnSpc>
                <a:spcPts val="2142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Comunicação instantânea:</a:t>
            </a: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mensagens e vídeos em tempo real com qualquer continente.</a:t>
            </a:r>
            <a:endParaRPr lang="en-US" sz="1193" dirty="0"/>
          </a:p>
          <a:p>
            <a:pPr algn="l" marL="228600" indent="-68580">
              <a:lnSpc>
                <a:spcPts val="2142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Automação de rotinas:</a:t>
            </a: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controle financeiro, transporte urbano por aplicativo e logística de alimentos.</a:t>
            </a:r>
            <a:endParaRPr lang="en-US" sz="1193" dirty="0"/>
          </a:p>
          <a:p>
            <a:pPr algn="l" marL="228600" indent="-68580">
              <a:lnSpc>
                <a:spcPts val="2142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Acesso ao saber:</a:t>
            </a: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bibliotecas globais e plataformas de ensino ao alcance de um toque.</a:t>
            </a:r>
            <a:endParaRPr lang="en-US" sz="1193" dirty="0"/>
          </a:p>
        </p:txBody>
      </p:sp>
      <p:pic>
        <p:nvPicPr>
          <p:cNvPr id="4" name="imgsec21" descr="/home/forge/chalkie-production-workers-1/releases/78875031/backend/storage/app/render-specs/acc7b6dc-6b02-4254-8b50-d4b83de50b76/img_e70df9425c36934f6878b30628eaa25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790" y="182880"/>
            <a:ext cx="3691890" cy="3429000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3tGjh6u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ecossistema de dispositivos</a:t>
            </a:r>
            <a:endParaRPr lang="en-US" sz="2246" dirty="0"/>
          </a:p>
        </p:txBody>
      </p:sp>
      <p:sp>
        <p:nvSpPr>
          <p:cNvPr id="3" name="UV0pU99o"/>
          <p:cNvSpPr/>
          <p:nvPr/>
        </p:nvSpPr>
        <p:spPr>
          <a:xfrm>
            <a:off x="274320" y="1017270"/>
            <a:ext cx="4206240" cy="1908810"/>
          </a:xfrm>
          <a:prstGeom prst="roundRect">
            <a:avLst>
              <a:gd name="adj" fmla="val 7186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4" name="icndev01" descr="/home/forge/chalkie-production-workers-1/releases/78875031/backend/storage/app/render-specs/acc7b6dc-6b02-4254-8b50-d4b83de50b76/img_dc2a41542a723d6299d55dec1f9062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" y="1188720"/>
            <a:ext cx="548640" cy="548640"/>
          </a:xfrm>
          <a:prstGeom prst="rect">
            <a:avLst/>
          </a:prstGeom>
        </p:spPr>
      </p:pic>
      <p:sp>
        <p:nvSpPr>
          <p:cNvPr id="5" name="mTIlT44T"/>
          <p:cNvSpPr/>
          <p:nvPr/>
        </p:nvSpPr>
        <p:spPr>
          <a:xfrm>
            <a:off x="1108710" y="1191573"/>
            <a:ext cx="32004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Computadores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Desktops e notebooks voltados a tarefas pesadas, criação de conteúdo e programação.</a:t>
            </a:r>
            <a:endParaRPr lang="en-US" sz="1685" dirty="0"/>
          </a:p>
        </p:txBody>
      </p:sp>
      <p:sp>
        <p:nvSpPr>
          <p:cNvPr id="6" name="zcxy6fhp"/>
          <p:cNvSpPr/>
          <p:nvPr/>
        </p:nvSpPr>
        <p:spPr>
          <a:xfrm>
            <a:off x="4663440" y="1017270"/>
            <a:ext cx="4206240" cy="1908810"/>
          </a:xfrm>
          <a:prstGeom prst="roundRect">
            <a:avLst>
              <a:gd name="adj" fmla="val 7186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7" name="icndev02" descr="/home/forge/chalkie-production-workers-1/releases/78875031/backend/storage/app/render-specs/acc7b6dc-6b02-4254-8b50-d4b83de50b76/img_02b379212d366a134404aed1381c56f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890" y="1188720"/>
            <a:ext cx="548640" cy="548640"/>
          </a:xfrm>
          <a:prstGeom prst="rect">
            <a:avLst/>
          </a:prstGeom>
        </p:spPr>
      </p:pic>
      <p:sp>
        <p:nvSpPr>
          <p:cNvPr id="8" name="ET4I9eQo"/>
          <p:cNvSpPr/>
          <p:nvPr/>
        </p:nvSpPr>
        <p:spPr>
          <a:xfrm>
            <a:off x="5497830" y="1191573"/>
            <a:ext cx="32004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Smartphones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Portáteis e conectados, combinam sensores, câmera e internet permanente no bolso.</a:t>
            </a:r>
            <a:endParaRPr lang="en-US" sz="1685" dirty="0"/>
          </a:p>
        </p:txBody>
      </p:sp>
      <p:sp>
        <p:nvSpPr>
          <p:cNvPr id="9" name="uSpRdjPr"/>
          <p:cNvSpPr/>
          <p:nvPr/>
        </p:nvSpPr>
        <p:spPr>
          <a:xfrm>
            <a:off x="274320" y="3108960"/>
            <a:ext cx="4206240" cy="1908810"/>
          </a:xfrm>
          <a:prstGeom prst="roundRect">
            <a:avLst>
              <a:gd name="adj" fmla="val 7186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0" name="icndev03" descr="/home/forge/chalkie-production-workers-1/releases/78875031/backend/storage/app/render-specs/acc7b6dc-6b02-4254-8b50-d4b83de50b76/img_b57249ad87671e83b6769a171fdeaa3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" y="3280410"/>
            <a:ext cx="548640" cy="548640"/>
          </a:xfrm>
          <a:prstGeom prst="rect">
            <a:avLst/>
          </a:prstGeom>
        </p:spPr>
      </p:pic>
      <p:sp>
        <p:nvSpPr>
          <p:cNvPr id="11" name="mDe7N8Zo"/>
          <p:cNvSpPr/>
          <p:nvPr/>
        </p:nvSpPr>
        <p:spPr>
          <a:xfrm>
            <a:off x="1108710" y="3283263"/>
            <a:ext cx="32004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Tablets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Intermediários com telas táteis amplas, ideais para leitura, ilustração e consumo visual.</a:t>
            </a:r>
            <a:endParaRPr lang="en-US" sz="1685" dirty="0"/>
          </a:p>
        </p:txBody>
      </p:sp>
      <p:sp>
        <p:nvSpPr>
          <p:cNvPr id="12" name="Ptnj3mcL"/>
          <p:cNvSpPr/>
          <p:nvPr/>
        </p:nvSpPr>
        <p:spPr>
          <a:xfrm>
            <a:off x="4663440" y="3108960"/>
            <a:ext cx="4206240" cy="1908810"/>
          </a:xfrm>
          <a:prstGeom prst="roundRect">
            <a:avLst>
              <a:gd name="adj" fmla="val 7186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3" name="icndev04" descr="/home/forge/chalkie-production-workers-1/releases/78875031/backend/storage/app/render-specs/acc7b6dc-6b02-4254-8b50-d4b83de50b76/img_42162e24dffcfa69a241eee0a8069c8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890" y="3280410"/>
            <a:ext cx="548640" cy="548640"/>
          </a:xfrm>
          <a:prstGeom prst="rect">
            <a:avLst/>
          </a:prstGeom>
        </p:spPr>
      </p:pic>
      <p:sp>
        <p:nvSpPr>
          <p:cNvPr id="14" name="EfN9MrVx"/>
          <p:cNvSpPr/>
          <p:nvPr/>
        </p:nvSpPr>
        <p:spPr>
          <a:xfrm>
            <a:off x="5497830" y="3283263"/>
            <a:ext cx="3200400" cy="1565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Wearables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Dispositivos vestíveis, como smartwatches e pulseiras que medem batimentos cardíacos e passos.</a:t>
            </a:r>
            <a:endParaRPr lang="en-US" sz="16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5GD4sX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Smartphones e tablets em foco</a:t>
            </a:r>
            <a:endParaRPr lang="en-US" sz="2246" dirty="0"/>
          </a:p>
        </p:txBody>
      </p:sp>
      <p:pic>
        <p:nvPicPr>
          <p:cNvPr id="3" name="imgtab01" descr="/home/forge/chalkie-production-workers-1/releases/78875031/backend/storage/app/render-specs/acc7b6dc-6b02-4254-8b50-d4b83de50b76/img_aa12753e9fe71037f109c775208d07b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bpcss2xb"/>
          <p:cNvSpPr/>
          <p:nvPr/>
        </p:nvSpPr>
        <p:spPr>
          <a:xfrm>
            <a:off x="274320" y="3043233"/>
            <a:ext cx="4251960" cy="17830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Mobilidade máxima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Projetados para consumo rápido de informações, pagamentos por aproximação, GPS e comunicação instantânea por mensageiros.</a:t>
            </a:r>
            <a:endParaRPr lang="en-US" sz="1685" dirty="0"/>
          </a:p>
        </p:txBody>
      </p:sp>
      <p:pic>
        <p:nvPicPr>
          <p:cNvPr id="5" name="imgtab02" descr="/home/forge/chalkie-production-workers-1/releases/78875031/backend/storage/app/render-specs/acc7b6dc-6b02-4254-8b50-d4b83de50b76/img_d312b06db34f282f5a57cc50f88235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cE59P3r5"/>
          <p:cNvSpPr/>
          <p:nvPr/>
        </p:nvSpPr>
        <p:spPr>
          <a:xfrm>
            <a:off x="4617720" y="3043233"/>
            <a:ext cx="4251960" cy="17830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Leitura e criação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Oferecem ergonomia visual superior com suporte a canetas sensíveis à pressão, sendo muito adotados no design digital e na educação.</a:t>
            </a:r>
            <a:endParaRPr lang="en-US" sz="168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7cSVjxV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Wearables e Internet das Coisas</a:t>
            </a:r>
            <a:endParaRPr lang="en-US" sz="2246" dirty="0"/>
          </a:p>
        </p:txBody>
      </p:sp>
      <p:sp>
        <p:nvSpPr>
          <p:cNvPr id="3" name="Qc5zb0PK"/>
          <p:cNvSpPr/>
          <p:nvPr/>
        </p:nvSpPr>
        <p:spPr>
          <a:xfrm>
            <a:off x="274320" y="1364620"/>
            <a:ext cx="41148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computação não mora mais apenas nas mesas. A sigla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IoT (Internet of Things)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descreve a conexão de objetos cotidianos à rede global.</a:t>
            </a:r>
            <a:endParaRPr lang="en-US" sz="1264" dirty="0"/>
          </a:p>
        </p:txBody>
      </p:sp>
      <p:sp>
        <p:nvSpPr>
          <p:cNvPr id="4" name="suqkoSpG"/>
          <p:cNvSpPr/>
          <p:nvPr/>
        </p:nvSpPr>
        <p:spPr>
          <a:xfrm>
            <a:off x="274320" y="2880360"/>
            <a:ext cx="4114800" cy="1623060"/>
          </a:xfrm>
          <a:prstGeom prst="roundRect">
            <a:avLst>
              <a:gd name="adj" fmla="val 563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5" name="zSl73xwF"/>
          <p:cNvSpPr/>
          <p:nvPr/>
        </p:nvSpPr>
        <p:spPr>
          <a:xfrm>
            <a:off x="400050" y="3036375"/>
            <a:ext cx="320040" cy="480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📌</a:t>
            </a:r>
            <a:endParaRPr lang="en-US" sz="1685" dirty="0"/>
          </a:p>
        </p:txBody>
      </p:sp>
      <p:sp>
        <p:nvSpPr>
          <p:cNvPr id="6" name="wEjauteO"/>
          <p:cNvSpPr/>
          <p:nvPr/>
        </p:nvSpPr>
        <p:spPr>
          <a:xfrm>
            <a:off x="811530" y="3004276"/>
            <a:ext cx="345186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Definição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Wearables são computadores em miniatura que coletam dados corporais diretamente do usuário.</a:t>
            </a:r>
            <a:endParaRPr lang="en-US" sz="1123" dirty="0"/>
          </a:p>
        </p:txBody>
      </p:sp>
      <p:pic>
        <p:nvPicPr>
          <p:cNvPr id="7" name="imgwear01" descr="/home/forge/chalkie-production-workers-1/releases/78875031/backend/storage/app/render-specs/acc7b6dc-6b02-4254-8b50-d4b83de50b76/img_e033463d6c0fa5a16bcc244ac4c3ce3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8102ac7-2290-439b-92fb-5681090d91b1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Classificando Dispositivos</a:t>
            </a:r>
            <a:endParaRPr lang="en-US" sz="2246" dirty="0"/>
          </a:p>
        </p:txBody>
      </p:sp>
      <p:sp>
        <p:nvSpPr>
          <p:cNvPr id="3" name="815b0de1-92fd-4a09-8156-949da6d2321d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dos seguintes aparelhos é considerado um exemplo clássico de dispositivo vestível (wearable)?</a:t>
            </a:r>
            <a:endParaRPr lang="en-US" sz="1264" dirty="0"/>
          </a:p>
        </p:txBody>
      </p:sp>
      <p:sp>
        <p:nvSpPr>
          <p:cNvPr id="4" name="9ad25739-595d-41fb-bda0-51900e70c08f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6a8cbe16-e89e-4963-a623-f591bcf38e56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Desktop com dois monitores</a:t>
            </a:r>
            <a:endParaRPr lang="en-US" sz="1264" dirty="0"/>
          </a:p>
        </p:txBody>
      </p:sp>
      <p:sp>
        <p:nvSpPr>
          <p:cNvPr id="6" name="a1a7bad7-0f21-4a63-af31-0d35a8165dd6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f6651d4d-9e1a-4c7a-a084-20049910f444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Roteador Wi-Fi de alta velocidade</a:t>
            </a:r>
            <a:endParaRPr lang="en-US" sz="1264" dirty="0"/>
          </a:p>
        </p:txBody>
      </p:sp>
      <p:sp>
        <p:nvSpPr>
          <p:cNvPr id="8" name="ae81bd85-0980-4113-972b-cc8eafbc85d7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080564d4-e02e-4866-87f0-960abf27f5a5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Smartwatch com monitor cardíaco</a:t>
            </a:r>
            <a:endParaRPr lang="en-US" sz="1264" dirty="0"/>
          </a:p>
        </p:txBody>
      </p:sp>
      <p:sp>
        <p:nvSpPr>
          <p:cNvPr id="10" name="452df96d-e6dc-44b6-a4c7-f597fffc990b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0cd11ff0-d0dc-422a-81e4-052978a8c889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Impressora multifuncional a laser</a:t>
            </a:r>
            <a:endParaRPr lang="en-US" sz="126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8102ac7-2290-439b-92fb-5681090d91b1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Classificando Dispositivos</a:t>
            </a:r>
            <a:endParaRPr lang="en-US" sz="2246" dirty="0"/>
          </a:p>
        </p:txBody>
      </p:sp>
      <p:sp>
        <p:nvSpPr>
          <p:cNvPr id="3" name="815b0de1-92fd-4a09-8156-949da6d2321d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dos seguintes aparelhos é considerado um exemplo clássico de dispositivo vestível (wearable)?</a:t>
            </a:r>
            <a:endParaRPr lang="en-US" sz="1264" dirty="0"/>
          </a:p>
        </p:txBody>
      </p:sp>
      <p:sp>
        <p:nvSpPr>
          <p:cNvPr id="4" name="9ad25739-595d-41fb-bda0-51900e70c08f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6a8cbe16-e89e-4963-a623-f591bcf38e56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Desktop com dois monitores</a:t>
            </a:r>
            <a:endParaRPr lang="en-US" sz="1264" dirty="0"/>
          </a:p>
        </p:txBody>
      </p:sp>
      <p:sp>
        <p:nvSpPr>
          <p:cNvPr id="6" name="a1a7bad7-0f21-4a63-af31-0d35a8165dd6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f6651d4d-9e1a-4c7a-a084-20049910f444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Roteador Wi-Fi de alta velocidade</a:t>
            </a:r>
            <a:endParaRPr lang="en-US" sz="1264" dirty="0"/>
          </a:p>
        </p:txBody>
      </p:sp>
      <p:sp>
        <p:nvSpPr>
          <p:cNvPr id="8" name="ae81bd85-0980-4113-972b-cc8eafbc85d7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080564d4-e02e-4866-87f0-960abf27f5a5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Smartwatch com monitor cardíaco</a:t>
            </a:r>
            <a:endParaRPr lang="en-US" sz="1264" dirty="0"/>
          </a:p>
        </p:txBody>
      </p:sp>
      <p:sp>
        <p:nvSpPr>
          <p:cNvPr id="10" name="452df96d-e6dc-44b6-a4c7-f597fffc990b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0cd11ff0-d0dc-422a-81e4-052978a8c889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Impressora multifuncional a laser</a:t>
            </a:r>
            <a:endParaRPr lang="en-US" sz="1264" dirty="0"/>
          </a:p>
        </p:txBody>
      </p:sp>
      <p:sp>
        <p:nvSpPr>
          <p:cNvPr id="12" name="43c5234c-a2eb-4ca1-9f66-c2fed3cd6506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4f996200-0418-48d7-a902-f5cc9165e76c"/>
          <p:cNvSpPr/>
          <p:nvPr/>
        </p:nvSpPr>
        <p:spPr>
          <a:xfrm>
            <a:off x="8721090" y="32332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EwHTHYr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grande dupla da computação</a:t>
            </a:r>
            <a:endParaRPr lang="en-US" sz="2246" dirty="0"/>
          </a:p>
        </p:txBody>
      </p:sp>
      <p:pic>
        <p:nvPicPr>
          <p:cNvPr id="3" name="imghw01" descr="/home/forge/chalkie-production-workers-1/releases/78875031/backend/storage/app/render-specs/acc7b6dc-6b02-4254-8b50-d4b83de50b76/img_7855107d468dd31d79cbe67c6e1033b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PgkMRMyL"/>
          <p:cNvSpPr/>
          <p:nvPr/>
        </p:nvSpPr>
        <p:spPr>
          <a:xfrm>
            <a:off x="274320" y="3043233"/>
            <a:ext cx="4251960" cy="17830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Hardware (O corpo)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Componentes elétricos, mecânicos e ópticos. Se você pode tocar, chacoalhar ou conectar fisicamente, trata-se de hardware.</a:t>
            </a:r>
            <a:endParaRPr lang="en-US" sz="1685" dirty="0"/>
          </a:p>
        </p:txBody>
      </p:sp>
      <p:pic>
        <p:nvPicPr>
          <p:cNvPr id="5" name="imgsw01" descr="/home/forge/chalkie-production-workers-1/releases/78875031/backend/storage/app/render-specs/acc7b6dc-6b02-4254-8b50-d4b83de50b76/img_091107ddc8c1f4105835331445e933f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p9TujAah"/>
          <p:cNvSpPr/>
          <p:nvPr/>
        </p:nvSpPr>
        <p:spPr>
          <a:xfrm>
            <a:off x="4617720" y="3043233"/>
            <a:ext cx="4251960" cy="17830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Software (A mente)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Conjunto de instruções e algoritmos que dizem ao hardware o que fazer. Sem software, o hardware é apenas metal e silício sem ação.</a:t>
            </a:r>
            <a:endParaRPr lang="en-US" sz="168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EaEzEU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coração do hardware: a CPU</a:t>
            </a:r>
            <a:endParaRPr lang="en-US" sz="2246" dirty="0"/>
          </a:p>
        </p:txBody>
      </p:sp>
      <p:sp>
        <p:nvSpPr>
          <p:cNvPr id="3" name="eUKFENTP"/>
          <p:cNvSpPr/>
          <p:nvPr/>
        </p:nvSpPr>
        <p:spPr>
          <a:xfrm>
            <a:off x="274320" y="1601577"/>
            <a:ext cx="170307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square" lIns="114300" tIns="45720" rIns="114300" bIns="45720" rtlCol="0" anchor="t"/>
          <a:lstStyle/>
          <a:p>
            <a:pPr algn="ctr" indent="0" marL="0">
              <a:lnSpc>
                <a:spcPts val="129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842" b="1" spc="54" kern="0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PROCESSAMENTO</a:t>
            </a:r>
            <a:endParaRPr lang="en-US" sz="842" dirty="0"/>
          </a:p>
        </p:txBody>
      </p:sp>
      <p:sp>
        <p:nvSpPr>
          <p:cNvPr id="4" name="fEyK7DJt"/>
          <p:cNvSpPr/>
          <p:nvPr/>
        </p:nvSpPr>
        <p:spPr>
          <a:xfrm>
            <a:off x="274320" y="1936120"/>
            <a:ext cx="4114800" cy="23431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Unidade Central de Processamento (CPU)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executa bilhões de operações lógicas e matemáticas por segundo.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Ela busca instruções armazenadas na memória, decodifica o que precisa ser feito e comanda todos os outros circuitos integrados da máquina.</a:t>
            </a:r>
            <a:endParaRPr lang="en-US" sz="1264" dirty="0"/>
          </a:p>
        </p:txBody>
      </p:sp>
      <p:pic>
        <p:nvPicPr>
          <p:cNvPr id="5" name="imgcpu01" descr="/home/forge/chalkie-production-workers-1/releases/78875031/backend/storage/app/render-specs/acc7b6dc-6b02-4254-8b50-d4b83de50b76/img_bb91660d0cb6bb6cf0d1755738b1495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WWfXJNH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Memórias: RAM vs Armazenamento</a:t>
            </a:r>
            <a:endParaRPr lang="en-US" sz="2246" dirty="0"/>
          </a:p>
        </p:txBody>
      </p:sp>
      <p:pic>
        <p:nvPicPr>
          <p:cNvPr id="3" name="imgmem01" descr="/home/forge/chalkie-production-workers-1/releases/78875031/backend/storage/app/render-specs/acc7b6dc-6b02-4254-8b50-d4b83de50b76/img_b63a2e9d9854a228979c9a90db21a9b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XWJuIAJQ"/>
          <p:cNvSpPr/>
          <p:nvPr/>
        </p:nvSpPr>
        <p:spPr>
          <a:xfrm>
            <a:off x="274320" y="3043233"/>
            <a:ext cx="4251960" cy="17830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Memória RAM (Volátil)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Ultrarrápida, serve de mesa de trabalho imediata. Quando o computador é desligado, todo o seu conteúdo é apagado.</a:t>
            </a:r>
            <a:endParaRPr lang="en-US" sz="1685" dirty="0"/>
          </a:p>
        </p:txBody>
      </p:sp>
      <p:pic>
        <p:nvPicPr>
          <p:cNvPr id="5" name="imgmem02" descr="/home/forge/chalkie-production-workers-1/releases/78875031/backend/storage/app/render-specs/acc7b6dc-6b02-4254-8b50-d4b83de50b76/img_ff0a3722def7108aed4e93cd0f04d0b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KY3kxD6I"/>
          <p:cNvSpPr/>
          <p:nvPr/>
        </p:nvSpPr>
        <p:spPr>
          <a:xfrm>
            <a:off x="4617720" y="3043233"/>
            <a:ext cx="4251960" cy="14973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Armazenamento SSD / HD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Não volátil. Guarda seus arquivos, fotos e jogos mesmo quando o dispositivo fica semanas sem energia.</a:t>
            </a:r>
            <a:endParaRPr lang="en-US" sz="168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R0dBOdt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ciclo do processamento</a:t>
            </a:r>
            <a:endParaRPr lang="en-US" sz="2246" dirty="0"/>
          </a:p>
        </p:txBody>
      </p:sp>
      <p:pic>
        <p:nvPicPr>
          <p:cNvPr id="3" name="diagciclo01" descr="/home/forge/chalkie-production-workers-1/releases/78875031/backend/storage/app/render-specs/acc7b6dc-6b02-4254-8b50-d4b83de50b76/img_d29697d7c978825cd1c88c9eb741d38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17270"/>
            <a:ext cx="7772400" cy="2286000"/>
          </a:xfrm>
          <a:prstGeom prst="rect">
            <a:avLst/>
          </a:prstGeom>
        </p:spPr>
      </p:pic>
      <p:sp>
        <p:nvSpPr>
          <p:cNvPr id="4" name="vVt1P09A"/>
          <p:cNvSpPr/>
          <p:nvPr/>
        </p:nvSpPr>
        <p:spPr>
          <a:xfrm>
            <a:off x="274320" y="3422020"/>
            <a:ext cx="85953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Qualquer computador opera sob o mesmo fluxo: recebe dados, processa regras com auxílio da memória e entrega o resultado visual ou físico.</a:t>
            </a:r>
            <a:endParaRPr lang="en-US" sz="126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cQfavIz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Periféricos de entrada e saída</a:t>
            </a:r>
            <a:endParaRPr lang="en-US" sz="2246" dirty="0"/>
          </a:p>
        </p:txBody>
      </p:sp>
      <p:pic>
        <p:nvPicPr>
          <p:cNvPr id="3" name="imgper01" descr="/home/forge/chalkie-production-workers-1/releases/78875031/backend/storage/app/render-specs/acc7b6dc-6b02-4254-8b50-d4b83de50b76/img_d510bdc1501e3415dfe82ee08a211ec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17270"/>
            <a:ext cx="420624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YXFhVVF5"/>
          <p:cNvSpPr/>
          <p:nvPr/>
        </p:nvSpPr>
        <p:spPr>
          <a:xfrm>
            <a:off x="274320" y="3191823"/>
            <a:ext cx="4206240" cy="14973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Entrada (Input)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Enviam sinais para o sistema: teclado, mouse, microfone, scanner e câmeras de vídeo.</a:t>
            </a:r>
            <a:endParaRPr lang="en-US" sz="1685" dirty="0"/>
          </a:p>
        </p:txBody>
      </p:sp>
      <p:pic>
        <p:nvPicPr>
          <p:cNvPr id="5" name="imgper02" descr="/home/forge/chalkie-production-workers-1/releases/78875031/backend/storage/app/render-specs/acc7b6dc-6b02-4254-8b50-d4b83de50b76/img_ac0767dec5c13aff34e4f84dbfad117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17270"/>
            <a:ext cx="420624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jcKKH65B"/>
          <p:cNvSpPr/>
          <p:nvPr/>
        </p:nvSpPr>
        <p:spPr>
          <a:xfrm>
            <a:off x="4663440" y="3191823"/>
            <a:ext cx="4206240" cy="14973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Saída (Output)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Exibem a resposta ao usuário: monitores, alto-falantes, impressoras e projetores de vídeo.</a:t>
            </a:r>
            <a:endParaRPr lang="en-US" sz="168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rLKSwXc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Dispositivos híbridos</a:t>
            </a:r>
            <a:endParaRPr lang="en-US" sz="2246" dirty="0"/>
          </a:p>
        </p:txBody>
      </p:sp>
      <p:sp>
        <p:nvSpPr>
          <p:cNvPr id="3" name="oNErgcFG"/>
          <p:cNvSpPr/>
          <p:nvPr/>
        </p:nvSpPr>
        <p:spPr>
          <a:xfrm>
            <a:off x="274320" y="1227460"/>
            <a:ext cx="4114800" cy="1623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Muitos componentes modernos desempenham os dois papéis simultaneamente: recebem dados de você e devolvem respostas na mesma superfície.</a:t>
            </a:r>
            <a:endParaRPr lang="en-US" sz="1264" dirty="0"/>
          </a:p>
        </p:txBody>
      </p:sp>
      <p:sp>
        <p:nvSpPr>
          <p:cNvPr id="4" name="Y9Avyksx"/>
          <p:cNvSpPr/>
          <p:nvPr/>
        </p:nvSpPr>
        <p:spPr>
          <a:xfrm>
            <a:off x="274320" y="3028950"/>
            <a:ext cx="4114800" cy="1623060"/>
          </a:xfrm>
          <a:prstGeom prst="roundRect">
            <a:avLst>
              <a:gd name="adj" fmla="val 563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5" name="MByZDebR"/>
          <p:cNvSpPr/>
          <p:nvPr/>
        </p:nvSpPr>
        <p:spPr>
          <a:xfrm>
            <a:off x="400050" y="3184965"/>
            <a:ext cx="320040" cy="480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💡</a:t>
            </a:r>
            <a:endParaRPr lang="en-US" sz="1685" dirty="0"/>
          </a:p>
        </p:txBody>
      </p:sp>
      <p:sp>
        <p:nvSpPr>
          <p:cNvPr id="6" name="Kcp8Ll7e"/>
          <p:cNvSpPr/>
          <p:nvPr/>
        </p:nvSpPr>
        <p:spPr>
          <a:xfrm>
            <a:off x="811530" y="3152866"/>
            <a:ext cx="345186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Dica prática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tela touch do celular detecta o toque do dedo (entrada) e mostra o aplicativo (saída).</a:t>
            </a:r>
            <a:endParaRPr lang="en-US" sz="1123" dirty="0"/>
          </a:p>
        </p:txBody>
      </p:sp>
      <p:pic>
        <p:nvPicPr>
          <p:cNvPr id="7" name="imghyb01" descr="/home/forge/chalkie-production-workers-1/releases/78875031/backend/storage/app/render-specs/acc7b6dc-6b02-4254-8b50-d4b83de50b76/img_b4fc608f5a025bc29771151089de767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6140dd5-e798-4a73-8bbf-ff1801fea656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Hardware e Periféricos</a:t>
            </a:r>
            <a:endParaRPr lang="en-US" sz="2246" dirty="0"/>
          </a:p>
        </p:txBody>
      </p:sp>
      <p:sp>
        <p:nvSpPr>
          <p:cNvPr id="3" name="d418c4e1-ad06-4f5b-ac02-f321a40b9a55"/>
          <p:cNvSpPr/>
          <p:nvPr/>
        </p:nvSpPr>
        <p:spPr>
          <a:xfrm>
            <a:off x="285750" y="741136"/>
            <a:ext cx="8572500" cy="38747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c279bca7-1bc8-4493-98a4-d993ca3436df"/>
          <p:cNvSpPr/>
          <p:nvPr/>
        </p:nvSpPr>
        <p:spPr>
          <a:xfrm>
            <a:off x="285750" y="13122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Teclado</a:t>
            </a:r>
            <a:endParaRPr lang="en-US" sz="1404" dirty="0"/>
          </a:p>
        </p:txBody>
      </p:sp>
      <p:sp>
        <p:nvSpPr>
          <p:cNvPr id="5" name="f27a40ff-b7b2-4e92-b01d-8e5f4e439871"/>
          <p:cNvSpPr/>
          <p:nvPr/>
        </p:nvSpPr>
        <p:spPr>
          <a:xfrm>
            <a:off x="285750" y="22266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Memória RAM</a:t>
            </a:r>
            <a:endParaRPr lang="en-US" sz="1404" dirty="0"/>
          </a:p>
        </p:txBody>
      </p:sp>
      <p:sp>
        <p:nvSpPr>
          <p:cNvPr id="6" name="0ce1f8d8-6c99-40ae-816e-5f1f4512500d"/>
          <p:cNvSpPr/>
          <p:nvPr/>
        </p:nvSpPr>
        <p:spPr>
          <a:xfrm>
            <a:off x="285750" y="31410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Processador (CPU)</a:t>
            </a:r>
            <a:endParaRPr lang="en-US" sz="1404" dirty="0"/>
          </a:p>
        </p:txBody>
      </p:sp>
      <p:sp>
        <p:nvSpPr>
          <p:cNvPr id="7" name="dea109b8-ef01-4155-bc27-d60eb664b22f"/>
          <p:cNvSpPr/>
          <p:nvPr/>
        </p:nvSpPr>
        <p:spPr>
          <a:xfrm>
            <a:off x="285750" y="40554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Monitor</a:t>
            </a:r>
            <a:endParaRPr lang="en-US" sz="1404" dirty="0"/>
          </a:p>
        </p:txBody>
      </p:sp>
      <p:sp>
        <p:nvSpPr>
          <p:cNvPr id="8" name="e2ddfbd0-7ea8-4d1e-a4f9-7c812a89caca"/>
          <p:cNvSpPr/>
          <p:nvPr/>
        </p:nvSpPr>
        <p:spPr>
          <a:xfrm>
            <a:off x="3829050" y="13124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Periférico de entrada para inserção de texto e comandos</a:t>
            </a:r>
            <a:endParaRPr lang="en-US" sz="1264" dirty="0"/>
          </a:p>
        </p:txBody>
      </p:sp>
      <p:sp>
        <p:nvSpPr>
          <p:cNvPr id="9" name="36626e38-66ef-43b7-bb04-47ebe08e42e2"/>
          <p:cNvSpPr/>
          <p:nvPr/>
        </p:nvSpPr>
        <p:spPr>
          <a:xfrm>
            <a:off x="3829050" y="2226887"/>
            <a:ext cx="5143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Periférico de saída que exibe a interface gráfica</a:t>
            </a:r>
            <a:endParaRPr lang="en-US" sz="1264" dirty="0"/>
          </a:p>
        </p:txBody>
      </p:sp>
      <p:sp>
        <p:nvSpPr>
          <p:cNvPr id="10" name="939b1083-7cdb-4de6-adbf-bf2919a5ffe6"/>
          <p:cNvSpPr/>
          <p:nvPr/>
        </p:nvSpPr>
        <p:spPr>
          <a:xfrm>
            <a:off x="3829050" y="31412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Executa cálculos lógicos e coordena os componentes</a:t>
            </a:r>
            <a:endParaRPr lang="en-US" sz="1264" dirty="0"/>
          </a:p>
        </p:txBody>
      </p:sp>
      <p:sp>
        <p:nvSpPr>
          <p:cNvPr id="11" name="9402ad61-9f3a-4665-bd8f-a7d1933babdc"/>
          <p:cNvSpPr/>
          <p:nvPr/>
        </p:nvSpPr>
        <p:spPr>
          <a:xfrm>
            <a:off x="3829050" y="4055687"/>
            <a:ext cx="5143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Armazena dados voláteis para acesso imediato</a:t>
            </a:r>
            <a:endParaRPr lang="en-US" sz="126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6140dd5-e798-4a73-8bbf-ff1801fea656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Hardware e Periféricos</a:t>
            </a:r>
            <a:endParaRPr lang="en-US" sz="2246" dirty="0"/>
          </a:p>
        </p:txBody>
      </p:sp>
      <p:sp>
        <p:nvSpPr>
          <p:cNvPr id="3" name="d418c4e1-ad06-4f5b-ac02-f321a40b9a55"/>
          <p:cNvSpPr/>
          <p:nvPr/>
        </p:nvSpPr>
        <p:spPr>
          <a:xfrm>
            <a:off x="285750" y="741136"/>
            <a:ext cx="8572500" cy="38747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c279bca7-1bc8-4493-98a4-d993ca3436df"/>
          <p:cNvSpPr/>
          <p:nvPr/>
        </p:nvSpPr>
        <p:spPr>
          <a:xfrm>
            <a:off x="285750" y="13122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09E9E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Teclado</a:t>
            </a:r>
            <a:endParaRPr lang="en-US" sz="1404" dirty="0"/>
          </a:p>
        </p:txBody>
      </p:sp>
      <p:sp>
        <p:nvSpPr>
          <p:cNvPr id="5" name="f27a40ff-b7b2-4e92-b01d-8e5f4e439871"/>
          <p:cNvSpPr/>
          <p:nvPr/>
        </p:nvSpPr>
        <p:spPr>
          <a:xfrm>
            <a:off x="285750" y="22266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90368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Memória RAM</a:t>
            </a:r>
            <a:endParaRPr lang="en-US" sz="1404" dirty="0"/>
          </a:p>
        </p:txBody>
      </p:sp>
      <p:sp>
        <p:nvSpPr>
          <p:cNvPr id="6" name="0ce1f8d8-6c99-40ae-816e-5f1f4512500d"/>
          <p:cNvSpPr/>
          <p:nvPr/>
        </p:nvSpPr>
        <p:spPr>
          <a:xfrm>
            <a:off x="285750" y="31410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68C45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Processador (CPU)</a:t>
            </a:r>
            <a:endParaRPr lang="en-US" sz="1404" dirty="0"/>
          </a:p>
        </p:txBody>
      </p:sp>
      <p:sp>
        <p:nvSpPr>
          <p:cNvPr id="7" name="dea109b8-ef01-4155-bc27-d60eb664b22f"/>
          <p:cNvSpPr/>
          <p:nvPr/>
        </p:nvSpPr>
        <p:spPr>
          <a:xfrm>
            <a:off x="285750" y="40554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579A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Monitor</a:t>
            </a:r>
            <a:endParaRPr lang="en-US" sz="1404" dirty="0"/>
          </a:p>
        </p:txBody>
      </p:sp>
      <p:sp>
        <p:nvSpPr>
          <p:cNvPr id="8" name="e2ddfbd0-7ea8-4d1e-a4f9-7c812a89caca"/>
          <p:cNvSpPr/>
          <p:nvPr/>
        </p:nvSpPr>
        <p:spPr>
          <a:xfrm>
            <a:off x="3829050" y="13124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Periférico de entrada para inserção de texto e comandos</a:t>
            </a:r>
            <a:endParaRPr lang="en-US" sz="1264" dirty="0"/>
          </a:p>
        </p:txBody>
      </p:sp>
      <p:sp>
        <p:nvSpPr>
          <p:cNvPr id="9" name="36626e38-66ef-43b7-bb04-47ebe08e42e2"/>
          <p:cNvSpPr/>
          <p:nvPr/>
        </p:nvSpPr>
        <p:spPr>
          <a:xfrm>
            <a:off x="3829050" y="2226887"/>
            <a:ext cx="5143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Periférico de saída que exibe a interface gráfica</a:t>
            </a:r>
            <a:endParaRPr lang="en-US" sz="1264" dirty="0"/>
          </a:p>
        </p:txBody>
      </p:sp>
      <p:sp>
        <p:nvSpPr>
          <p:cNvPr id="10" name="939b1083-7cdb-4de6-adbf-bf2919a5ffe6"/>
          <p:cNvSpPr/>
          <p:nvPr/>
        </p:nvSpPr>
        <p:spPr>
          <a:xfrm>
            <a:off x="3829050" y="31412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Executa cálculos lógicos e coordena os componentes</a:t>
            </a:r>
            <a:endParaRPr lang="en-US" sz="1264" dirty="0"/>
          </a:p>
        </p:txBody>
      </p:sp>
      <p:sp>
        <p:nvSpPr>
          <p:cNvPr id="11" name="9402ad61-9f3a-4665-bd8f-a7d1933babdc"/>
          <p:cNvSpPr/>
          <p:nvPr/>
        </p:nvSpPr>
        <p:spPr>
          <a:xfrm>
            <a:off x="3829050" y="4055687"/>
            <a:ext cx="5143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Armazena dados voláteis para acesso imediato</a:t>
            </a:r>
            <a:endParaRPr lang="en-US" sz="1264" dirty="0"/>
          </a:p>
        </p:txBody>
      </p:sp>
      <p:sp>
        <p:nvSpPr>
          <p:cNvPr id="12" name="ae0b108b-6818-4743-87be-30d42128d2db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connector-1f013350-8ba1-4ad9-9517-8d7cf5544da7-0"/>
          <p:cNvSpPr/>
          <p:nvPr/>
        </p:nvSpPr>
        <p:spPr>
          <a:xfrm>
            <a:off x="2571750" y="1623060"/>
            <a:ext cx="994410" cy="38354"/>
          </a:xfrm>
          <a:prstGeom prst="line">
            <a:avLst/>
          </a:prstGeom>
          <a:noFill/>
          <a:ln w="28575">
            <a:solidFill>
              <a:srgbClr val="409E9E"/>
            </a:solidFill>
            <a:prstDash val="solid"/>
          </a:ln>
        </p:spPr>
      </p:sp>
      <p:sp>
        <p:nvSpPr>
          <p:cNvPr id="14" name="connector-1f013350-8ba1-4ad9-9517-8d7cf5544da7-1"/>
          <p:cNvSpPr/>
          <p:nvPr/>
        </p:nvSpPr>
        <p:spPr>
          <a:xfrm>
            <a:off x="2571750" y="2537460"/>
            <a:ext cx="994410" cy="1739646"/>
          </a:xfrm>
          <a:prstGeom prst="line">
            <a:avLst/>
          </a:prstGeom>
          <a:noFill/>
          <a:ln w="28575">
            <a:solidFill>
              <a:srgbClr val="D90368"/>
            </a:solidFill>
            <a:prstDash val="solid"/>
          </a:ln>
        </p:spPr>
      </p:sp>
      <p:sp>
        <p:nvSpPr>
          <p:cNvPr id="15" name="connector-1f013350-8ba1-4ad9-9517-8d7cf5544da7-2"/>
          <p:cNvSpPr/>
          <p:nvPr/>
        </p:nvSpPr>
        <p:spPr>
          <a:xfrm>
            <a:off x="2571750" y="3451860"/>
            <a:ext cx="994410" cy="38354"/>
          </a:xfrm>
          <a:prstGeom prst="line">
            <a:avLst/>
          </a:prstGeom>
          <a:noFill/>
          <a:ln w="28575">
            <a:solidFill>
              <a:srgbClr val="D68C45"/>
            </a:solidFill>
            <a:prstDash val="solid"/>
          </a:ln>
        </p:spPr>
      </p:sp>
      <p:sp>
        <p:nvSpPr>
          <p:cNvPr id="16" name="connector-1f013350-8ba1-4ad9-9517-8d7cf5544da7-3"/>
          <p:cNvSpPr/>
          <p:nvPr/>
        </p:nvSpPr>
        <p:spPr>
          <a:xfrm flipV="1">
            <a:off x="2571750" y="2448306"/>
            <a:ext cx="994410" cy="1917954"/>
          </a:xfrm>
          <a:prstGeom prst="line">
            <a:avLst/>
          </a:prstGeom>
          <a:noFill/>
          <a:ln w="28575">
            <a:solidFill>
              <a:srgbClr val="4579A9"/>
            </a:solidFill>
            <a:prstDash val="solid"/>
          </a:ln>
        </p:spPr>
      </p:sp>
      <p:sp>
        <p:nvSpPr>
          <p:cNvPr id="17" name="9228fecd-aeab-4c69-8aea-6be79207b65f"/>
          <p:cNvSpPr/>
          <p:nvPr/>
        </p:nvSpPr>
        <p:spPr>
          <a:xfrm>
            <a:off x="3394710" y="14885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</a:t>
            </a:r>
            <a:endParaRPr lang="en-US" sz="913" dirty="0"/>
          </a:p>
        </p:txBody>
      </p:sp>
      <p:sp>
        <p:nvSpPr>
          <p:cNvPr id="18" name="101140a2-bb2b-4332-9510-0eb165f20a15"/>
          <p:cNvSpPr/>
          <p:nvPr/>
        </p:nvSpPr>
        <p:spPr>
          <a:xfrm>
            <a:off x="3394710" y="410424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</a:t>
            </a:r>
            <a:endParaRPr lang="en-US" sz="913" dirty="0"/>
          </a:p>
        </p:txBody>
      </p:sp>
      <p:sp>
        <p:nvSpPr>
          <p:cNvPr id="19" name="57040987-c059-499c-bbff-faf94e8a7574"/>
          <p:cNvSpPr/>
          <p:nvPr/>
        </p:nvSpPr>
        <p:spPr>
          <a:xfrm>
            <a:off x="3394710" y="33173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</a:t>
            </a:r>
            <a:endParaRPr lang="en-US" sz="913" dirty="0"/>
          </a:p>
        </p:txBody>
      </p:sp>
      <p:sp>
        <p:nvSpPr>
          <p:cNvPr id="20" name="f93f2294-7dfb-4ace-b1c5-69a79095d061"/>
          <p:cNvSpPr/>
          <p:nvPr/>
        </p:nvSpPr>
        <p:spPr>
          <a:xfrm>
            <a:off x="3394710" y="227544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</a:t>
            </a:r>
            <a:endParaRPr lang="en-US" sz="91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B6Fe1ot"/>
          <p:cNvSpPr/>
          <p:nvPr/>
        </p:nvSpPr>
        <p:spPr>
          <a:xfrm>
            <a:off x="274320" y="186618"/>
            <a:ext cx="27432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sistema operacional?</a:t>
            </a:r>
            <a:endParaRPr lang="en-US" sz="2246" dirty="0"/>
          </a:p>
        </p:txBody>
      </p:sp>
      <p:sp>
        <p:nvSpPr>
          <p:cNvPr id="3" name="M4MsI4Od"/>
          <p:cNvSpPr/>
          <p:nvPr/>
        </p:nvSpPr>
        <p:spPr>
          <a:xfrm>
            <a:off x="274320" y="1844385"/>
            <a:ext cx="2743200" cy="4000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maestro do computador</a:t>
            </a:r>
            <a:endParaRPr lang="en-US" sz="1123" dirty="0"/>
          </a:p>
        </p:txBody>
      </p:sp>
      <p:pic>
        <p:nvPicPr>
          <p:cNvPr id="4" name="imgos01" descr="/home/forge/chalkie-production-workers-1/releases/78875031/backend/storage/app/render-specs/acc7b6dc-6b02-4254-8b50-d4b83de50b76/img_8cb4b339cf02bb27982b3e832f061c9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88870"/>
            <a:ext cx="22860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qeHPAs9J"/>
          <p:cNvSpPr/>
          <p:nvPr/>
        </p:nvSpPr>
        <p:spPr>
          <a:xfrm>
            <a:off x="3383280" y="1281537"/>
            <a:ext cx="18745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square" lIns="114300" tIns="45720" rIns="114300" bIns="45720" rtlCol="0" anchor="t"/>
          <a:lstStyle/>
          <a:p>
            <a:pPr algn="ctr" indent="0" marL="0">
              <a:lnSpc>
                <a:spcPts val="129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842" b="1" spc="54" kern="0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SOFTWARE MESTRE</a:t>
            </a:r>
            <a:endParaRPr lang="en-US" sz="842" dirty="0"/>
          </a:p>
        </p:txBody>
      </p:sp>
      <p:sp>
        <p:nvSpPr>
          <p:cNvPr id="6" name="rOUc3gUX"/>
          <p:cNvSpPr/>
          <p:nvPr/>
        </p:nvSpPr>
        <p:spPr>
          <a:xfrm>
            <a:off x="3383280" y="1707520"/>
            <a:ext cx="5486400" cy="20574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Sistema Operacional (SO)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o primeiro software carregado quando você liga o aparelho. Ele faz a ponte entre as peças físicas e os programas comuns.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Suas três funções mestras: gerenciar a memória e o processador, organizar o sistema de pastas e arquivos, e oferecer uma interface amigável para o ser humano.</a:t>
            </a:r>
            <a:endParaRPr lang="en-US" sz="126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0wQgvm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Principais sistemas do mercado</a:t>
            </a:r>
            <a:endParaRPr lang="en-US" sz="2246" dirty="0"/>
          </a:p>
        </p:txBody>
      </p:sp>
      <p:sp>
        <p:nvSpPr>
          <p:cNvPr id="3" name="OOldd0HT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4" name="icos01" descr="/home/forge/chalkie-production-workers-1/releases/78875031/backend/storage/app/render-specs/acc7b6dc-6b02-4254-8b50-d4b83de50b76/img_18075e0ed685265e4e3f6e8c021ccf8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" y="1188720"/>
            <a:ext cx="548640" cy="548640"/>
          </a:xfrm>
          <a:prstGeom prst="rect">
            <a:avLst/>
          </a:prstGeom>
        </p:spPr>
      </p:pic>
      <p:sp>
        <p:nvSpPr>
          <p:cNvPr id="5" name="SgFokReK"/>
          <p:cNvSpPr/>
          <p:nvPr/>
        </p:nvSpPr>
        <p:spPr>
          <a:xfrm>
            <a:off x="1108710" y="1191573"/>
            <a:ext cx="32004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Windows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Mais popular em computadores pessoais e ambientes corporativos em escala global.</a:t>
            </a:r>
            <a:endParaRPr lang="en-US" sz="1685" dirty="0"/>
          </a:p>
        </p:txBody>
      </p:sp>
      <p:sp>
        <p:nvSpPr>
          <p:cNvPr id="6" name="VYpSKWyG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7" name="icos02" descr="/home/forge/chalkie-production-workers-1/releases/78875031/backend/storage/app/render-specs/acc7b6dc-6b02-4254-8b50-d4b83de50b76/img_50a4b64c4ee126141e2b282c6d885a9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890" y="1188720"/>
            <a:ext cx="548640" cy="548640"/>
          </a:xfrm>
          <a:prstGeom prst="rect">
            <a:avLst/>
          </a:prstGeom>
        </p:spPr>
      </p:pic>
      <p:sp>
        <p:nvSpPr>
          <p:cNvPr id="8" name="iXbICa3Y"/>
          <p:cNvSpPr/>
          <p:nvPr/>
        </p:nvSpPr>
        <p:spPr>
          <a:xfrm>
            <a:off x="5497830" y="1191573"/>
            <a:ext cx="32004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macOS / iOS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Ecossistema fechado da Apple, conhecido pela forte integração de hardware e interface fluida.</a:t>
            </a:r>
            <a:endParaRPr lang="en-US" sz="1685" dirty="0"/>
          </a:p>
        </p:txBody>
      </p:sp>
      <p:sp>
        <p:nvSpPr>
          <p:cNvPr id="9" name="QYFKoclt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0" name="icos03" descr="/home/forge/chalkie-production-workers-1/releases/78875031/backend/storage/app/render-specs/acc7b6dc-6b02-4254-8b50-d4b83de50b76/img_e34a711946d7ef66c7226cff71bc2d2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" y="3211830"/>
            <a:ext cx="548640" cy="548640"/>
          </a:xfrm>
          <a:prstGeom prst="rect">
            <a:avLst/>
          </a:prstGeom>
        </p:spPr>
      </p:pic>
      <p:sp>
        <p:nvSpPr>
          <p:cNvPr id="11" name="IYQHxTCm"/>
          <p:cNvSpPr/>
          <p:nvPr/>
        </p:nvSpPr>
        <p:spPr>
          <a:xfrm>
            <a:off x="1108710" y="3214683"/>
            <a:ext cx="32004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Android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Baseado em Linux, é o sistema móvel mais usado no mundo em aparelhos de diversas marcas.</a:t>
            </a:r>
            <a:endParaRPr lang="en-US" sz="1685" dirty="0"/>
          </a:p>
        </p:txBody>
      </p:sp>
      <p:sp>
        <p:nvSpPr>
          <p:cNvPr id="12" name="c7AM6FjG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3" name="icos04" descr="/home/forge/chalkie-production-workers-1/releases/78875031/backend/storage/app/render-specs/acc7b6dc-6b02-4254-8b50-d4b83de50b76/img_f8de2c3c155943d21519bef6a188bd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890" y="3211830"/>
            <a:ext cx="548640" cy="548640"/>
          </a:xfrm>
          <a:prstGeom prst="rect">
            <a:avLst/>
          </a:prstGeom>
        </p:spPr>
      </p:pic>
      <p:sp>
        <p:nvSpPr>
          <p:cNvPr id="14" name="Ex6aD1bv"/>
          <p:cNvSpPr/>
          <p:nvPr/>
        </p:nvSpPr>
        <p:spPr>
          <a:xfrm>
            <a:off x="5497830" y="3214683"/>
            <a:ext cx="32004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Linux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Código aberto, altamente seguro e flexível; sustenta quase todos os servidores e supercomputadores.</a:t>
            </a:r>
            <a:endParaRPr lang="en-US" sz="168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wg2c88W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uma rede de computadores?</a:t>
            </a:r>
            <a:endParaRPr lang="en-US" sz="2246" dirty="0"/>
          </a:p>
        </p:txBody>
      </p:sp>
      <p:sp>
        <p:nvSpPr>
          <p:cNvPr id="3" name="QldvCUu7"/>
          <p:cNvSpPr/>
          <p:nvPr/>
        </p:nvSpPr>
        <p:spPr>
          <a:xfrm>
            <a:off x="274320" y="1216030"/>
            <a:ext cx="41148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rede surge quando dois ou mais dispositivos são conectados para trocar arquivos, mensagens e compartilhar recursos como impressoras e internet.</a:t>
            </a:r>
            <a:endParaRPr lang="en-US" sz="1264" dirty="0"/>
          </a:p>
        </p:txBody>
      </p:sp>
      <p:sp>
        <p:nvSpPr>
          <p:cNvPr id="4" name="vswOQNMe"/>
          <p:cNvSpPr/>
          <p:nvPr/>
        </p:nvSpPr>
        <p:spPr>
          <a:xfrm>
            <a:off x="274320" y="273177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5" name="WRYQHYpa"/>
          <p:cNvSpPr/>
          <p:nvPr/>
        </p:nvSpPr>
        <p:spPr>
          <a:xfrm>
            <a:off x="400050" y="2887785"/>
            <a:ext cx="320040" cy="480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⚠️</a:t>
            </a:r>
            <a:endParaRPr lang="en-US" sz="1685" dirty="0"/>
          </a:p>
        </p:txBody>
      </p:sp>
      <p:sp>
        <p:nvSpPr>
          <p:cNvPr id="6" name="eqdC0SIB"/>
          <p:cNvSpPr/>
          <p:nvPr/>
        </p:nvSpPr>
        <p:spPr>
          <a:xfrm>
            <a:off x="811530" y="2855686"/>
            <a:ext cx="3451860" cy="16687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 ao equívoco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Wi-Fi não é a internet inteira! Wi-Fi é apenas o meio sem fio que conecta seu celular ao roteador da sua casa.</a:t>
            </a:r>
            <a:endParaRPr lang="en-US" sz="1123" dirty="0"/>
          </a:p>
        </p:txBody>
      </p:sp>
      <p:pic>
        <p:nvPicPr>
          <p:cNvPr id="7" name="imgnet01" descr="/home/forge/chalkie-production-workers-1/releases/78875031/backend/storage/app/render-specs/acc7b6dc-6b02-4254-8b50-d4b83de50b76/img_c061c118e6c24cfc48f65b6fbf6f19a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KCRfPMx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Internet e Intranet</a:t>
            </a:r>
            <a:endParaRPr lang="en-US" sz="2246" dirty="0"/>
          </a:p>
        </p:txBody>
      </p:sp>
      <p:pic>
        <p:nvPicPr>
          <p:cNvPr id="3" name="imgnet02" descr="/home/forge/chalkie-production-workers-1/releases/78875031/backend/storage/app/render-specs/acc7b6dc-6b02-4254-8b50-d4b83de50b76/img_389fec9a40f6593f24e289c45ee4cc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clcWMyfU"/>
          <p:cNvSpPr/>
          <p:nvPr/>
        </p:nvSpPr>
        <p:spPr>
          <a:xfrm>
            <a:off x="274320" y="3043233"/>
            <a:ext cx="4251960" cy="14973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Internet (Global)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maior rede pública do planeta, conectando bilhões de aparelhos por protocolos padronizados de comunicação.</a:t>
            </a:r>
            <a:endParaRPr lang="en-US" sz="1685" dirty="0"/>
          </a:p>
        </p:txBody>
      </p:sp>
      <p:pic>
        <p:nvPicPr>
          <p:cNvPr id="5" name="imgnet03" descr="/home/forge/chalkie-production-workers-1/releases/78875031/backend/storage/app/render-specs/acc7b6dc-6b02-4254-8b50-d4b83de50b76/img_b622250a76eb6b78c4cb0188d7508b4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hiXpPNXg"/>
          <p:cNvSpPr/>
          <p:nvPr/>
        </p:nvSpPr>
        <p:spPr>
          <a:xfrm>
            <a:off x="4617720" y="3043233"/>
            <a:ext cx="4251960" cy="17830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Intranet (Privada)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Rede restrita a uma instituição, como uma escola ou hospital, acessível unicamente por pessoas autorizadas no local.</a:t>
            </a:r>
            <a:endParaRPr lang="en-US" sz="168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bG1xh5D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trafega a informação</a:t>
            </a:r>
            <a:endParaRPr lang="en-US" sz="2246" dirty="0"/>
          </a:p>
        </p:txBody>
      </p:sp>
      <p:pic>
        <p:nvPicPr>
          <p:cNvPr id="3" name="imgstep01" descr="/home/forge/chalkie-production-workers-1/releases/78875031/backend/storage/app/render-specs/acc7b6dc-6b02-4254-8b50-d4b83de50b76/img_852915565daea88fba5ef5c33a57e1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274320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imgstep02" descr="/home/forge/chalkie-production-workers-1/releases/78875031/backend/storage/app/render-specs/acc7b6dc-6b02-4254-8b50-d4b83de50b76/img_d2efb097cf1ab326e50bf4bcb9dccb0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25830"/>
            <a:ext cx="274320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5" name="imgstep03" descr="/home/forge/chalkie-production-workers-1/releases/78875031/backend/storage/app/render-specs/acc7b6dc-6b02-4254-8b50-d4b83de50b76/img_97d5eb38ef2034eb08ba1d480952542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92583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QV6AQA74"/>
          <p:cNvSpPr/>
          <p:nvPr/>
        </p:nvSpPr>
        <p:spPr>
          <a:xfrm>
            <a:off x="182880" y="3097530"/>
            <a:ext cx="292608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7" name="nfWk8QGg"/>
          <p:cNvSpPr/>
          <p:nvPr/>
        </p:nvSpPr>
        <p:spPr>
          <a:xfrm>
            <a:off x="3108960" y="3097530"/>
            <a:ext cx="292608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8" name="dR14xV21"/>
          <p:cNvSpPr/>
          <p:nvPr/>
        </p:nvSpPr>
        <p:spPr>
          <a:xfrm>
            <a:off x="6035040" y="3097530"/>
            <a:ext cx="292608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9" name="ln6HFrwd"/>
          <p:cNvSpPr/>
          <p:nvPr/>
        </p:nvSpPr>
        <p:spPr>
          <a:xfrm>
            <a:off x="274320" y="3625671"/>
            <a:ext cx="2743200" cy="12573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Disparo de pacotes</a:t>
            </a:r>
            <a:endParaRPr lang="en-US" sz="140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Sua mensagem é fatiada em pequenos pedaços chamados pacotes de dados.</a:t>
            </a:r>
            <a:endParaRPr lang="en-US" sz="1404" dirty="0"/>
          </a:p>
        </p:txBody>
      </p:sp>
      <p:sp>
        <p:nvSpPr>
          <p:cNvPr id="10" name="RjTq9Grh"/>
          <p:cNvSpPr/>
          <p:nvPr/>
        </p:nvSpPr>
        <p:spPr>
          <a:xfrm>
            <a:off x="3200400" y="3625671"/>
            <a:ext cx="2743200" cy="12573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Roteamento</a:t>
            </a:r>
            <a:endParaRPr lang="en-US" sz="140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Roteadores analisam os caminhos mais velozes por cabos e satélites.</a:t>
            </a:r>
            <a:endParaRPr lang="en-US" sz="1404" dirty="0"/>
          </a:p>
        </p:txBody>
      </p:sp>
      <p:sp>
        <p:nvSpPr>
          <p:cNvPr id="11" name="MrOwkQyO"/>
          <p:cNvSpPr/>
          <p:nvPr/>
        </p:nvSpPr>
        <p:spPr>
          <a:xfrm>
            <a:off x="6126480" y="3625671"/>
            <a:ext cx="2743200" cy="12573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Reconstrução</a:t>
            </a:r>
            <a:endParaRPr lang="en-US" sz="140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aparelho de destino confere a ordem e recria o áudio, texto ou imagem.</a:t>
            </a:r>
            <a:endParaRPr lang="en-US" sz="140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c84c58e-98eb-4aaa-89a2-6417d5852210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Caminho da Conexão</a:t>
            </a:r>
            <a:endParaRPr lang="en-US" sz="2246" dirty="0"/>
          </a:p>
        </p:txBody>
      </p:sp>
      <p:sp>
        <p:nvSpPr>
          <p:cNvPr id="3" name="bc00eaa3-c35b-4a04-9acf-844338e7e111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do momento em que você solicita uma página web até sua visualização:</a:t>
            </a:r>
            <a:endParaRPr lang="en-US" sz="1264" dirty="0"/>
          </a:p>
        </p:txBody>
      </p:sp>
      <p:sp>
        <p:nvSpPr>
          <p:cNvPr id="4" name="ca19f434-15c8-45ab-bf7e-030a72768b7b"/>
          <p:cNvSpPr/>
          <p:nvPr/>
        </p:nvSpPr>
        <p:spPr>
          <a:xfrm>
            <a:off x="1714500" y="16553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Seu dispositivo recebe os pacotes e o navegador monta a página na tela</a:t>
            </a:r>
            <a:endParaRPr lang="en-US" sz="1264" dirty="0"/>
          </a:p>
        </p:txBody>
      </p:sp>
      <p:sp>
        <p:nvSpPr>
          <p:cNvPr id="5" name="13da2ad9-674e-4b3b-9171-d3fb523421b4"/>
          <p:cNvSpPr/>
          <p:nvPr/>
        </p:nvSpPr>
        <p:spPr>
          <a:xfrm>
            <a:off x="1714500" y="23983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digita o endereço da página no navegador web</a:t>
            </a:r>
            <a:endParaRPr lang="en-US" sz="1264" dirty="0"/>
          </a:p>
        </p:txBody>
      </p:sp>
      <p:sp>
        <p:nvSpPr>
          <p:cNvPr id="6" name="09a34fc8-ab43-4388-bcab-da57b3ede5c1"/>
          <p:cNvSpPr/>
          <p:nvPr/>
        </p:nvSpPr>
        <p:spPr>
          <a:xfrm>
            <a:off x="1714500" y="31412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servidor localiza os dados solicitados e envia os pacotes de resposta</a:t>
            </a:r>
            <a:endParaRPr lang="en-US" sz="1264" dirty="0"/>
          </a:p>
        </p:txBody>
      </p:sp>
      <p:sp>
        <p:nvSpPr>
          <p:cNvPr id="7" name="83a833d7-418a-4f5e-a5e0-0a5b21a5fbb5"/>
          <p:cNvSpPr/>
          <p:nvPr/>
        </p:nvSpPr>
        <p:spPr>
          <a:xfrm>
            <a:off x="1714500" y="38842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requisição é transformada em pacotes e viaja pela rede até o servidor</a:t>
            </a:r>
            <a:endParaRPr lang="en-US" sz="126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c84c58e-98eb-4aaa-89a2-6417d5852210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Caminho da Conexão</a:t>
            </a:r>
            <a:endParaRPr lang="en-US" sz="2246" dirty="0"/>
          </a:p>
        </p:txBody>
      </p:sp>
      <p:sp>
        <p:nvSpPr>
          <p:cNvPr id="3" name="bc00eaa3-c35b-4a04-9acf-844338e7e111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do momento em que você solicita uma página web até sua visualização:</a:t>
            </a:r>
            <a:endParaRPr lang="en-US" sz="1264" dirty="0"/>
          </a:p>
        </p:txBody>
      </p:sp>
      <p:sp>
        <p:nvSpPr>
          <p:cNvPr id="4" name="ca19f434-15c8-45ab-bf7e-030a72768b7b"/>
          <p:cNvSpPr/>
          <p:nvPr/>
        </p:nvSpPr>
        <p:spPr>
          <a:xfrm>
            <a:off x="1714500" y="38842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Seu dispositivo recebe os pacotes e o navegador monta a página na tela</a:t>
            </a:r>
            <a:endParaRPr lang="en-US" sz="1264" dirty="0"/>
          </a:p>
        </p:txBody>
      </p:sp>
      <p:sp>
        <p:nvSpPr>
          <p:cNvPr id="5" name="13da2ad9-674e-4b3b-9171-d3fb523421b4"/>
          <p:cNvSpPr/>
          <p:nvPr/>
        </p:nvSpPr>
        <p:spPr>
          <a:xfrm>
            <a:off x="1714500" y="16553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digita o endereço da página no navegador web</a:t>
            </a:r>
            <a:endParaRPr lang="en-US" sz="1264" dirty="0"/>
          </a:p>
        </p:txBody>
      </p:sp>
      <p:sp>
        <p:nvSpPr>
          <p:cNvPr id="6" name="09a34fc8-ab43-4388-bcab-da57b3ede5c1"/>
          <p:cNvSpPr/>
          <p:nvPr/>
        </p:nvSpPr>
        <p:spPr>
          <a:xfrm>
            <a:off x="1714500" y="31412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servidor localiza os dados solicitados e envia os pacotes de resposta</a:t>
            </a:r>
            <a:endParaRPr lang="en-US" sz="1264" dirty="0"/>
          </a:p>
        </p:txBody>
      </p:sp>
      <p:sp>
        <p:nvSpPr>
          <p:cNvPr id="7" name="83a833d7-418a-4f5e-a5e0-0a5b21a5fbb5"/>
          <p:cNvSpPr/>
          <p:nvPr/>
        </p:nvSpPr>
        <p:spPr>
          <a:xfrm>
            <a:off x="1714500" y="23983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requisição é transformada em pacotes e viaja pela rede até o servidor</a:t>
            </a:r>
            <a:endParaRPr lang="en-US" sz="1264" dirty="0"/>
          </a:p>
        </p:txBody>
      </p:sp>
      <p:sp>
        <p:nvSpPr>
          <p:cNvPr id="8" name="4cd803fe-59d6-435f-a34b-a370350ac81a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e7ff7ce9-70d0-40da-be3b-7aa7aaa3e7dd"/>
          <p:cNvSpPr/>
          <p:nvPr/>
        </p:nvSpPr>
        <p:spPr>
          <a:xfrm>
            <a:off x="7292340" y="15187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f8cd40f1-1375-42fb-9a68-15e2bfd5f020"/>
          <p:cNvSpPr/>
          <p:nvPr/>
        </p:nvSpPr>
        <p:spPr>
          <a:xfrm>
            <a:off x="7292340" y="22617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a584a3dd-62ae-4e1c-8253-0b78546ad4f3"/>
          <p:cNvSpPr/>
          <p:nvPr/>
        </p:nvSpPr>
        <p:spPr>
          <a:xfrm>
            <a:off x="7292340" y="30046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d99d8829-b3bb-4793-9ce4-e4f7f3fb90a2"/>
          <p:cNvSpPr/>
          <p:nvPr/>
        </p:nvSpPr>
        <p:spPr>
          <a:xfrm>
            <a:off x="7292340" y="37476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hfcTR6E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Tecnologia transformando setores</a:t>
            </a:r>
            <a:endParaRPr lang="en-US" sz="2246" dirty="0"/>
          </a:p>
        </p:txBody>
      </p:sp>
      <p:pic>
        <p:nvPicPr>
          <p:cNvPr id="3" name="imgap01" descr="/home/forge/chalkie-production-workers-1/releases/78875031/backend/storage/app/render-specs/acc7b6dc-6b02-4254-8b50-d4b83de50b76/img_5d76e36a20ec737c536cd5fc1fe0d0f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2811780" cy="1851660"/>
          </a:xfrm>
          <a:prstGeom prst="roundRect">
            <a:avLst>
              <a:gd name="adj" fmla="val 7407"/>
            </a:avLst>
          </a:prstGeom>
        </p:spPr>
      </p:pic>
      <p:sp>
        <p:nvSpPr>
          <p:cNvPr id="4" name="tvPKp6ae"/>
          <p:cNvSpPr/>
          <p:nvPr/>
        </p:nvSpPr>
        <p:spPr>
          <a:xfrm>
            <a:off x="274320" y="2837197"/>
            <a:ext cx="2811780" cy="15773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Educação</a:t>
            </a:r>
            <a:endParaRPr lang="en-US" sz="1544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Simulações interativas, videoaulas gravadas e plataformas que adaptam exercícios ao ritmo individual.</a:t>
            </a:r>
            <a:endParaRPr lang="en-US" sz="1544" dirty="0"/>
          </a:p>
        </p:txBody>
      </p:sp>
      <p:pic>
        <p:nvPicPr>
          <p:cNvPr id="5" name="imgap02" descr="/home/forge/chalkie-production-workers-1/releases/78875031/backend/storage/app/render-specs/acc7b6dc-6b02-4254-8b50-d4b83de50b76/img_be53c0c2c761f305fe34edcb537e535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110" y="925830"/>
            <a:ext cx="2811780" cy="1851660"/>
          </a:xfrm>
          <a:prstGeom prst="roundRect">
            <a:avLst>
              <a:gd name="adj" fmla="val 7407"/>
            </a:avLst>
          </a:prstGeom>
        </p:spPr>
      </p:pic>
      <p:sp>
        <p:nvSpPr>
          <p:cNvPr id="6" name="l6QNtcnP"/>
          <p:cNvSpPr/>
          <p:nvPr/>
        </p:nvSpPr>
        <p:spPr>
          <a:xfrm>
            <a:off x="3166110" y="2837197"/>
            <a:ext cx="2811780" cy="15773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Saúde</a:t>
            </a:r>
            <a:endParaRPr lang="en-US" sz="1544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Prontuários eletrônicos, cirurgias de alta precisão assistidas por robôs e consultas via telemedicina.</a:t>
            </a:r>
            <a:endParaRPr lang="en-US" sz="1544" dirty="0"/>
          </a:p>
        </p:txBody>
      </p:sp>
      <p:pic>
        <p:nvPicPr>
          <p:cNvPr id="7" name="imgap03" descr="/home/forge/chalkie-production-workers-1/releases/78875031/backend/storage/app/render-specs/acc7b6dc-6b02-4254-8b50-d4b83de50b76/img_8b707b42cd2e35f4a122ff6c30f6f4bf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330" y="925830"/>
            <a:ext cx="2811780" cy="1851660"/>
          </a:xfrm>
          <a:prstGeom prst="roundRect">
            <a:avLst>
              <a:gd name="adj" fmla="val 7407"/>
            </a:avLst>
          </a:prstGeom>
        </p:spPr>
      </p:pic>
      <p:sp>
        <p:nvSpPr>
          <p:cNvPr id="8" name="R2kCCO2w"/>
          <p:cNvSpPr/>
          <p:nvPr/>
        </p:nvSpPr>
        <p:spPr>
          <a:xfrm>
            <a:off x="6069330" y="2837197"/>
            <a:ext cx="2811780" cy="15773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Comunicação</a:t>
            </a:r>
            <a:endParaRPr lang="en-US" sz="1544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Redução drástica de distâncias por chamadas com áudio cristalino e colaboração em tempo real.</a:t>
            </a:r>
            <a:endParaRPr lang="en-US" sz="154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rArqJVl"/>
          <p:cNvSpPr/>
          <p:nvPr/>
        </p:nvSpPr>
        <p:spPr>
          <a:xfrm>
            <a:off x="274320" y="369498"/>
            <a:ext cx="434340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Acessibilidade digital</a:t>
            </a:r>
            <a:endParaRPr lang="en-US" sz="2246" dirty="0"/>
          </a:p>
        </p:txBody>
      </p:sp>
      <p:sp>
        <p:nvSpPr>
          <p:cNvPr id="3" name="yyIK3lnR"/>
          <p:cNvSpPr/>
          <p:nvPr/>
        </p:nvSpPr>
        <p:spPr>
          <a:xfrm>
            <a:off x="274320" y="1136020"/>
            <a:ext cx="4343400" cy="35318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tecnologia só cumpre seu papel humano pleno quando está aberta para todas as pessoas, incluindo indivíduos com deficiência visual, auditiva ou motora.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Leitores de tela: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softwares que convertem texto e botões em áudio articulado.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Legendas e transcrições: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conversão automática de voz para texto legível.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Comandos de voz: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permitem navegação sem necessidade das mãos.</a:t>
            </a:r>
            <a:endParaRPr lang="en-US" sz="1264" dirty="0"/>
          </a:p>
        </p:txBody>
      </p:sp>
      <p:pic>
        <p:nvPicPr>
          <p:cNvPr id="4" name="imgac01" descr="/home/forge/chalkie-production-workers-1/releases/78875031/backend/storage/app/render-specs/acc7b6dc-6b02-4254-8b50-d4b83de50b76/img_3a22df27a4420b38bd17593badc8c67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2880"/>
            <a:ext cx="38862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rr8lx49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Tecnologias assistivas na prática</a:t>
            </a:r>
            <a:endParaRPr lang="en-US" sz="2246" dirty="0"/>
          </a:p>
        </p:txBody>
      </p:sp>
      <p:sp>
        <p:nvSpPr>
          <p:cNvPr id="3" name="uJm55ogd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4" name="icnast01" descr="/home/forge/chalkie-production-workers-1/releases/78875031/backend/storage/app/render-specs/acc7b6dc-6b02-4254-8b50-d4b83de50b76/img_7f3ca73df6e3a3e881a913bce4fd3a7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" y="1188720"/>
            <a:ext cx="548640" cy="548640"/>
          </a:xfrm>
          <a:prstGeom prst="rect">
            <a:avLst/>
          </a:prstGeom>
        </p:spPr>
      </p:pic>
      <p:sp>
        <p:nvSpPr>
          <p:cNvPr id="5" name="YUPZss1J"/>
          <p:cNvSpPr/>
          <p:nvPr/>
        </p:nvSpPr>
        <p:spPr>
          <a:xfrm>
            <a:off x="1108710" y="1191573"/>
            <a:ext cx="32004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Síntese de voz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Narra livros e páginas web inteiras para pessoas cegas ou com baixa visão.</a:t>
            </a:r>
            <a:endParaRPr lang="en-US" sz="1685" dirty="0"/>
          </a:p>
        </p:txBody>
      </p:sp>
      <p:sp>
        <p:nvSpPr>
          <p:cNvPr id="6" name="qZJMqzHz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7" name="icnast02" descr="/home/forge/chalkie-production-workers-1/releases/78875031/backend/storage/app/render-specs/acc7b6dc-6b02-4254-8b50-d4b83de50b76/img_a493a80893a5ca5c54bdde346c217a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890" y="1188720"/>
            <a:ext cx="548640" cy="548640"/>
          </a:xfrm>
          <a:prstGeom prst="rect">
            <a:avLst/>
          </a:prstGeom>
        </p:spPr>
      </p:pic>
      <p:sp>
        <p:nvSpPr>
          <p:cNvPr id="8" name="x69HssiC"/>
          <p:cNvSpPr/>
          <p:nvPr/>
        </p:nvSpPr>
        <p:spPr>
          <a:xfrm>
            <a:off x="5497830" y="1191573"/>
            <a:ext cx="32004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Contraste e zoom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Ajuste de fontes e esquemas de alto contraste para conforto e legibilidade visual.</a:t>
            </a:r>
            <a:endParaRPr lang="en-US" sz="1685" dirty="0"/>
          </a:p>
        </p:txBody>
      </p:sp>
      <p:sp>
        <p:nvSpPr>
          <p:cNvPr id="9" name="6MZOZ69i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0" name="icnast03" descr="/home/forge/chalkie-production-workers-1/releases/78875031/backend/storage/app/render-specs/acc7b6dc-6b02-4254-8b50-d4b83de50b76/img_79da8aa2bd0d39e1c32bdc72f7826d9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" y="3211830"/>
            <a:ext cx="548640" cy="548640"/>
          </a:xfrm>
          <a:prstGeom prst="rect">
            <a:avLst/>
          </a:prstGeom>
        </p:spPr>
      </p:pic>
      <p:sp>
        <p:nvSpPr>
          <p:cNvPr id="11" name="fgHBHkiC"/>
          <p:cNvSpPr/>
          <p:nvPr/>
        </p:nvSpPr>
        <p:spPr>
          <a:xfrm>
            <a:off x="1108710" y="3214683"/>
            <a:ext cx="32004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Legendas ao vivo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Geração em tempo real de legendas em chamadas de vídeo para pessoas surdas.</a:t>
            </a:r>
            <a:endParaRPr lang="en-US" sz="1685" dirty="0"/>
          </a:p>
        </p:txBody>
      </p:sp>
      <p:sp>
        <p:nvSpPr>
          <p:cNvPr id="12" name="HCfs6jb4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3" name="icnast04" descr="/home/forge/chalkie-production-workers-1/releases/78875031/backend/storage/app/render-specs/acc7b6dc-6b02-4254-8b50-d4b83de50b76/img_126a8dddcae9e2e1260eb1042473e5b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890" y="3211830"/>
            <a:ext cx="548640" cy="548640"/>
          </a:xfrm>
          <a:prstGeom prst="rect">
            <a:avLst/>
          </a:prstGeom>
        </p:spPr>
      </p:pic>
      <p:sp>
        <p:nvSpPr>
          <p:cNvPr id="14" name="MpX3Q4bN"/>
          <p:cNvSpPr/>
          <p:nvPr/>
        </p:nvSpPr>
        <p:spPr>
          <a:xfrm>
            <a:off x="5497830" y="3214683"/>
            <a:ext cx="3200400" cy="1337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Controle por olhar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Sensores que leem o movimento dos olhos para quem tem limitações motoras severas.</a:t>
            </a:r>
            <a:endParaRPr lang="en-US" sz="168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z1TQes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Impacto na comunicação interpessoal</a:t>
            </a:r>
            <a:endParaRPr lang="en-US" sz="2246" dirty="0"/>
          </a:p>
        </p:txBody>
      </p:sp>
      <p:pic>
        <p:nvPicPr>
          <p:cNvPr id="3" name="imgcom01" descr="/home/forge/chalkie-production-workers-1/releases/78875031/backend/storage/app/render-specs/acc7b6dc-6b02-4254-8b50-d4b83de50b76/img_89c89902a8c55ea577ab3a03b060d85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17270"/>
            <a:ext cx="420624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iSOHZ1NA"/>
          <p:cNvSpPr/>
          <p:nvPr/>
        </p:nvSpPr>
        <p:spPr>
          <a:xfrm>
            <a:off x="274320" y="3191823"/>
            <a:ext cx="4206240" cy="14973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Conexões ampliadas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Manter contato diário com amigos e familiares distantes tornou-se fácil, barato e acessível a qualquer momento.</a:t>
            </a:r>
            <a:endParaRPr lang="en-US" sz="1685" dirty="0"/>
          </a:p>
        </p:txBody>
      </p:sp>
      <p:pic>
        <p:nvPicPr>
          <p:cNvPr id="5" name="imgcom02" descr="/home/forge/chalkie-production-workers-1/releases/78875031/backend/storage/app/render-specs/acc7b6dc-6b02-4254-8b50-d4b83de50b76/img_b779660fb34373b1edf1e5e5ae80750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17270"/>
            <a:ext cx="420624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TQUl4obb"/>
          <p:cNvSpPr/>
          <p:nvPr/>
        </p:nvSpPr>
        <p:spPr>
          <a:xfrm>
            <a:off x="4663440" y="3191823"/>
            <a:ext cx="4206240" cy="14973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risco do distanciamento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excesso de notificações pode gerar desatenção nas conversas cara a cara e prejudicar relacionamentos reais.</a:t>
            </a:r>
            <a:endParaRPr lang="en-US" sz="168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resp01" descr="/home/forge/chalkie-production-workers-1/releases/78875031/backend/storage/app/render-specs/acc7b6dc-6b02-4254-8b50-d4b83de50b76/img_2b3a86609b3f9932d203627660a8b0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1N2FDEs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gFDhjYNI"/>
          <p:cNvSpPr/>
          <p:nvPr/>
        </p:nvSpPr>
        <p:spPr>
          <a:xfrm>
            <a:off x="1737360" y="1752528"/>
            <a:ext cx="568071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Uso responsável da tecnologia</a:t>
            </a:r>
            <a:endParaRPr lang="en-US" sz="2246" dirty="0"/>
          </a:p>
        </p:txBody>
      </p:sp>
      <p:sp>
        <p:nvSpPr>
          <p:cNvPr id="5" name="MmfX7lgm"/>
          <p:cNvSpPr/>
          <p:nvPr/>
        </p:nvSpPr>
        <p:spPr>
          <a:xfrm>
            <a:off x="274320" y="2519050"/>
            <a:ext cx="85953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tecnologia deve ser uma ponte para potencializar nossas capacidades, não uma barreira que consome todo o nosso tempo e saúde mental.</a:t>
            </a:r>
            <a:endParaRPr lang="en-US" sz="126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qvDEiyq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Pilares do equilíbrio digital</a:t>
            </a:r>
            <a:endParaRPr lang="en-US" sz="2246" dirty="0"/>
          </a:p>
        </p:txBody>
      </p:sp>
      <p:sp>
        <p:nvSpPr>
          <p:cNvPr id="3" name="s9eyidmI"/>
          <p:cNvSpPr/>
          <p:nvPr/>
        </p:nvSpPr>
        <p:spPr>
          <a:xfrm>
            <a:off x="274320" y="134874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4THTjKCq"/>
          <p:cNvSpPr/>
          <p:nvPr/>
        </p:nvSpPr>
        <p:spPr>
          <a:xfrm>
            <a:off x="468630" y="1634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5" name="qKXWP9So"/>
          <p:cNvSpPr/>
          <p:nvPr/>
        </p:nvSpPr>
        <p:spPr>
          <a:xfrm>
            <a:off x="1108710" y="143320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Tempo de tela consciente: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estabelecer pausas regulares para descanso visual e postura corporal correta.</a:t>
            </a:r>
            <a:endParaRPr lang="en-US" sz="1264" dirty="0"/>
          </a:p>
        </p:txBody>
      </p:sp>
      <p:sp>
        <p:nvSpPr>
          <p:cNvPr id="6" name="MAsgKGdr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7" name="KhPWreWF"/>
          <p:cNvSpPr/>
          <p:nvPr/>
        </p:nvSpPr>
        <p:spPr>
          <a:xfrm>
            <a:off x="468630" y="274307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8" name="r54Bdhac"/>
          <p:cNvSpPr/>
          <p:nvPr/>
        </p:nvSpPr>
        <p:spPr>
          <a:xfrm>
            <a:off x="1108710" y="254191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 de notificações: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silenciar alertas desnecessários para preservar o foco nos estudos e tarefas.</a:t>
            </a:r>
            <a:endParaRPr lang="en-US" sz="1264" dirty="0"/>
          </a:p>
        </p:txBody>
      </p:sp>
      <p:sp>
        <p:nvSpPr>
          <p:cNvPr id="9" name="Kx4nNFfJ"/>
          <p:cNvSpPr/>
          <p:nvPr/>
        </p:nvSpPr>
        <p:spPr>
          <a:xfrm>
            <a:off x="274320" y="356616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10" name="W41gOw2p"/>
          <p:cNvSpPr/>
          <p:nvPr/>
        </p:nvSpPr>
        <p:spPr>
          <a:xfrm>
            <a:off x="468630" y="38517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1" name="XhB8QCAi"/>
          <p:cNvSpPr/>
          <p:nvPr/>
        </p:nvSpPr>
        <p:spPr>
          <a:xfrm>
            <a:off x="1108710" y="365062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Presença física real: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priorizar conversas e refeições sem checar o celular a cada minuto.</a:t>
            </a:r>
            <a:endParaRPr lang="en-US" sz="1264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bZS75VD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Habilidades digitais essenciais</a:t>
            </a:r>
            <a:endParaRPr lang="en-US" sz="2246" dirty="0"/>
          </a:p>
        </p:txBody>
      </p:sp>
      <p:pic>
        <p:nvPicPr>
          <p:cNvPr id="3" name="imghab01" descr="/home/forge/chalkie-production-workers-1/releases/78875031/backend/storage/app/render-specs/acc7b6dc-6b02-4254-8b50-d4b83de50b76/img_65b7644b381e1f762994659900f3e97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1727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4" name="2SL5GvyR"/>
          <p:cNvSpPr/>
          <p:nvPr/>
        </p:nvSpPr>
        <p:spPr>
          <a:xfrm>
            <a:off x="274320" y="3181695"/>
            <a:ext cx="2011680" cy="11201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Segurança e ética: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proteger dados pessoais e agir com respeito online.</a:t>
            </a:r>
            <a:endParaRPr lang="en-US" sz="1123" dirty="0"/>
          </a:p>
        </p:txBody>
      </p:sp>
      <p:pic>
        <p:nvPicPr>
          <p:cNvPr id="5" name="imghab02" descr="/home/forge/chalkie-production-workers-1/releases/78875031/backend/storage/app/render-specs/acc7b6dc-6b02-4254-8b50-d4b83de50b76/img_d7ab4ec85046e0c6e48146e488234f5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58877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6" name="TPa4qOW1"/>
          <p:cNvSpPr/>
          <p:nvPr/>
        </p:nvSpPr>
        <p:spPr>
          <a:xfrm>
            <a:off x="2468880" y="3753195"/>
            <a:ext cx="2011680" cy="11201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Pesquisa crítica: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filtrar fontes confiáveis e combater fake news.</a:t>
            </a:r>
            <a:endParaRPr lang="en-US" sz="1123" dirty="0"/>
          </a:p>
        </p:txBody>
      </p:sp>
      <p:pic>
        <p:nvPicPr>
          <p:cNvPr id="7" name="imghab03" descr="/home/forge/chalkie-production-workers-1/releases/78875031/backend/storage/app/render-specs/acc7b6dc-6b02-4254-8b50-d4b83de50b76/img_a8c5dfe6dbde48bf6c1c76628a962c5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1727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8" name="A20dbpyF"/>
          <p:cNvSpPr/>
          <p:nvPr/>
        </p:nvSpPr>
        <p:spPr>
          <a:xfrm>
            <a:off x="4663440" y="3181695"/>
            <a:ext cx="2011680" cy="11201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Produtividade: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dominar digitação, editores de texto e apresentações.</a:t>
            </a:r>
            <a:endParaRPr lang="en-US" sz="1123" dirty="0"/>
          </a:p>
        </p:txBody>
      </p:sp>
      <p:pic>
        <p:nvPicPr>
          <p:cNvPr id="9" name="imghab04" descr="/home/forge/chalkie-production-workers-1/releases/78875031/backend/storage/app/render-specs/acc7b6dc-6b02-4254-8b50-d4b83de50b76/img_0e2ed6e5931f8bcb013b9c56d8a0720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58877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10" name="ITYj5ga2"/>
          <p:cNvSpPr/>
          <p:nvPr/>
        </p:nvSpPr>
        <p:spPr>
          <a:xfrm>
            <a:off x="6858000" y="3753195"/>
            <a:ext cx="2011680" cy="11201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Pensamento lógico: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criar algoritmos para resolver problemas passo a passo.</a:t>
            </a:r>
            <a:endParaRPr lang="en-US" sz="1123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kj2i5t6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mapa das nossas próximas aulas</a:t>
            </a:r>
            <a:endParaRPr lang="en-US" sz="2246" dirty="0"/>
          </a:p>
        </p:txBody>
      </p:sp>
      <p:pic>
        <p:nvPicPr>
          <p:cNvPr id="3" name="imgser01" descr="/home/forge/chalkie-production-workers-1/releases/78875031/backend/storage/app/render-specs/acc7b6dc-6b02-4254-8b50-d4b83de50b76/img_f7ce0fda9e350c6692d049641c19447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37260"/>
            <a:ext cx="2011680" cy="2057400"/>
          </a:xfrm>
          <a:prstGeom prst="roundRect">
            <a:avLst>
              <a:gd name="adj" fmla="val 6818"/>
            </a:avLst>
          </a:prstGeom>
        </p:spPr>
      </p:pic>
      <p:pic>
        <p:nvPicPr>
          <p:cNvPr id="4" name="imgser02" descr="/home/forge/chalkie-production-workers-1/releases/78875031/backend/storage/app/render-specs/acc7b6dc-6b02-4254-8b50-d4b83de50b76/img_edfb02f76b5b3e88b84980d5929ee99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937260"/>
            <a:ext cx="2011680" cy="2057400"/>
          </a:xfrm>
          <a:prstGeom prst="roundRect">
            <a:avLst>
              <a:gd name="adj" fmla="val 6818"/>
            </a:avLst>
          </a:prstGeom>
        </p:spPr>
      </p:pic>
      <p:pic>
        <p:nvPicPr>
          <p:cNvPr id="5" name="imgser03" descr="/home/forge/chalkie-production-workers-1/releases/78875031/backend/storage/app/render-specs/acc7b6dc-6b02-4254-8b50-d4b83de50b76/img_76af67a10cba24020fd30106f33d3eb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37260"/>
            <a:ext cx="2011680" cy="2057400"/>
          </a:xfrm>
          <a:prstGeom prst="roundRect">
            <a:avLst>
              <a:gd name="adj" fmla="val 6818"/>
            </a:avLst>
          </a:prstGeom>
        </p:spPr>
      </p:pic>
      <p:pic>
        <p:nvPicPr>
          <p:cNvPr id="6" name="imgser04" descr="/home/forge/chalkie-production-workers-1/releases/78875031/backend/storage/app/render-specs/acc7b6dc-6b02-4254-8b50-d4b83de50b76/img_99f3e5ef07caa8413490a48ba7999cd6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3726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7" name="OzX7cWXG"/>
          <p:cNvSpPr/>
          <p:nvPr/>
        </p:nvSpPr>
        <p:spPr>
          <a:xfrm>
            <a:off x="182880" y="3108960"/>
            <a:ext cx="219456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8" name="alJ2wD6V"/>
          <p:cNvSpPr/>
          <p:nvPr/>
        </p:nvSpPr>
        <p:spPr>
          <a:xfrm>
            <a:off x="2377440" y="3108960"/>
            <a:ext cx="219456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9" name="tf3hjfFu"/>
          <p:cNvSpPr/>
          <p:nvPr/>
        </p:nvSpPr>
        <p:spPr>
          <a:xfrm>
            <a:off x="4572000" y="3108960"/>
            <a:ext cx="219456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10" name="vZNc5WnZ"/>
          <p:cNvSpPr/>
          <p:nvPr/>
        </p:nvSpPr>
        <p:spPr>
          <a:xfrm>
            <a:off x="6766560" y="3108960"/>
            <a:ext cx="219456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11" name="XgSVW2d2"/>
          <p:cNvSpPr/>
          <p:nvPr/>
        </p:nvSpPr>
        <p:spPr>
          <a:xfrm>
            <a:off x="274320" y="3636904"/>
            <a:ext cx="2011680" cy="12230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Aula 2</a:t>
            </a:r>
            <a:endParaRPr lang="en-US" sz="126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Cidadania digital, fake news e pegadas digitais.</a:t>
            </a:r>
            <a:endParaRPr lang="en-US" sz="1264" dirty="0"/>
          </a:p>
        </p:txBody>
      </p:sp>
      <p:sp>
        <p:nvSpPr>
          <p:cNvPr id="12" name="adnMJhta"/>
          <p:cNvSpPr/>
          <p:nvPr/>
        </p:nvSpPr>
        <p:spPr>
          <a:xfrm>
            <a:off x="2468880" y="3636904"/>
            <a:ext cx="2011680" cy="9944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Aula 3</a:t>
            </a:r>
            <a:endParaRPr lang="en-US" sz="126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Digitação eficiente e editores de texto.</a:t>
            </a:r>
            <a:endParaRPr lang="en-US" sz="1264" dirty="0"/>
          </a:p>
        </p:txBody>
      </p:sp>
      <p:sp>
        <p:nvSpPr>
          <p:cNvPr id="13" name="Aefccftv"/>
          <p:cNvSpPr/>
          <p:nvPr/>
        </p:nvSpPr>
        <p:spPr>
          <a:xfrm>
            <a:off x="4663440" y="3636904"/>
            <a:ext cx="2011680" cy="9944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Aula 4</a:t>
            </a:r>
            <a:endParaRPr lang="en-US" sz="126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Apresentações visuais e pesquisa na web.</a:t>
            </a:r>
            <a:endParaRPr lang="en-US" sz="1264" dirty="0"/>
          </a:p>
        </p:txBody>
      </p:sp>
      <p:sp>
        <p:nvSpPr>
          <p:cNvPr id="14" name="BMcNyH5H"/>
          <p:cNvSpPr/>
          <p:nvPr/>
        </p:nvSpPr>
        <p:spPr>
          <a:xfrm>
            <a:off x="6858000" y="3636904"/>
            <a:ext cx="2011680" cy="12230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Aula 5</a:t>
            </a:r>
            <a:endParaRPr lang="en-US" sz="126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Algoritmos e pensamento computacional.</a:t>
            </a:r>
            <a:endParaRPr lang="en-US" sz="126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d3a3b74-ffa6-4fdf-be86-b2701eb7c44c" descr="/home/forge/chalkie-production-workers-1/releases/78875031/backend/storage/app/render-specs/acc7b6dc-6b02-4254-8b50-d4b83de50b76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ect">
            <a:avLst/>
          </a:prstGeom>
        </p:spPr>
      </p:pic>
      <p:pic>
        <p:nvPicPr>
          <p:cNvPr id="3" name="dc55c800-d8f3-4206-9e80-47cf88bc6cf6" descr="/home/forge/chalkie-production-workers-1/releases/78875031/backend/storage/app/render-specs/acc7b6dc-6b02-4254-8b50-d4b83de50b76/img_300ab1b3b2ed8516fc55bdf38583eb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ect">
            <a:avLst/>
          </a:prstGeom>
        </p:spPr>
      </p:pic>
      <p:sp>
        <p:nvSpPr>
          <p:cNvPr id="4" name="87f0bc67-b93a-4ac9-9545-284feb794cff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 em Turma</a:t>
            </a:r>
            <a:endParaRPr lang="en-US" sz="2246" dirty="0"/>
          </a:p>
        </p:txBody>
      </p:sp>
      <p:sp>
        <p:nvSpPr>
          <p:cNvPr id="5" name="a8d8a042-d960-41c7-87d8-3c0ea8d10387"/>
          <p:cNvSpPr/>
          <p:nvPr/>
        </p:nvSpPr>
        <p:spPr>
          <a:xfrm>
            <a:off x="4297680" y="1826837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seria a sua rotina escolar se você passasse uma semana inteira sem acesso a nenhum dispositivo digital? O que facilitaria e o que seria mais difícil?</a:t>
            </a:r>
            <a:endParaRPr lang="en-US" sz="126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d3a3b74-ffa6-4fdf-be86-b2701eb7c44c" descr="/home/forge/chalkie-production-workers-1/releases/78875031/backend/storage/app/render-specs/acc7b6dc-6b02-4254-8b50-d4b83de50b76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ect">
            <a:avLst/>
          </a:prstGeom>
        </p:spPr>
      </p:pic>
      <p:sp>
        <p:nvSpPr>
          <p:cNvPr id="3" name="87f0bc67-b93a-4ac9-9545-284feb794cff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 em Turma</a:t>
            </a:r>
            <a:endParaRPr lang="en-US" sz="2246" dirty="0"/>
          </a:p>
        </p:txBody>
      </p:sp>
      <p:sp>
        <p:nvSpPr>
          <p:cNvPr id="4" name="787e5dc7-e0f8-4e2b-b5b4-3e705e24821d"/>
          <p:cNvSpPr/>
          <p:nvPr/>
        </p:nvSpPr>
        <p:spPr>
          <a:xfrm>
            <a:off x="982980" y="1655387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Pontos de reflexão:</a:t>
            </a:r>
            <a:endParaRPr lang="en-US" sz="1264" dirty="0"/>
          </a:p>
          <a:p>
            <a:pPr algn="ctr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Foco maior em tarefas sem distrações ou notificações.</a:t>
            </a:r>
            <a:endParaRPr lang="en-US" sz="1264" dirty="0"/>
          </a:p>
          <a:p>
            <a:pPr algn="ctr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Dificuldade em consultar dados para pesquisas escolares.</a:t>
            </a:r>
            <a:endParaRPr lang="en-US" sz="1264" dirty="0"/>
          </a:p>
          <a:p>
            <a:pPr algn="ctr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Uso obrigatório de livros e anotações manuais.</a:t>
            </a:r>
            <a:endParaRPr lang="en-US" sz="1264" dirty="0"/>
          </a:p>
          <a:p>
            <a:pPr algn="ctr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Nova forma de combinar encontros e trabalhos em grupo.</a:t>
            </a:r>
            <a:endParaRPr lang="en-US" sz="1264" dirty="0"/>
          </a:p>
        </p:txBody>
      </p:sp>
      <p:sp>
        <p:nvSpPr>
          <p:cNvPr id="5" name="95a7b37b-0bcf-4fe3-b310-0ae11498fc78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9447db1-8824-4be1-8ca3-b58e8f2d6f59" descr="/home/forge/chalkie-production-workers-1/releases/78875031/backend/storage/app/render-specs/acc7b6dc-6b02-4254-8b50-d4b83de50b76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ect">
            <a:avLst/>
          </a:prstGeom>
        </p:spPr>
      </p:pic>
      <p:sp>
        <p:nvSpPr>
          <p:cNvPr id="3" name="b0258ac7-96ce-46b8-9c8e-3905366a306e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 de Aprendizagem</a:t>
            </a:r>
            <a:endParaRPr lang="en-US" sz="2246" dirty="0"/>
          </a:p>
        </p:txBody>
      </p:sp>
      <p:sp>
        <p:nvSpPr>
          <p:cNvPr id="4" name="441830a8-ee99-4060-ae29-234b1f7fd8ba"/>
          <p:cNvSpPr/>
          <p:nvPr/>
        </p:nvSpPr>
        <p:spPr>
          <a:xfrm>
            <a:off x="285750" y="1141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diferença fundamental entre memória RAM e armazenamento em SSD?</a:t>
            </a:r>
            <a:endParaRPr lang="en-US" sz="1264" dirty="0"/>
          </a:p>
        </p:txBody>
      </p:sp>
      <p:sp>
        <p:nvSpPr>
          <p:cNvPr id="5" name="fd788832-f352-49cd-8d91-2393ab04a4da"/>
          <p:cNvSpPr/>
          <p:nvPr/>
        </p:nvSpPr>
        <p:spPr>
          <a:xfrm>
            <a:off x="285750" y="2284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um sistema operacional é indispensável para um computador?</a:t>
            </a:r>
            <a:endParaRPr lang="en-US" sz="1264" dirty="0"/>
          </a:p>
        </p:txBody>
      </p:sp>
      <p:sp>
        <p:nvSpPr>
          <p:cNvPr id="6" name="b453d26a-217b-454b-8597-8890f7817213"/>
          <p:cNvSpPr/>
          <p:nvPr/>
        </p:nvSpPr>
        <p:spPr>
          <a:xfrm>
            <a:off x="285750" y="3427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Dê um exemplo prático de como a tecnologia assistiva promove acessibilidade.</a:t>
            </a:r>
            <a:endParaRPr lang="en-US" sz="126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258ac7-96ce-46b8-9c8e-3905366a306e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 de Aprendizagem</a:t>
            </a:r>
            <a:endParaRPr lang="en-US" sz="2246" dirty="0"/>
          </a:p>
        </p:txBody>
      </p:sp>
      <p:sp>
        <p:nvSpPr>
          <p:cNvPr id="3" name="265ab78a-3e67-482d-a352-da64b0e48eb6"/>
          <p:cNvSpPr/>
          <p:nvPr/>
        </p:nvSpPr>
        <p:spPr>
          <a:xfrm>
            <a:off x="285750" y="1141037"/>
            <a:ext cx="8572500" cy="10401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memória RAM é volátil (apaga ao desligar) e rápida para uso imediato; o SSD guarda dados permanentes.</a:t>
            </a:r>
            <a:endParaRPr lang="en-US" sz="1264" dirty="0"/>
          </a:p>
        </p:txBody>
      </p:sp>
      <p:sp>
        <p:nvSpPr>
          <p:cNvPr id="4" name="0db3d001-b53f-4d7a-a94e-a096b8bfc9fd"/>
          <p:cNvSpPr/>
          <p:nvPr/>
        </p:nvSpPr>
        <p:spPr>
          <a:xfrm>
            <a:off x="285750" y="2284037"/>
            <a:ext cx="8572500" cy="10401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Porque ele gerencia o hardware (CPU, memória e periféricos) e cria a interface gráfica para os programas.</a:t>
            </a:r>
            <a:endParaRPr lang="en-US" sz="1264" dirty="0"/>
          </a:p>
        </p:txBody>
      </p:sp>
      <p:sp>
        <p:nvSpPr>
          <p:cNvPr id="5" name="a3a44220-f3be-4c66-a8be-ca476a6bd557"/>
          <p:cNvSpPr/>
          <p:nvPr/>
        </p:nvSpPr>
        <p:spPr>
          <a:xfrm>
            <a:off x="285750" y="3427037"/>
            <a:ext cx="8572500" cy="10401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Leitores de tela que narram textos para pessoas cegas, ou legendas em tempo real para pessoas surdas.</a:t>
            </a:r>
            <a:endParaRPr lang="en-US" sz="1264" dirty="0"/>
          </a:p>
        </p:txBody>
      </p:sp>
      <p:sp>
        <p:nvSpPr>
          <p:cNvPr id="6" name="0d5c2967-601c-4fc8-b27f-4cfd0bad0e29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HgdHo3e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Resumo da nossa primeira aula</a:t>
            </a:r>
            <a:endParaRPr lang="en-US" sz="2246" dirty="0"/>
          </a:p>
        </p:txBody>
      </p:sp>
      <p:sp>
        <p:nvSpPr>
          <p:cNvPr id="3" name="iizJRreP"/>
          <p:cNvSpPr/>
          <p:nvPr/>
        </p:nvSpPr>
        <p:spPr>
          <a:xfrm>
            <a:off x="274320" y="998860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Tecnologia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resolução prática de problemas, dos primórdios aos computadores modernos.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Hardware e software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trabalham em sintonia guiados pelo sistema operacional.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Redes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conectam o mundo, mas exigem acessibilidade e equilíbrio ético no cotidiano.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Próximo encontro:</a:t>
            </a: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Cidadania Digital e Segurança Online!</a:t>
            </a:r>
            <a:endParaRPr lang="en-US" sz="1264" dirty="0"/>
          </a:p>
        </p:txBody>
      </p:sp>
      <p:pic>
        <p:nvPicPr>
          <p:cNvPr id="4" name="imgsum01" descr="/home/forge/chalkie-production-workers-1/releases/78875031/backend/storage/app/render-specs/acc7b6dc-6b02-4254-8b50-d4b83de50b76/img_557cbf8bd03cd58dc689280f78cfa4e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Tecnologia e Dispositivos Digitais</dc:title>
  <dc:subject>PptxGenJS Presentation</dc:subject>
  <dc:creator>PptxGenJS</dc:creator>
  <cp:lastModifiedBy>PptxGenJS</cp:lastModifiedBy>
  <cp:revision>1</cp:revision>
  <dcterms:created xsi:type="dcterms:W3CDTF">2026-09-29T11:28:18Z</dcterms:created>
  <dcterms:modified xsi:type="dcterms:W3CDTF">2026-09-29T11:28:18Z</dcterms:modified>
</cp:coreProperties>
</file>