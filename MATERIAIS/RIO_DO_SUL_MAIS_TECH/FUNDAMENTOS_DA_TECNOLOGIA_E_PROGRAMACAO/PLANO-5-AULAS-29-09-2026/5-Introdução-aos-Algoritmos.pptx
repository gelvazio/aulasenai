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embeddedFontLst>
    <p:embeddedFont>
      <p:font typeface="Dyslexie"/>
      <p:regular r:id="rId50"/>
      <p:bold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font" Target="fonts/font1.fntdata"/><Relationship Id="rId5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SSr7XcH"/>
          <p:cNvSpPr/>
          <p:nvPr/>
        </p:nvSpPr>
        <p:spPr>
          <a:xfrm>
            <a:off x="365760" y="1387260"/>
            <a:ext cx="4297680" cy="1200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aos Algoritmos</a:t>
            </a:r>
            <a:endParaRPr lang="en-US" sz="2527" dirty="0"/>
          </a:p>
        </p:txBody>
      </p:sp>
      <p:sp>
        <p:nvSpPr>
          <p:cNvPr id="3" name="n0G6YzED"/>
          <p:cNvSpPr/>
          <p:nvPr/>
        </p:nvSpPr>
        <p:spPr>
          <a:xfrm>
            <a:off x="365760" y="2564770"/>
            <a:ext cx="429768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Passos lógicos e pensamento computacional para resolver problemas cotidianos.</a:t>
            </a:r>
            <a:endParaRPr lang="en-US" sz="1264" dirty="0"/>
          </a:p>
        </p:txBody>
      </p:sp>
      <p:pic>
        <p:nvPicPr>
          <p:cNvPr id="4" name="imgalg01" descr="/home/forge/chalkie-production-workers-1/releases/78875031/backend/storage/app/render-specs/b986b2e4-68f9-48da-ad96-47ec5b9e0182/img_c17cd2c901596245ac58d13179818df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JlQ8YOu"/>
          <p:cNvSpPr/>
          <p:nvPr/>
        </p:nvSpPr>
        <p:spPr>
          <a:xfrm>
            <a:off x="274320" y="186618"/>
            <a:ext cx="859536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Recap: Ferramentas de Apresentação e Pesquisa Online</a:t>
            </a:r>
            <a:endParaRPr lang="en-US" sz="2246" dirty="0"/>
          </a:p>
        </p:txBody>
      </p:sp>
      <p:sp>
        <p:nvSpPr>
          <p:cNvPr id="3" name="BcWup2M8"/>
          <p:cNvSpPr/>
          <p:nvPr/>
        </p:nvSpPr>
        <p:spPr>
          <a:xfrm>
            <a:off x="274320" y="1480911"/>
            <a:ext cx="5166360" cy="23202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Apresentações eficazes usam estrutura clara, tópicos diretos e equilíbrio visual entre texto e ilustrações.</a:t>
            </a:r>
            <a:endParaRPr lang="en-US" sz="1123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Pesquisas na web exigem palavras-chave precisas, filtros avançados e avaliação crítica da credibilidade das fontes.</a:t>
            </a:r>
            <a:endParaRPr lang="en-US" sz="1123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organização em pastas, favoritos e históricos garante eficiência ao reutilizar referências em novos trabalhos.</a:t>
            </a:r>
            <a:endParaRPr lang="en-US" sz="1123" dirty="0"/>
          </a:p>
        </p:txBody>
      </p:sp>
      <p:sp>
        <p:nvSpPr>
          <p:cNvPr id="4" name="uezIIs2r-bar"/>
          <p:cNvSpPr/>
          <p:nvPr/>
        </p:nvSpPr>
        <p:spPr>
          <a:xfrm>
            <a:off x="274320" y="4000500"/>
            <a:ext cx="45720" cy="74295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5" name="uezIIs2r"/>
          <p:cNvSpPr/>
          <p:nvPr/>
        </p:nvSpPr>
        <p:spPr>
          <a:xfrm>
            <a:off x="480060" y="3998686"/>
            <a:ext cx="4960620" cy="742950"/>
          </a:xfrm>
          <a:prstGeom prst="rect">
            <a:avLst/>
          </a:prstGeom>
          <a:noFill/>
          <a:ln/>
        </p:spPr>
        <p:txBody>
          <a:bodyPr wrap="square" lIns="0" tIns="80010" rIns="0" bIns="8001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podemos transformar dados de uma pesquisa em soluções automatizadas?</a:t>
            </a:r>
            <a:endParaRPr lang="en-US" sz="1123" dirty="0"/>
          </a:p>
        </p:txBody>
      </p:sp>
      <p:pic>
        <p:nvPicPr>
          <p:cNvPr id="6" name="imgrec02" descr="/home/forge/chalkie-production-workers-1/releases/78875031/backend/storage/app/render-specs/b986b2e4-68f9-48da-ad96-47ec5b9e0182/img_9fe01d087f5bc11472a678e83948124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85950"/>
            <a:ext cx="3291840" cy="2468880"/>
          </a:xfrm>
          <a:prstGeom prst="roundRect">
            <a:avLst>
              <a:gd name="adj" fmla="val 5556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b18239-9f88-4caf-8f83-10ac13434855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Melhores Ferramentas</a:t>
            </a:r>
            <a:endParaRPr lang="en-US" sz="2246" dirty="0"/>
          </a:p>
        </p:txBody>
      </p:sp>
      <p:sp>
        <p:nvSpPr>
          <p:cNvPr id="3" name="a49e24b9-3cd1-45e4-bca1-f0dcdba5288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ferramenta e prática são as mais adequadas para sintetizar dados e exibi-los a um público?</a:t>
            </a:r>
            <a:endParaRPr lang="en-US" sz="1264" dirty="0"/>
          </a:p>
        </p:txBody>
      </p:sp>
      <p:sp>
        <p:nvSpPr>
          <p:cNvPr id="4" name="3d62ce1e-11d6-4ed0-889c-758c6aee5148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9ba41e7-212d-4a2b-bc65-1ddc2dd4ff4d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Preencher a tela com animações e vídeos sem roteiro estruturado</a:t>
            </a:r>
            <a:endParaRPr lang="en-US" sz="1264" dirty="0"/>
          </a:p>
        </p:txBody>
      </p:sp>
      <p:sp>
        <p:nvSpPr>
          <p:cNvPr id="6" name="34e53aa0-d281-4a6b-b0fe-2e002cdf4011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1c249e30-5c5f-4a54-b39f-7dd95a093e5a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um bloco único de texto longo no editor sem separação visual</a:t>
            </a:r>
            <a:endParaRPr lang="en-US" sz="1264" dirty="0"/>
          </a:p>
        </p:txBody>
      </p:sp>
      <p:sp>
        <p:nvSpPr>
          <p:cNvPr id="8" name="b8756617-7811-4900-96c6-6b8793028f8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2430cf8-f8cb-41a0-8885-74f1c1f5d536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Usar slides com tópicos objetivos, imagens informativas e bom contraste visual</a:t>
            </a:r>
            <a:endParaRPr lang="en-US" sz="1264" dirty="0"/>
          </a:p>
        </p:txBody>
      </p:sp>
      <p:sp>
        <p:nvSpPr>
          <p:cNvPr id="10" name="0d5ea02a-bf1e-4679-aad5-a50bd0696104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84a908c-c697-42dc-85da-cf2fdbcb636c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Copiar links aleatórios de fóruns sem verificar a autoria da fonte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b18239-9f88-4caf-8f83-10ac13434855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Melhores Ferramentas</a:t>
            </a:r>
            <a:endParaRPr lang="en-US" sz="2246" dirty="0"/>
          </a:p>
        </p:txBody>
      </p:sp>
      <p:sp>
        <p:nvSpPr>
          <p:cNvPr id="3" name="a49e24b9-3cd1-45e4-bca1-f0dcdba5288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ferramenta e prática são as mais adequadas para sintetizar dados e exibi-los a um público?</a:t>
            </a:r>
            <a:endParaRPr lang="en-US" sz="1264" dirty="0"/>
          </a:p>
        </p:txBody>
      </p:sp>
      <p:sp>
        <p:nvSpPr>
          <p:cNvPr id="4" name="3d62ce1e-11d6-4ed0-889c-758c6aee5148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9ba41e7-212d-4a2b-bc65-1ddc2dd4ff4d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Preencher a tela com animações e vídeos sem roteiro estruturado</a:t>
            </a:r>
            <a:endParaRPr lang="en-US" sz="1264" dirty="0"/>
          </a:p>
        </p:txBody>
      </p:sp>
      <p:sp>
        <p:nvSpPr>
          <p:cNvPr id="6" name="34e53aa0-d281-4a6b-b0fe-2e002cdf4011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1c249e30-5c5f-4a54-b39f-7dd95a093e5a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um bloco único de texto longo no editor sem separação visual</a:t>
            </a:r>
            <a:endParaRPr lang="en-US" sz="1264" dirty="0"/>
          </a:p>
        </p:txBody>
      </p:sp>
      <p:sp>
        <p:nvSpPr>
          <p:cNvPr id="8" name="b8756617-7811-4900-96c6-6b8793028f8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2430cf8-f8cb-41a0-8885-74f1c1f5d536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Usar slides com tópicos objetivos, imagens informativas e bom contraste visual</a:t>
            </a:r>
            <a:endParaRPr lang="en-US" sz="1264" dirty="0"/>
          </a:p>
        </p:txBody>
      </p:sp>
      <p:sp>
        <p:nvSpPr>
          <p:cNvPr id="10" name="0d5ea02a-bf1e-4679-aad5-a50bd0696104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84a908c-c697-42dc-85da-cf2fdbcb636c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Copiar links aleatórios de fóruns sem verificar a autoria da fonte</a:t>
            </a:r>
            <a:endParaRPr lang="en-US" sz="1264" dirty="0"/>
          </a:p>
        </p:txBody>
      </p:sp>
      <p:sp>
        <p:nvSpPr>
          <p:cNvPr id="12" name="216853f6-7bac-4cc7-82ea-71e2ab8d002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5d7f73e6-c9dc-412c-8872-0e52a9c76432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8bZMigm"/>
          <p:cNvSpPr/>
          <p:nvPr/>
        </p:nvSpPr>
        <p:spPr>
          <a:xfrm>
            <a:off x="274320" y="186618"/>
            <a:ext cx="443484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Learning Objectives</a:t>
            </a:r>
            <a:endParaRPr lang="en-US" sz="2246" dirty="0"/>
          </a:p>
        </p:txBody>
      </p:sp>
      <p:sp>
        <p:nvSpPr>
          <p:cNvPr id="3" name="YYFAcNRF"/>
          <p:cNvSpPr/>
          <p:nvPr/>
        </p:nvSpPr>
        <p:spPr>
          <a:xfrm>
            <a:off x="274320" y="1014662"/>
            <a:ext cx="4434840" cy="3726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Objectives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Compreender o conceito de algoritmo e identificar seus passos lógicos em tarefas comuns do cotidiano.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Distinguir as quatro etapas do pensamento computacional: decomposição, padrões, abstração e algoritmos.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Interpretar e construir fluxogramas usando símbolos normatizados de processo, decisão e fluxo.</a:t>
            </a:r>
            <a:endParaRPr lang="en-US" sz="1685" dirty="0"/>
          </a:p>
        </p:txBody>
      </p:sp>
      <p:pic>
        <p:nvPicPr>
          <p:cNvPr id="4" name="imgobj04" descr="/home/forge/chalkie-production-workers-1/releases/78875031/backend/storage/app/render-specs/b986b2e4-68f9-48da-ad96-47ec5b9e0182/img_9f555c3c2e56458b328c839ca1ae54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54430"/>
            <a:ext cx="3886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uoTPBc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Key Vocabulary</a:t>
            </a:r>
            <a:endParaRPr lang="en-US" sz="2246" dirty="0"/>
          </a:p>
        </p:txBody>
      </p:sp>
      <p:pic>
        <p:nvPicPr>
          <p:cNvPr id="3" name="imgvoc01" descr="/home/forge/chalkie-production-workers-1/releases/78875031/backend/storage/app/render-specs/b986b2e4-68f9-48da-ad96-47ec5b9e0182/img_e5a05d32a830aee4e3f4344d98d4d9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leSXncH8"/>
          <p:cNvSpPr/>
          <p:nvPr/>
        </p:nvSpPr>
        <p:spPr>
          <a:xfrm>
            <a:off x="274320" y="3661755"/>
            <a:ext cx="20116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Sequência finita e ordenada de instruções para resolver um problema.</a:t>
            </a:r>
            <a:endParaRPr lang="en-US" sz="1123" dirty="0"/>
          </a:p>
        </p:txBody>
      </p:sp>
      <p:pic>
        <p:nvPicPr>
          <p:cNvPr id="5" name="imgvoc02" descr="/home/forge/chalkie-production-workers-1/releases/78875031/backend/storage/app/render-specs/b986b2e4-68f9-48da-ad96-47ec5b9e0182/img_c1ba7a75de1696c8ce05b820d3c437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ect">
            <a:avLst/>
          </a:prstGeom>
        </p:spPr>
      </p:pic>
      <p:sp>
        <p:nvSpPr>
          <p:cNvPr id="6" name="y5EoNOnJ"/>
          <p:cNvSpPr/>
          <p:nvPr/>
        </p:nvSpPr>
        <p:spPr>
          <a:xfrm>
            <a:off x="2468880" y="3090255"/>
            <a:ext cx="2011680" cy="1348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Fluxograma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Diagrama visual esquemático que representa etapas de um processo.</a:t>
            </a:r>
            <a:endParaRPr lang="en-US" sz="1123" dirty="0"/>
          </a:p>
        </p:txBody>
      </p:sp>
      <p:pic>
        <p:nvPicPr>
          <p:cNvPr id="7" name="imgvoc03" descr="/home/forge/chalkie-production-workers-1/releases/78875031/backend/storage/app/render-specs/b986b2e4-68f9-48da-ad96-47ec5b9e0182/img_749926f8a9548b4b131658d3c5ed99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SC6nCwGr"/>
          <p:cNvSpPr/>
          <p:nvPr/>
        </p:nvSpPr>
        <p:spPr>
          <a:xfrm>
            <a:off x="4663440" y="3558885"/>
            <a:ext cx="2011680" cy="1348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Raciocínio estruturado que organiza fatos e regras de forma consistente.</a:t>
            </a:r>
            <a:endParaRPr lang="en-US" sz="1123" dirty="0"/>
          </a:p>
        </p:txBody>
      </p:sp>
      <p:pic>
        <p:nvPicPr>
          <p:cNvPr id="9" name="imgvoc04" descr="/home/forge/chalkie-production-workers-1/releases/78875031/backend/storage/app/render-specs/b986b2e4-68f9-48da-ad96-47ec5b9e0182/img_00b9e3e3ecf902c9443cac2d8ef49db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HXzUn7Xd"/>
          <p:cNvSpPr/>
          <p:nvPr/>
        </p:nvSpPr>
        <p:spPr>
          <a:xfrm>
            <a:off x="6858000" y="3090255"/>
            <a:ext cx="2011680" cy="1348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Sequência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Execução linear de instruções onde uma só começa após a anterior terminar.</a:t>
            </a:r>
            <a:endParaRPr lang="en-US" sz="11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hook06" descr="/home/forge/chalkie-production-workers-1/releases/78875031/backend/storage/app/render-specs/b986b2e4-68f9-48da-ad96-47ec5b9e0182/img_bc49e243c2f4d1668ed914cb74a7c1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sp>
        <p:nvSpPr>
          <p:cNvPr id="3" name="Xv6wS3bH"/>
          <p:cNvSpPr/>
          <p:nvPr/>
        </p:nvSpPr>
        <p:spPr>
          <a:xfrm>
            <a:off x="262890" y="2506908"/>
            <a:ext cx="861822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as Máquinas Pensam?</a:t>
            </a:r>
            <a:endParaRPr lang="en-US" sz="2246" dirty="0"/>
          </a:p>
        </p:txBody>
      </p:sp>
      <p:sp>
        <p:nvSpPr>
          <p:cNvPr id="4" name="28bo90zI"/>
          <p:cNvSpPr/>
          <p:nvPr/>
        </p:nvSpPr>
        <p:spPr>
          <a:xfrm>
            <a:off x="262890" y="3205796"/>
            <a:ext cx="8618220" cy="14173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computador não adivinha desejos. Ele obedece a instruções minuciosas, sem hesitar. Se faltar um único comando sobre quando parar, ele repetirá o erro infinitamente.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Antes de escrever qualquer código, o programador organiza o raciocínio: define a ordem dos passos, os testes e os resultados esperados.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LU0pRgJ"/>
          <p:cNvSpPr/>
          <p:nvPr/>
        </p:nvSpPr>
        <p:spPr>
          <a:xfrm>
            <a:off x="274320" y="186618"/>
            <a:ext cx="491490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 Algoritmo?</a:t>
            </a:r>
            <a:endParaRPr lang="en-US" sz="2246" dirty="0"/>
          </a:p>
        </p:txBody>
      </p:sp>
      <p:sp>
        <p:nvSpPr>
          <p:cNvPr id="3" name="zVnGBjpI"/>
          <p:cNvSpPr/>
          <p:nvPr/>
        </p:nvSpPr>
        <p:spPr>
          <a:xfrm>
            <a:off x="274320" y="915777"/>
            <a:ext cx="23545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02870" tIns="45720" rIns="10287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FUNDAMENTAL</a:t>
            </a:r>
            <a:endParaRPr lang="en-US" sz="842" dirty="0"/>
          </a:p>
        </p:txBody>
      </p:sp>
      <p:sp>
        <p:nvSpPr>
          <p:cNvPr id="4" name="HDNUqQ7g"/>
          <p:cNvSpPr/>
          <p:nvPr/>
        </p:nvSpPr>
        <p:spPr>
          <a:xfrm>
            <a:off x="274320" y="1240881"/>
            <a:ext cx="4914900" cy="32804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algoritmo é uma receita lógica. Trata-se de um conjunto claro de ordens que recebe dados iniciais, executa ações específicas e devolve uma resposta final.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Três propriedades essenciais definem todo algoritmo: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Finitude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deve terminar após um número contável de passos.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Clareza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cada instrução não pode gerar ambiguidade.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Eficácia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cada ação precisa ser executável no mundo real.</a:t>
            </a:r>
            <a:endParaRPr lang="en-US" sz="1123" dirty="0"/>
          </a:p>
        </p:txBody>
      </p:sp>
      <p:pic>
        <p:nvPicPr>
          <p:cNvPr id="5" name="imgalgdef07" descr="/home/forge/chalkie-production-workers-1/releases/78875031/backend/storage/app/render-specs/b986b2e4-68f9-48da-ad96-47ec5b9e0182/img_6c69c945007a08f29429359471f8c4a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82880"/>
            <a:ext cx="3497580" cy="3291840"/>
          </a:xfrm>
          <a:prstGeom prst="roundRect">
            <a:avLst>
              <a:gd name="adj" fmla="val 4167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JEDAJfm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Algoritmos no Nosso Dia a Dia</a:t>
            </a:r>
            <a:endParaRPr lang="en-US" sz="2246" dirty="0"/>
          </a:p>
        </p:txBody>
      </p:sp>
      <p:pic>
        <p:nvPicPr>
          <p:cNvPr id="3" name="imgcol08a" descr="/home/forge/chalkie-production-workers-1/releases/78875031/backend/storage/app/render-specs/b986b2e4-68f9-48da-ad96-47ec5b9e0182/img_8d34155df56ecc9dc52f5d94b116fac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4" name="UprnttyJ"/>
          <p:cNvSpPr/>
          <p:nvPr/>
        </p:nvSpPr>
        <p:spPr>
          <a:xfrm>
            <a:off x="274320" y="2832181"/>
            <a:ext cx="2811780" cy="18859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Escovar os Dentes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Pegar a escova, aplicar o creme dental, fazer movimentos circulares, enxaguar a boca e guardar o material.</a:t>
            </a:r>
            <a:endParaRPr lang="en-US" sz="1544" dirty="0"/>
          </a:p>
        </p:txBody>
      </p:sp>
      <p:pic>
        <p:nvPicPr>
          <p:cNvPr id="5" name="imgcol08b" descr="/home/forge/chalkie-production-workers-1/releases/78875031/backend/storage/app/render-specs/b986b2e4-68f9-48da-ad96-47ec5b9e0182/img_6ce0dd32a07bc0724d6a32f3edd1f88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6" name="D992qjSv"/>
          <p:cNvSpPr/>
          <p:nvPr/>
        </p:nvSpPr>
        <p:spPr>
          <a:xfrm>
            <a:off x="3166110" y="2832181"/>
            <a:ext cx="2811780" cy="16344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Fazer um Bolo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Misturar os ingredientes secos, bater com ovos e leite, assar por 40 minutos e esperar esfriar.</a:t>
            </a:r>
            <a:endParaRPr lang="en-US" sz="1544" dirty="0"/>
          </a:p>
        </p:txBody>
      </p:sp>
      <p:pic>
        <p:nvPicPr>
          <p:cNvPr id="7" name="imgcol08c" descr="/home/forge/chalkie-production-workers-1/releases/78875031/backend/storage/app/render-specs/b986b2e4-68f9-48da-ad96-47ec5b9e0182/img_12b97fa7a06fecde5d9649433c57dec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8" name="NXZSnXHl"/>
          <p:cNvSpPr/>
          <p:nvPr/>
        </p:nvSpPr>
        <p:spPr>
          <a:xfrm>
            <a:off x="6069330" y="2832181"/>
            <a:ext cx="2811780" cy="16344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Sacar Dinheiro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o cartão, digitar a senha secreta, conferir o saldo, escolher a quantia e recolher as cédulas.</a:t>
            </a:r>
            <a:endParaRPr lang="en-US" sz="15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TSepLe1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Pilares do Pensamento Computacional</a:t>
            </a:r>
            <a:endParaRPr lang="en-US" sz="2246" dirty="0"/>
          </a:p>
        </p:txBody>
      </p:sp>
      <p:sp>
        <p:nvSpPr>
          <p:cNvPr id="3" name="9MvlgM9e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mgq1" descr="/home/forge/chalkie-production-workers-1/releases/78875031/backend/storage/app/render-specs/b986b2e4-68f9-48da-ad96-47ec5b9e0182/img_af8e2764fd4ced6aef674c61088dd7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65860"/>
            <a:ext cx="548640" cy="548640"/>
          </a:xfrm>
          <a:prstGeom prst="rect">
            <a:avLst/>
          </a:prstGeom>
        </p:spPr>
      </p:pic>
      <p:sp>
        <p:nvSpPr>
          <p:cNvPr id="5" name="XEh1SBio"/>
          <p:cNvSpPr/>
          <p:nvPr/>
        </p:nvSpPr>
        <p:spPr>
          <a:xfrm>
            <a:off x="1108710" y="1163252"/>
            <a:ext cx="32232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Decomposição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Dividir um problema complexo em partes menores e mais fáceis de gerenciar.</a:t>
            </a:r>
            <a:endParaRPr lang="en-US" sz="1685" dirty="0"/>
          </a:p>
        </p:txBody>
      </p:sp>
      <p:sp>
        <p:nvSpPr>
          <p:cNvPr id="6" name="JJ8FAwvH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mgq2" descr="/home/forge/chalkie-production-workers-1/releases/78875031/backend/storage/app/render-specs/b986b2e4-68f9-48da-ad96-47ec5b9e0182/img_c127c978d072f446334c5facff6ab2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165860"/>
            <a:ext cx="548640" cy="548640"/>
          </a:xfrm>
          <a:prstGeom prst="rect">
            <a:avLst/>
          </a:prstGeom>
        </p:spPr>
      </p:pic>
      <p:sp>
        <p:nvSpPr>
          <p:cNvPr id="8" name="FWDUMBY4"/>
          <p:cNvSpPr/>
          <p:nvPr/>
        </p:nvSpPr>
        <p:spPr>
          <a:xfrm>
            <a:off x="5497830" y="1163252"/>
            <a:ext cx="32232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Padrões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semelhanças e repetições entre problemas anteriores e atuais.</a:t>
            </a:r>
            <a:endParaRPr lang="en-US" sz="1685" dirty="0"/>
          </a:p>
        </p:txBody>
      </p:sp>
      <p:sp>
        <p:nvSpPr>
          <p:cNvPr id="9" name="U9VR5MMp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mgq3" descr="/home/forge/chalkie-production-workers-1/releases/78875031/backend/storage/app/render-specs/b986b2e4-68f9-48da-ad96-47ec5b9e0182/img_590fdcf6a1085d9e87c1ea8104ed36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188970"/>
            <a:ext cx="548640" cy="548640"/>
          </a:xfrm>
          <a:prstGeom prst="rect">
            <a:avLst/>
          </a:prstGeom>
        </p:spPr>
      </p:pic>
      <p:sp>
        <p:nvSpPr>
          <p:cNvPr id="11" name="5tzEQ8JQ"/>
          <p:cNvSpPr/>
          <p:nvPr/>
        </p:nvSpPr>
        <p:spPr>
          <a:xfrm>
            <a:off x="1108710" y="3186362"/>
            <a:ext cx="32232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Abstração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Ignorar detalhes irrelevantes e focar apenas nas informações cruciais.</a:t>
            </a:r>
            <a:endParaRPr lang="en-US" sz="1685" dirty="0"/>
          </a:p>
        </p:txBody>
      </p:sp>
      <p:sp>
        <p:nvSpPr>
          <p:cNvPr id="12" name="nCiDuFQz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mgq4" descr="/home/forge/chalkie-production-workers-1/releases/78875031/backend/storage/app/render-specs/b986b2e4-68f9-48da-ad96-47ec5b9e0182/img_6b5bf6f4cabf17de868ac9589146ae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188970"/>
            <a:ext cx="548640" cy="548640"/>
          </a:xfrm>
          <a:prstGeom prst="rect">
            <a:avLst/>
          </a:prstGeom>
        </p:spPr>
      </p:pic>
      <p:sp>
        <p:nvSpPr>
          <p:cNvPr id="14" name="OaVjsjO2"/>
          <p:cNvSpPr/>
          <p:nvPr/>
        </p:nvSpPr>
        <p:spPr>
          <a:xfrm>
            <a:off x="5497830" y="3186362"/>
            <a:ext cx="322326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Algoritmos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o passo a passo ordenado para automatizar e replicar a solução encontrada.</a:t>
            </a:r>
            <a:endParaRPr lang="en-US" sz="16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OI6I1h"/>
          <p:cNvSpPr/>
          <p:nvPr/>
        </p:nvSpPr>
        <p:spPr>
          <a:xfrm>
            <a:off x="274320" y="186618"/>
            <a:ext cx="452628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Decomposição na Prática</a:t>
            </a:r>
            <a:endParaRPr lang="en-US" sz="2246" dirty="0"/>
          </a:p>
        </p:txBody>
      </p:sp>
      <p:sp>
        <p:nvSpPr>
          <p:cNvPr id="3" name="QFG6Xkpc"/>
          <p:cNvSpPr/>
          <p:nvPr/>
        </p:nvSpPr>
        <p:spPr>
          <a:xfrm>
            <a:off x="274320" y="895990"/>
            <a:ext cx="4526280" cy="39547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construir um jogo digital do zero. Olhar para o projeto inteiro assusta, mas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decomposição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desmonta essa complexidade em pequenos módulos: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Módulo de movimento do personagem (andar, pular, agachar).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Sistema de pontuação ao coletar moedas ou derrotar oponentes.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Detecção de colisões contra paredes e obstáculos da fase.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resolver um pedaço de cada vez, o desafio principal se torna viável e testável.</a:t>
            </a:r>
            <a:endParaRPr lang="en-US" sz="1264" dirty="0"/>
          </a:p>
        </p:txBody>
      </p:sp>
      <p:pic>
        <p:nvPicPr>
          <p:cNvPr id="4" name="imgdec10" descr="/home/forge/chalkie-production-workers-1/releases/78875031/backend/storage/app/render-specs/b986b2e4-68f9-48da-ad96-47ec5b9e0182/img_48dd017020ede2ca59867fb0f0b5da2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"/>
            <a:ext cx="3886200" cy="3657600"/>
          </a:xfrm>
          <a:prstGeom prst="roundRect">
            <a:avLst>
              <a:gd name="adj" fmla="val 3750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6vaIHX"/>
          <p:cNvSpPr/>
          <p:nvPr/>
        </p:nvSpPr>
        <p:spPr>
          <a:xfrm>
            <a:off x="274320" y="186618"/>
            <a:ext cx="452628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 e Abstração</a:t>
            </a:r>
            <a:endParaRPr lang="en-US" sz="2246" dirty="0"/>
          </a:p>
        </p:txBody>
      </p:sp>
      <p:sp>
        <p:nvSpPr>
          <p:cNvPr id="3" name="z3O2GYMg"/>
          <p:cNvSpPr/>
          <p:nvPr/>
        </p:nvSpPr>
        <p:spPr>
          <a:xfrm>
            <a:off x="274320" y="895990"/>
            <a:ext cx="4526280" cy="2628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Reconhecer padrões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significa aproveitar soluções já validadas. Se você já programou a gravidade para um herói, usará a mesma fórmula matemática para outro personagem.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Abstração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filtrar o ruído. Ao criar um mapa de metrô, as curvas geográficas exatas da cidade não importam; importam apenas as estações e conexões entre linhas.</a:t>
            </a:r>
            <a:endParaRPr lang="en-US" sz="1264" dirty="0"/>
          </a:p>
        </p:txBody>
      </p:sp>
      <p:sp>
        <p:nvSpPr>
          <p:cNvPr id="4" name="xtAY6OZX"/>
          <p:cNvSpPr/>
          <p:nvPr/>
        </p:nvSpPr>
        <p:spPr>
          <a:xfrm>
            <a:off x="274320" y="3623310"/>
            <a:ext cx="4526280" cy="1337310"/>
          </a:xfrm>
          <a:prstGeom prst="roundRect">
            <a:avLst>
              <a:gd name="adj" fmla="val 6838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5" name="P376CkFb"/>
          <p:cNvSpPr/>
          <p:nvPr/>
        </p:nvSpPr>
        <p:spPr>
          <a:xfrm>
            <a:off x="400050" y="377932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🧠</a:t>
            </a:r>
            <a:endParaRPr lang="en-US" sz="1685" dirty="0"/>
          </a:p>
        </p:txBody>
      </p:sp>
      <p:sp>
        <p:nvSpPr>
          <p:cNvPr id="6" name="MeII4mzD"/>
          <p:cNvSpPr/>
          <p:nvPr/>
        </p:nvSpPr>
        <p:spPr>
          <a:xfrm>
            <a:off x="765810" y="3747226"/>
            <a:ext cx="390906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Abstrair não é esquecer: é focar no que decide o resultado.</a:t>
            </a:r>
            <a:endParaRPr lang="en-US" sz="1123" dirty="0"/>
          </a:p>
        </p:txBody>
      </p:sp>
      <p:pic>
        <p:nvPicPr>
          <p:cNvPr id="7" name="imgabs11" descr="/home/forge/chalkie-production-workers-1/releases/78875031/backend/storage/app/render-specs/b986b2e4-68f9-48da-ad96-47ec5b9e0182/img_8458b21c6cfb8a176b2966b2ad80390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"/>
            <a:ext cx="3886200" cy="3657600"/>
          </a:xfrm>
          <a:prstGeom prst="roundRect">
            <a:avLst>
              <a:gd name="adj" fmla="val 3750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3cc386-56f8-4d0d-8c84-685f2e70a66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Associação dos Pilares</a:t>
            </a:r>
            <a:endParaRPr lang="en-US" sz="2246" dirty="0"/>
          </a:p>
        </p:txBody>
      </p:sp>
      <p:sp>
        <p:nvSpPr>
          <p:cNvPr id="3" name="e947a628-b158-4270-b855-8689d52a3a1b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3e6f787-cdaa-4349-8563-d578a0d21389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Abstração</a:t>
            </a:r>
            <a:endParaRPr lang="en-US" sz="1404" dirty="0"/>
          </a:p>
        </p:txBody>
      </p:sp>
      <p:sp>
        <p:nvSpPr>
          <p:cNvPr id="5" name="ea7cc931-6b4d-47c6-af2d-5f510460b737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Decomposição</a:t>
            </a:r>
            <a:endParaRPr lang="en-US" sz="1404" dirty="0"/>
          </a:p>
        </p:txBody>
      </p:sp>
      <p:sp>
        <p:nvSpPr>
          <p:cNvPr id="6" name="a3b8037f-9f41-4720-9bac-138f25d2abe0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</a:t>
            </a:r>
            <a:endParaRPr lang="en-US" sz="1404" dirty="0"/>
          </a:p>
        </p:txBody>
      </p:sp>
      <p:sp>
        <p:nvSpPr>
          <p:cNvPr id="7" name="25d76a5d-e89b-4d8d-b024-e2308666568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</a:t>
            </a:r>
            <a:endParaRPr lang="en-US" sz="1404" dirty="0"/>
          </a:p>
        </p:txBody>
      </p:sp>
      <p:sp>
        <p:nvSpPr>
          <p:cNvPr id="8" name="5cda367d-7425-4314-9d69-30aa094a301a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regularidades e semelhanças em situações conhecidas.</a:t>
            </a:r>
            <a:endParaRPr lang="en-US" sz="1264" dirty="0"/>
          </a:p>
        </p:txBody>
      </p:sp>
      <p:sp>
        <p:nvSpPr>
          <p:cNvPr id="9" name="17aa3f97-8c9c-42d4-bf8b-e3ab3efa8ff9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Definir a lista ordenada de instruções para executar a tarefa.</a:t>
            </a:r>
            <a:endParaRPr lang="en-US" sz="1264" dirty="0"/>
          </a:p>
        </p:txBody>
      </p:sp>
      <p:sp>
        <p:nvSpPr>
          <p:cNvPr id="10" name="1298fc08-e159-45a7-88f5-1c83f9eda292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Dividir um problema complexo em partes menores e tratáveis.</a:t>
            </a:r>
            <a:endParaRPr lang="en-US" sz="1264" dirty="0"/>
          </a:p>
        </p:txBody>
      </p:sp>
      <p:sp>
        <p:nvSpPr>
          <p:cNvPr id="11" name="e3e5ae45-7103-4b83-884b-c502fcb601fe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Ignorar detalhes secundários para destacar o núcleo do problema.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3cc386-56f8-4d0d-8c84-685f2e70a660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Associação dos Pilares</a:t>
            </a:r>
            <a:endParaRPr lang="en-US" sz="2246" dirty="0"/>
          </a:p>
        </p:txBody>
      </p:sp>
      <p:sp>
        <p:nvSpPr>
          <p:cNvPr id="3" name="e947a628-b158-4270-b855-8689d52a3a1b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3e6f787-cdaa-4349-8563-d578a0d21389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Abstração</a:t>
            </a:r>
            <a:endParaRPr lang="en-US" sz="1404" dirty="0"/>
          </a:p>
        </p:txBody>
      </p:sp>
      <p:sp>
        <p:nvSpPr>
          <p:cNvPr id="5" name="ea7cc931-6b4d-47c6-af2d-5f510460b737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Decomposição</a:t>
            </a:r>
            <a:endParaRPr lang="en-US" sz="1404" dirty="0"/>
          </a:p>
        </p:txBody>
      </p:sp>
      <p:sp>
        <p:nvSpPr>
          <p:cNvPr id="6" name="a3b8037f-9f41-4720-9bac-138f25d2abe0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Padrões</a:t>
            </a:r>
            <a:endParaRPr lang="en-US" sz="1404" dirty="0"/>
          </a:p>
        </p:txBody>
      </p:sp>
      <p:sp>
        <p:nvSpPr>
          <p:cNvPr id="7" name="25d76a5d-e89b-4d8d-b024-e2308666568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</a:t>
            </a:r>
            <a:endParaRPr lang="en-US" sz="1404" dirty="0"/>
          </a:p>
        </p:txBody>
      </p:sp>
      <p:sp>
        <p:nvSpPr>
          <p:cNvPr id="8" name="5cda367d-7425-4314-9d69-30aa094a301a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regularidades e semelhanças em situações conhecidas.</a:t>
            </a:r>
            <a:endParaRPr lang="en-US" sz="1264" dirty="0"/>
          </a:p>
        </p:txBody>
      </p:sp>
      <p:sp>
        <p:nvSpPr>
          <p:cNvPr id="9" name="17aa3f97-8c9c-42d4-bf8b-e3ab3efa8ff9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Definir a lista ordenada de instruções para executar a tarefa.</a:t>
            </a:r>
            <a:endParaRPr lang="en-US" sz="1264" dirty="0"/>
          </a:p>
        </p:txBody>
      </p:sp>
      <p:sp>
        <p:nvSpPr>
          <p:cNvPr id="10" name="1298fc08-e159-45a7-88f5-1c83f9eda292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Dividir um problema complexo em partes menores e tratáveis.</a:t>
            </a:r>
            <a:endParaRPr lang="en-US" sz="1264" dirty="0"/>
          </a:p>
        </p:txBody>
      </p:sp>
      <p:sp>
        <p:nvSpPr>
          <p:cNvPr id="11" name="e3e5ae45-7103-4b83-884b-c502fcb601fe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Ignorar detalhes secundários para destacar o núcleo do problema.</a:t>
            </a:r>
            <a:endParaRPr lang="en-US" sz="1264" dirty="0"/>
          </a:p>
        </p:txBody>
      </p:sp>
      <p:sp>
        <p:nvSpPr>
          <p:cNvPr id="12" name="fafb6d4a-641a-4a06-9844-bbd58754f67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8080d33e-f650-4045-bfed-87190ce22f63-0"/>
          <p:cNvSpPr/>
          <p:nvPr/>
        </p:nvSpPr>
        <p:spPr>
          <a:xfrm>
            <a:off x="2571750" y="1623060"/>
            <a:ext cx="994410" cy="2781554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8080d33e-f650-4045-bfed-87190ce22f63-1"/>
          <p:cNvSpPr/>
          <p:nvPr/>
        </p:nvSpPr>
        <p:spPr>
          <a:xfrm>
            <a:off x="2571750" y="2537460"/>
            <a:ext cx="994410" cy="952754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8080d33e-f650-4045-bfed-87190ce22f63-2"/>
          <p:cNvSpPr/>
          <p:nvPr/>
        </p:nvSpPr>
        <p:spPr>
          <a:xfrm flipV="1">
            <a:off x="2571750" y="1661414"/>
            <a:ext cx="994410" cy="1790446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8080d33e-f650-4045-bfed-87190ce22f63-3"/>
          <p:cNvSpPr/>
          <p:nvPr/>
        </p:nvSpPr>
        <p:spPr>
          <a:xfrm flipV="1">
            <a:off x="2571750" y="2575814"/>
            <a:ext cx="994410" cy="1790446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5d4c68f5-f5c6-4848-9a58-5d8bef4478c0"/>
          <p:cNvSpPr/>
          <p:nvPr/>
        </p:nvSpPr>
        <p:spPr>
          <a:xfrm>
            <a:off x="3394710" y="42317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18" name="a07ad96c-5e16-49dc-9ec7-1b6945bf7116"/>
          <p:cNvSpPr/>
          <p:nvPr/>
        </p:nvSpPr>
        <p:spPr>
          <a:xfrm>
            <a:off x="3394710" y="33173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19" name="f2e5a368-6750-495d-9e24-600a8c3a0a24"/>
          <p:cNvSpPr/>
          <p:nvPr/>
        </p:nvSpPr>
        <p:spPr>
          <a:xfrm>
            <a:off x="3394710" y="14885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  <p:sp>
        <p:nvSpPr>
          <p:cNvPr id="20" name="fa681c22-0b3b-40bd-9bf9-1cd28134a869"/>
          <p:cNvSpPr/>
          <p:nvPr/>
        </p:nvSpPr>
        <p:spPr>
          <a:xfrm>
            <a:off x="3394710" y="24029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SwHDH9S"/>
          <p:cNvSpPr/>
          <p:nvPr/>
        </p:nvSpPr>
        <p:spPr>
          <a:xfrm>
            <a:off x="274320" y="186618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Importância da Sequência</a:t>
            </a:r>
            <a:endParaRPr lang="en-US" sz="2246" dirty="0"/>
          </a:p>
        </p:txBody>
      </p:sp>
      <p:sp>
        <p:nvSpPr>
          <p:cNvPr id="3" name="pXYRhCZE"/>
          <p:cNvSpPr/>
          <p:nvPr/>
        </p:nvSpPr>
        <p:spPr>
          <a:xfrm>
            <a:off x="274320" y="1350117"/>
            <a:ext cx="23545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02870" tIns="45720" rIns="10287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FUNDAMENTAL</a:t>
            </a:r>
            <a:endParaRPr lang="en-US" sz="842" dirty="0"/>
          </a:p>
        </p:txBody>
      </p:sp>
      <p:sp>
        <p:nvSpPr>
          <p:cNvPr id="4" name="KGyRqVxH"/>
          <p:cNvSpPr/>
          <p:nvPr/>
        </p:nvSpPr>
        <p:spPr>
          <a:xfrm>
            <a:off x="274320" y="1675221"/>
            <a:ext cx="4914900" cy="1828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computação, </a:t>
            </a: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ordem altera completamente o resultado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Se invertemos duas ações aparentemente simples, todo o sistema falha.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Pense em calçar meias e tênis: executar "calçar tênis" antes de "vestir meias" produz um resultado absurdo. Máquinas precisam de cronologia rigorosa.</a:t>
            </a:r>
            <a:endParaRPr lang="en-US" sz="1123" dirty="0"/>
          </a:p>
        </p:txBody>
      </p:sp>
      <p:sp>
        <p:nvSpPr>
          <p:cNvPr id="5" name="WNrjmmqp"/>
          <p:cNvSpPr/>
          <p:nvPr/>
        </p:nvSpPr>
        <p:spPr>
          <a:xfrm>
            <a:off x="274320" y="3600450"/>
            <a:ext cx="4914900" cy="1234440"/>
          </a:xfrm>
          <a:prstGeom prst="roundRect">
            <a:avLst>
              <a:gd name="adj" fmla="val 7407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25TbUleZ"/>
          <p:cNvSpPr/>
          <p:nvPr/>
        </p:nvSpPr>
        <p:spPr>
          <a:xfrm>
            <a:off x="388620" y="3742453"/>
            <a:ext cx="320040" cy="434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8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544" dirty="0"/>
          </a:p>
        </p:txBody>
      </p:sp>
      <p:sp>
        <p:nvSpPr>
          <p:cNvPr id="7" name="1nfCKj0V"/>
          <p:cNvSpPr/>
          <p:nvPr/>
        </p:nvSpPr>
        <p:spPr>
          <a:xfrm>
            <a:off x="754380" y="3712936"/>
            <a:ext cx="432054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 comum</a:t>
            </a:r>
            <a:endParaRPr lang="en-US" sz="1123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Assumir que a máquina entende a ordem natural das coisas sem você declarar.</a:t>
            </a:r>
            <a:endParaRPr lang="en-US" sz="1123" dirty="0"/>
          </a:p>
        </p:txBody>
      </p:sp>
      <p:pic>
        <p:nvPicPr>
          <p:cNvPr id="8" name="imgseq13" descr="/home/forge/chalkie-production-workers-1/releases/78875031/backend/storage/app/render-specs/b986b2e4-68f9-48da-ad96-47ec5b9e0182/img_a786fdf70c363a84b8f993a011e95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82880"/>
            <a:ext cx="3497580" cy="3291840"/>
          </a:xfrm>
          <a:prstGeom prst="roundRect">
            <a:avLst>
              <a:gd name="adj" fmla="val 4167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Wt9LL96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Passos para Atravessar a Rua</a:t>
            </a:r>
            <a:endParaRPr lang="en-US" sz="2246" dirty="0"/>
          </a:p>
        </p:txBody>
      </p:sp>
      <p:pic>
        <p:nvPicPr>
          <p:cNvPr id="3" name="imgstp14a" descr="/home/forge/chalkie-production-workers-1/releases/78875031/backend/storage/app/render-specs/b986b2e4-68f9-48da-ad96-47ec5b9e0182/img_a830683a6a9c4ce2f58260662e89ead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ckLJUGxW"/>
          <p:cNvSpPr/>
          <p:nvPr/>
        </p:nvSpPr>
        <p:spPr>
          <a:xfrm>
            <a:off x="182880" y="309753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hHN2E98O"/>
          <p:cNvSpPr/>
          <p:nvPr/>
        </p:nvSpPr>
        <p:spPr>
          <a:xfrm>
            <a:off x="274320" y="3621347"/>
            <a:ext cx="201168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Parar na guia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Aproxime-se da borda da calçada e pare totalmente.</a:t>
            </a:r>
            <a:endParaRPr lang="en-US" sz="1264" dirty="0"/>
          </a:p>
        </p:txBody>
      </p:sp>
      <p:pic>
        <p:nvPicPr>
          <p:cNvPr id="6" name="imgstp14b" descr="/home/forge/chalkie-production-workers-1/releases/78875031/backend/storage/app/render-specs/b986b2e4-68f9-48da-ad96-47ec5b9e0182/img_eed39a524a710be7b96b9aa7f2520d7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7" name="wiJVLiZ5"/>
          <p:cNvSpPr/>
          <p:nvPr/>
        </p:nvSpPr>
        <p:spPr>
          <a:xfrm>
            <a:off x="2377440" y="309753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E8QNPGLN"/>
          <p:cNvSpPr/>
          <p:nvPr/>
        </p:nvSpPr>
        <p:spPr>
          <a:xfrm>
            <a:off x="2468880" y="3621347"/>
            <a:ext cx="201168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Olhar lados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Gire a cabeça para a esquerda e para a direita com atenção.</a:t>
            </a:r>
            <a:endParaRPr lang="en-US" sz="1264" dirty="0"/>
          </a:p>
        </p:txBody>
      </p:sp>
      <p:pic>
        <p:nvPicPr>
          <p:cNvPr id="9" name="imgstp14c" descr="/home/forge/chalkie-production-workers-1/releases/78875031/backend/storage/app/render-specs/b986b2e4-68f9-48da-ad96-47ec5b9e0182/img_effa9a946affebd49ff3c68b9086f83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oOYXGato"/>
          <p:cNvSpPr/>
          <p:nvPr/>
        </p:nvSpPr>
        <p:spPr>
          <a:xfrm>
            <a:off x="4572000" y="309753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1" name="7BZGy9JC"/>
          <p:cNvSpPr/>
          <p:nvPr/>
        </p:nvSpPr>
        <p:spPr>
          <a:xfrm>
            <a:off x="4663440" y="3621347"/>
            <a:ext cx="201168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Avaliar risco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Verifique se não há veículos vindo em sua direção.</a:t>
            </a:r>
            <a:endParaRPr lang="en-US" sz="1264" dirty="0"/>
          </a:p>
        </p:txBody>
      </p:sp>
      <p:pic>
        <p:nvPicPr>
          <p:cNvPr id="12" name="imgstp14d" descr="/home/forge/chalkie-production-workers-1/releases/78875031/backend/storage/app/render-specs/b986b2e4-68f9-48da-ad96-47ec5b9e0182/img_8745915ca87fc69a2381d75dacc2f41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3" name="RDMa79cs"/>
          <p:cNvSpPr/>
          <p:nvPr/>
        </p:nvSpPr>
        <p:spPr>
          <a:xfrm>
            <a:off x="6766560" y="3097530"/>
            <a:ext cx="219456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4" name="Jg9hpAQs"/>
          <p:cNvSpPr/>
          <p:nvPr/>
        </p:nvSpPr>
        <p:spPr>
          <a:xfrm>
            <a:off x="6858000" y="3621347"/>
            <a:ext cx="2011680" cy="12573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Atravessar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Caminhe em ritmo constante até atingir a calçada oposta.</a:t>
            </a:r>
            <a:endParaRPr lang="en-US" sz="126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8fc08ce-d84b-4a7d-bdac-3e7f3151137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da Operação</a:t>
            </a:r>
            <a:endParaRPr lang="en-US" sz="2246" dirty="0"/>
          </a:p>
        </p:txBody>
      </p:sp>
      <p:sp>
        <p:nvSpPr>
          <p:cNvPr id="3" name="a74b07af-f84e-4823-b7df-9362cb47a179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para preparar um chá de forma correta e sequencial:</a:t>
            </a:r>
            <a:endParaRPr lang="en-US" sz="1264" dirty="0"/>
          </a:p>
        </p:txBody>
      </p:sp>
      <p:sp>
        <p:nvSpPr>
          <p:cNvPr id="4" name="1c688c2a-460c-4498-af98-5358859de64e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Aguardar três minutos de infusão antes de beber</a:t>
            </a:r>
            <a:endParaRPr lang="en-US" sz="1264" dirty="0"/>
          </a:p>
        </p:txBody>
      </p:sp>
      <p:sp>
        <p:nvSpPr>
          <p:cNvPr id="5" name="60a0c1fc-64e1-4fd1-bb70-035a7827dd5d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Despejar a água fervente sobre o sachê</a:t>
            </a:r>
            <a:endParaRPr lang="en-US" sz="1264" dirty="0"/>
          </a:p>
        </p:txBody>
      </p:sp>
      <p:sp>
        <p:nvSpPr>
          <p:cNvPr id="6" name="76dc6692-59c5-4cc0-967e-22d694d3149c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Colocar o sachê de ervas dentro da xícara</a:t>
            </a:r>
            <a:endParaRPr lang="en-US" sz="1264" dirty="0"/>
          </a:p>
        </p:txBody>
      </p:sp>
      <p:sp>
        <p:nvSpPr>
          <p:cNvPr id="7" name="f100ea7a-e467-42f9-825d-abd54d6c5b7e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Ferver a água em uma chaleira</a:t>
            </a:r>
            <a:endParaRPr lang="en-US" sz="12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8fc08ce-d84b-4a7d-bdac-3e7f3151137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da Operação</a:t>
            </a:r>
            <a:endParaRPr lang="en-US" sz="2246" dirty="0"/>
          </a:p>
        </p:txBody>
      </p:sp>
      <p:sp>
        <p:nvSpPr>
          <p:cNvPr id="3" name="a74b07af-f84e-4823-b7df-9362cb47a179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para preparar um chá de forma correta e sequencial:</a:t>
            </a:r>
            <a:endParaRPr lang="en-US" sz="1264" dirty="0"/>
          </a:p>
        </p:txBody>
      </p:sp>
      <p:sp>
        <p:nvSpPr>
          <p:cNvPr id="4" name="1c688c2a-460c-4498-af98-5358859de64e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Aguardar três minutos de infusão antes de beber</a:t>
            </a:r>
            <a:endParaRPr lang="en-US" sz="1264" dirty="0"/>
          </a:p>
        </p:txBody>
      </p:sp>
      <p:sp>
        <p:nvSpPr>
          <p:cNvPr id="5" name="60a0c1fc-64e1-4fd1-bb70-035a7827dd5d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Despejar a água fervente sobre o sachê</a:t>
            </a:r>
            <a:endParaRPr lang="en-US" sz="1264" dirty="0"/>
          </a:p>
        </p:txBody>
      </p:sp>
      <p:sp>
        <p:nvSpPr>
          <p:cNvPr id="6" name="76dc6692-59c5-4cc0-967e-22d694d3149c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Colocar o sachê de ervas dentro da xícara</a:t>
            </a:r>
            <a:endParaRPr lang="en-US" sz="1264" dirty="0"/>
          </a:p>
        </p:txBody>
      </p:sp>
      <p:sp>
        <p:nvSpPr>
          <p:cNvPr id="7" name="f100ea7a-e467-42f9-825d-abd54d6c5b7e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Ferver a água em uma chaleira</a:t>
            </a:r>
            <a:endParaRPr lang="en-US" sz="1264" dirty="0"/>
          </a:p>
        </p:txBody>
      </p:sp>
      <p:sp>
        <p:nvSpPr>
          <p:cNvPr id="8" name="3a031662-5ac4-4f7f-9fb3-2540a7d11f5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19824fba-cd3e-4764-87cc-79eb4fe2c3e4"/>
          <p:cNvSpPr/>
          <p:nvPr/>
        </p:nvSpPr>
        <p:spPr>
          <a:xfrm>
            <a:off x="729234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aca0bb65-6d6b-415e-bd0c-44487e4698a2"/>
          <p:cNvSpPr/>
          <p:nvPr/>
        </p:nvSpPr>
        <p:spPr>
          <a:xfrm>
            <a:off x="7292340" y="22617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99b5a3e2-04ff-46fa-a050-ac50f26c5a5f"/>
          <p:cNvSpPr/>
          <p:nvPr/>
        </p:nvSpPr>
        <p:spPr>
          <a:xfrm>
            <a:off x="7292340" y="30046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d31ec3dc-0901-4821-807f-dc1ffde3a3a9"/>
          <p:cNvSpPr/>
          <p:nvPr/>
        </p:nvSpPr>
        <p:spPr>
          <a:xfrm>
            <a:off x="7292340" y="37476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ZfjjeYW"/>
          <p:cNvSpPr/>
          <p:nvPr/>
        </p:nvSpPr>
        <p:spPr>
          <a:xfrm>
            <a:off x="274320" y="186618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Tomando Decisões com Condicionais</a:t>
            </a:r>
            <a:endParaRPr lang="en-US" sz="2246" dirty="0"/>
          </a:p>
        </p:txBody>
      </p:sp>
      <p:sp>
        <p:nvSpPr>
          <p:cNvPr id="3" name="9CBmiUmm"/>
          <p:cNvSpPr/>
          <p:nvPr/>
        </p:nvSpPr>
        <p:spPr>
          <a:xfrm>
            <a:off x="274320" y="1350117"/>
            <a:ext cx="23545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02870" tIns="45720" rIns="10287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FUNDAMENTAL</a:t>
            </a:r>
            <a:endParaRPr lang="en-US" sz="842" dirty="0"/>
          </a:p>
        </p:txBody>
      </p:sp>
      <p:sp>
        <p:nvSpPr>
          <p:cNvPr id="4" name="scV3hpsW"/>
          <p:cNvSpPr/>
          <p:nvPr/>
        </p:nvSpPr>
        <p:spPr>
          <a:xfrm>
            <a:off x="274320" y="1675221"/>
            <a:ext cx="4914900" cy="2766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algoritmo estritamente linear só sabe seguir em frente. Para lidar com a realidade, precisamos da estrutura condicional: </a:t>
            </a: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/ ENTÃO / SENÃO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sistema avalia um teste lógico que só pode ser Verdadeiro ou Falso: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 média do aluno for maior ou igual a 7,0...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exiba a mensagem: "Aprovado!"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exiba a mensagem: "Recuperação necessária."</a:t>
            </a:r>
            <a:endParaRPr lang="en-US" sz="1123" dirty="0"/>
          </a:p>
        </p:txBody>
      </p:sp>
      <p:pic>
        <p:nvPicPr>
          <p:cNvPr id="5" name="imgdec16" descr="/home/forge/chalkie-production-workers-1/releases/78875031/backend/storage/app/render-specs/b986b2e4-68f9-48da-ad96-47ec5b9e0182/img_dbfb4845e89ebe2dcdcf8515aecbf6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188720"/>
            <a:ext cx="34975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IdYXPjR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no Trânsito</a:t>
            </a:r>
            <a:endParaRPr lang="en-US" sz="2246" dirty="0"/>
          </a:p>
        </p:txBody>
      </p:sp>
      <p:pic>
        <p:nvPicPr>
          <p:cNvPr id="3" name="imgsem17a" descr="/home/forge/chalkie-production-workers-1/releases/78875031/backend/storage/app/render-specs/b986b2e4-68f9-48da-ad96-47ec5b9e0182/img_b8b3daffa363f1a8b3b8e5e00275cb6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zgB6BSXA"/>
          <p:cNvSpPr/>
          <p:nvPr/>
        </p:nvSpPr>
        <p:spPr>
          <a:xfrm>
            <a:off x="27432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Sinal Verde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sinal estiver verde,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veículo acelera e segue seu trajeto normalmente pela via.</a:t>
            </a:r>
            <a:endParaRPr lang="en-US" sz="1685" dirty="0"/>
          </a:p>
        </p:txBody>
      </p:sp>
      <p:pic>
        <p:nvPicPr>
          <p:cNvPr id="5" name="imgsem17b" descr="/home/forge/chalkie-production-workers-1/releases/78875031/backend/storage/app/render-specs/b986b2e4-68f9-48da-ad96-47ec5b9e0182/img_1bec19d5432a7fe39d3fab5e1429941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pRfB4Czx"/>
          <p:cNvSpPr/>
          <p:nvPr/>
        </p:nvSpPr>
        <p:spPr>
          <a:xfrm>
            <a:off x="316611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Sinal Amarelo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sinal estiver amarelo,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reduza a velocidade com segurança e prepare-se para frear.</a:t>
            </a:r>
            <a:endParaRPr lang="en-US" sz="1685" dirty="0"/>
          </a:p>
        </p:txBody>
      </p:sp>
      <p:pic>
        <p:nvPicPr>
          <p:cNvPr id="7" name="imgsem17c" descr="/home/forge/chalkie-production-workers-1/releases/78875031/backend/storage/app/render-specs/b986b2e4-68f9-48da-ad96-47ec5b9e0182/img_a9ac273b045dd5e36c2b6e5c19c4301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IGcv23dU"/>
          <p:cNvSpPr/>
          <p:nvPr/>
        </p:nvSpPr>
        <p:spPr>
          <a:xfrm>
            <a:off x="606933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Sinal Vermelho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(está vermelho), imobilize o automóvel antes da faixa de retenção.</a:t>
            </a:r>
            <a:endParaRPr lang="en-US" sz="168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izDBGbe"/>
          <p:cNvSpPr/>
          <p:nvPr/>
        </p:nvSpPr>
        <p:spPr>
          <a:xfrm>
            <a:off x="274320" y="186618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Estruturas de Repetição (Laços)</a:t>
            </a:r>
            <a:endParaRPr lang="en-US" sz="2246" dirty="0"/>
          </a:p>
        </p:txBody>
      </p:sp>
      <p:sp>
        <p:nvSpPr>
          <p:cNvPr id="3" name="zzphSkOd"/>
          <p:cNvSpPr/>
          <p:nvPr/>
        </p:nvSpPr>
        <p:spPr>
          <a:xfrm>
            <a:off x="274320" y="1350117"/>
            <a:ext cx="23545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02870" tIns="45720" rIns="10287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 FUNDAMENTAL</a:t>
            </a:r>
            <a:endParaRPr lang="en-US" sz="842" dirty="0"/>
          </a:p>
        </p:txBody>
      </p:sp>
      <p:sp>
        <p:nvSpPr>
          <p:cNvPr id="4" name="a2sy6XBZ"/>
          <p:cNvSpPr/>
          <p:nvPr/>
        </p:nvSpPr>
        <p:spPr>
          <a:xfrm>
            <a:off x="274320" y="1675221"/>
            <a:ext cx="4914900" cy="2708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Escrever a mesma linha 100 vezes desperdiça memória e tempo. Os laços de repetição (</a:t>
            </a:r>
            <a:r>
              <a:rPr lang="en-US" sz="1123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loops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 executam um bloco de comandos repetidamente.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Existem dois modelos principais de controle: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ENQUANTO (While)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repete a instrução enquanto uma condição for verdadeira (ex.: </a:t>
            </a:r>
            <a:r>
              <a:rPr lang="en-US" sz="1123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enquanto a bateria for menor que 100%, carregue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(For)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repete por um número fixo e conhecido de vezes (ex.: </a:t>
            </a:r>
            <a:r>
              <a:rPr lang="en-US" sz="1123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repita 5 vezes o sinal sonoro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).</a:t>
            </a:r>
            <a:endParaRPr lang="en-US" sz="1123" dirty="0"/>
          </a:p>
        </p:txBody>
      </p:sp>
      <p:pic>
        <p:nvPicPr>
          <p:cNvPr id="5" name="imglop18" descr="/home/forge/chalkie-production-workers-1/releases/78875031/backend/storage/app/render-specs/b986b2e4-68f9-48da-ad96-47ec5b9e0182/img_d53f3e58c49a1c3c2b6abff3d8ed4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188720"/>
            <a:ext cx="34975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pzui7va"/>
          <p:cNvSpPr/>
          <p:nvPr/>
        </p:nvSpPr>
        <p:spPr>
          <a:xfrm>
            <a:off x="274320" y="186618"/>
            <a:ext cx="472059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Evitando o Laço Infinito</a:t>
            </a:r>
            <a:endParaRPr lang="en-US" sz="2246" dirty="0"/>
          </a:p>
        </p:txBody>
      </p:sp>
      <p:sp>
        <p:nvSpPr>
          <p:cNvPr id="3" name="neO8dNaj"/>
          <p:cNvSpPr/>
          <p:nvPr/>
        </p:nvSpPr>
        <p:spPr>
          <a:xfrm>
            <a:off x="274320" y="896936"/>
            <a:ext cx="4720590" cy="2228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</a:t>
            </a: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laço infinito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ocorre quando a condição de parada nunca se torna falsa. O programa trava e consome todo o processador da máquina.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impedir essa falha crítica, todo laço precisa de uma variável de controle que se altere a cada iteração, como um contador de passos que soma 1 a cada volta.</a:t>
            </a:r>
            <a:endParaRPr lang="en-US" sz="1193" dirty="0"/>
          </a:p>
        </p:txBody>
      </p:sp>
      <p:sp>
        <p:nvSpPr>
          <p:cNvPr id="4" name="AK3NNMjU"/>
          <p:cNvSpPr/>
          <p:nvPr/>
        </p:nvSpPr>
        <p:spPr>
          <a:xfrm>
            <a:off x="274320" y="3223260"/>
            <a:ext cx="4720590" cy="1303020"/>
          </a:xfrm>
          <a:prstGeom prst="roundRect">
            <a:avLst>
              <a:gd name="adj" fmla="val 7018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5" name="E99dvp5u"/>
          <p:cNvSpPr/>
          <p:nvPr/>
        </p:nvSpPr>
        <p:spPr>
          <a:xfrm>
            <a:off x="400050" y="3378034"/>
            <a:ext cx="320040" cy="468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7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615" dirty="0"/>
          </a:p>
        </p:txBody>
      </p:sp>
      <p:sp>
        <p:nvSpPr>
          <p:cNvPr id="6" name="3tyY0KxX"/>
          <p:cNvSpPr/>
          <p:nvPr/>
        </p:nvSpPr>
        <p:spPr>
          <a:xfrm>
            <a:off x="765810" y="3347176"/>
            <a:ext cx="410337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 técnica</a:t>
            </a:r>
            <a:endParaRPr lang="en-US" sz="1123" dirty="0"/>
          </a:p>
          <a:p>
            <a:pPr algn="l" indent="0" marL="0">
              <a:lnSpc>
                <a:spcPts val="1897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atualização da variável de controle, o programa nunca chegará ao fim!</a:t>
            </a:r>
            <a:endParaRPr lang="en-US" sz="1123" dirty="0"/>
          </a:p>
        </p:txBody>
      </p:sp>
      <p:pic>
        <p:nvPicPr>
          <p:cNvPr id="7" name="imginf19" descr="/home/forge/chalkie-production-workers-1/releases/78875031/backend/storage/app/render-specs/b986b2e4-68f9-48da-ad96-47ec5b9e0182/img_fa1c72192e1c0ae04e54aceefefffc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82880"/>
            <a:ext cx="3691890" cy="3474720"/>
          </a:xfrm>
          <a:prstGeom prst="roundRect">
            <a:avLst>
              <a:gd name="adj" fmla="val 3947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009714-c0e0-410f-80bc-b6f625a90b9a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Conceito</a:t>
            </a:r>
            <a:endParaRPr lang="en-US" sz="2246" dirty="0"/>
          </a:p>
        </p:txBody>
      </p:sp>
      <p:sp>
        <p:nvSpPr>
          <p:cNvPr id="3" name="cfdb348e-aa93-4fca-b519-f1f516ede160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instrução condicional SE / ENTÃO serve para repetir comandos até que o computador seja desligado.</a:t>
            </a:r>
            <a:endParaRPr lang="en-US" sz="1264" dirty="0"/>
          </a:p>
        </p:txBody>
      </p:sp>
      <p:sp>
        <p:nvSpPr>
          <p:cNvPr id="4" name="14ebdd44-2d21-47c0-9514-7d66c24733fc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38cf7836-29ca-4fcc-9e77-712bf4ca4516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e6be99a4-d7d1-4bd1-8798-888ff31fcaa1"/>
          <p:cNvSpPr/>
          <p:nvPr/>
        </p:nvSpPr>
        <p:spPr>
          <a:xfrm>
            <a:off x="2571750" y="3712787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009714-c0e0-410f-80bc-b6f625a90b9a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Conceito</a:t>
            </a:r>
            <a:endParaRPr lang="en-US" sz="2246" dirty="0"/>
          </a:p>
        </p:txBody>
      </p:sp>
      <p:sp>
        <p:nvSpPr>
          <p:cNvPr id="3" name="cfdb348e-aa93-4fca-b519-f1f516ede160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instrução condicional SE / ENTÃO serve para repetir comandos até que o computador seja desligado.</a:t>
            </a:r>
            <a:endParaRPr lang="en-US" sz="1264" dirty="0"/>
          </a:p>
        </p:txBody>
      </p:sp>
      <p:sp>
        <p:nvSpPr>
          <p:cNvPr id="4" name="14ebdd44-2d21-47c0-9514-7d66c24733fc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38cf7836-29ca-4fcc-9e77-712bf4ca4516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fb002d46-51ef-46e2-84b0-ea0f7e000b54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7" name="6f59f095-ccae-4fa5-86e8-ccea07185f26"/>
          <p:cNvSpPr/>
          <p:nvPr/>
        </p:nvSpPr>
        <p:spPr>
          <a:xfrm>
            <a:off x="457200" y="3655786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</a:ln>
        </p:spPr>
        <p:txBody>
          <a:bodyPr wrap="square" lIns="125730" tIns="125730" rIns="125730" bIns="12573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🔑 </a:t>
            </a: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Condicionais testam se algo é verdadeiro ou falso para desviar o caminho, enquanto laços de repetição executam tarefas repetidas vezes.</a:t>
            </a:r>
            <a:endParaRPr lang="en-US" sz="1123" dirty="0"/>
          </a:p>
        </p:txBody>
      </p:sp>
      <p:sp>
        <p:nvSpPr>
          <p:cNvPr id="8" name="773fab01-f049-47ee-bd90-522078ec2470"/>
          <p:cNvSpPr/>
          <p:nvPr/>
        </p:nvSpPr>
        <p:spPr>
          <a:xfrm>
            <a:off x="6435090" y="24903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dCV3nYS"/>
          <p:cNvSpPr/>
          <p:nvPr/>
        </p:nvSpPr>
        <p:spPr>
          <a:xfrm>
            <a:off x="274320" y="186618"/>
            <a:ext cx="452628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 Fluxograma?</a:t>
            </a:r>
            <a:endParaRPr lang="en-US" sz="2246" dirty="0"/>
          </a:p>
        </p:txBody>
      </p:sp>
      <p:sp>
        <p:nvSpPr>
          <p:cNvPr id="3" name="ShMfNYCS"/>
          <p:cNvSpPr/>
          <p:nvPr/>
        </p:nvSpPr>
        <p:spPr>
          <a:xfrm>
            <a:off x="274320" y="895990"/>
            <a:ext cx="4526280" cy="36690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fluxograma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a representação gráfica de um algoritmo. Em vez de ler parágrafos de texto, engenheiros e programadores usam símbolos geométricos padronizados.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 permite: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caminhos alternativos num único relance visual.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Localizar etapas redundantes ou gargalos de processamento.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Comunicar a lógica de um software antes de escrever uma única linha de código.</a:t>
            </a:r>
            <a:endParaRPr lang="en-US" sz="1264" dirty="0"/>
          </a:p>
        </p:txBody>
      </p:sp>
      <p:pic>
        <p:nvPicPr>
          <p:cNvPr id="4" name="imgflx21" descr="/home/forge/chalkie-production-workers-1/releases/78875031/backend/storage/app/render-specs/b986b2e4-68f9-48da-ad96-47ec5b9e0182/img_9e33e85638723251c24fc09647a843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25830"/>
            <a:ext cx="3886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xUiaRuh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Símbolos Básicos de Fluxogramas</a:t>
            </a:r>
            <a:endParaRPr lang="en-US" sz="2246" dirty="0"/>
          </a:p>
        </p:txBody>
      </p:sp>
      <p:sp>
        <p:nvSpPr>
          <p:cNvPr id="3" name="BKyND4pF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sym01" descr="/home/forge/chalkie-production-workers-1/releases/78875031/backend/storage/app/render-specs/b986b2e4-68f9-48da-ad96-47ec5b9e0182/img_2baf737472abb6654a7bbaf25c4c35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65860"/>
            <a:ext cx="731520" cy="731520"/>
          </a:xfrm>
          <a:prstGeom prst="rect">
            <a:avLst/>
          </a:prstGeom>
        </p:spPr>
      </p:pic>
      <p:sp>
        <p:nvSpPr>
          <p:cNvPr id="5" name="dnau93Yh"/>
          <p:cNvSpPr/>
          <p:nvPr/>
        </p:nvSpPr>
        <p:spPr>
          <a:xfrm>
            <a:off x="1291590" y="1163252"/>
            <a:ext cx="304038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Terminal (Oval)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 onde o fluxo começa e onde ele termina obrigatoriamente.</a:t>
            </a:r>
            <a:endParaRPr lang="en-US" sz="1685" dirty="0"/>
          </a:p>
        </p:txBody>
      </p:sp>
      <p:sp>
        <p:nvSpPr>
          <p:cNvPr id="6" name="iQ2q7yJJ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sym02" descr="/home/forge/chalkie-production-workers-1/releases/78875031/backend/storage/app/render-specs/b986b2e4-68f9-48da-ad96-47ec5b9e0182/img_594af1e279713ef448f3d3339a3b898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165860"/>
            <a:ext cx="731520" cy="731520"/>
          </a:xfrm>
          <a:prstGeom prst="rect">
            <a:avLst/>
          </a:prstGeom>
        </p:spPr>
      </p:pic>
      <p:sp>
        <p:nvSpPr>
          <p:cNvPr id="8" name="TA9RIso8"/>
          <p:cNvSpPr/>
          <p:nvPr/>
        </p:nvSpPr>
        <p:spPr>
          <a:xfrm>
            <a:off x="5680710" y="1163252"/>
            <a:ext cx="304038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Processo (Retângulo)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Representa uma instrução direta, cálculo ou tarefa em execução.</a:t>
            </a:r>
            <a:endParaRPr lang="en-US" sz="1685" dirty="0"/>
          </a:p>
        </p:txBody>
      </p:sp>
      <p:sp>
        <p:nvSpPr>
          <p:cNvPr id="9" name="3viBgNFu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sym03" descr="/home/forge/chalkie-production-workers-1/releases/78875031/backend/storage/app/render-specs/b986b2e4-68f9-48da-ad96-47ec5b9e0182/img_b97420418e35266aa0e36948eb7e40f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188970"/>
            <a:ext cx="731520" cy="731520"/>
          </a:xfrm>
          <a:prstGeom prst="rect">
            <a:avLst/>
          </a:prstGeom>
        </p:spPr>
      </p:pic>
      <p:sp>
        <p:nvSpPr>
          <p:cNvPr id="11" name="JDgzBZ8D"/>
          <p:cNvSpPr/>
          <p:nvPr/>
        </p:nvSpPr>
        <p:spPr>
          <a:xfrm>
            <a:off x="1291590" y="3186362"/>
            <a:ext cx="304038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(Losango)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 um teste lógico: gera ramificações Sim / Não.</a:t>
            </a:r>
            <a:endParaRPr lang="en-US" sz="1685" dirty="0"/>
          </a:p>
        </p:txBody>
      </p:sp>
      <p:sp>
        <p:nvSpPr>
          <p:cNvPr id="12" name="zKKnjutP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name="adj" fmla="val 7453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sym04" descr="/home/forge/chalkie-production-workers-1/releases/78875031/backend/storage/app/render-specs/b986b2e4-68f9-48da-ad96-47ec5b9e0182/img_f2f577bcd5bbb52baca11ed708c6395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188970"/>
            <a:ext cx="731520" cy="731520"/>
          </a:xfrm>
          <a:prstGeom prst="rect">
            <a:avLst/>
          </a:prstGeom>
        </p:spPr>
      </p:pic>
      <p:sp>
        <p:nvSpPr>
          <p:cNvPr id="14" name="OwAk6nbr"/>
          <p:cNvSpPr/>
          <p:nvPr/>
        </p:nvSpPr>
        <p:spPr>
          <a:xfrm>
            <a:off x="5680710" y="3186362"/>
            <a:ext cx="3040380" cy="1143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(Paralelogramo)</a:t>
            </a:r>
            <a:endParaRPr lang="en-US" sz="1685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Representa entrada manual de dados ou exibição de resultado.</a:t>
            </a:r>
            <a:endParaRPr lang="en-US" sz="168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xf0ohz"/>
          <p:cNvSpPr/>
          <p:nvPr/>
        </p:nvSpPr>
        <p:spPr>
          <a:xfrm>
            <a:off x="274320" y="186618"/>
            <a:ext cx="716661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Fluxograma: Lâmpada que Não Acende</a:t>
            </a:r>
            <a:endParaRPr lang="en-US" sz="2246" dirty="0"/>
          </a:p>
        </p:txBody>
      </p:sp>
      <p:pic>
        <p:nvPicPr>
          <p:cNvPr id="3" name="imgdia23" descr="/home/forge/chalkie-production-workers-1/releases/78875031/backend/storage/app/render-specs/b986b2e4-68f9-48da-ad96-47ec5b9e0182/img_172869d89526db97378de7ca33fd35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8595360" cy="2857500"/>
          </a:xfrm>
          <a:prstGeom prst="rect">
            <a:avLst/>
          </a:prstGeom>
        </p:spPr>
      </p:pic>
      <p:sp>
        <p:nvSpPr>
          <p:cNvPr id="4" name="Ou4EydNw"/>
          <p:cNvSpPr/>
          <p:nvPr/>
        </p:nvSpPr>
        <p:spPr>
          <a:xfrm>
            <a:off x="274320" y="4055836"/>
            <a:ext cx="8595360" cy="422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Note como o losango conduz a soluções práticas com base em respostas diretas de Sim ou Não.</a:t>
            </a:r>
            <a:endParaRPr lang="en-US" sz="112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33a6b03-bf53-4029-991b-5dc9930bb32a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Simbologia em Foco</a:t>
            </a:r>
            <a:endParaRPr lang="en-US" sz="2246" dirty="0"/>
          </a:p>
        </p:txBody>
      </p:sp>
      <p:sp>
        <p:nvSpPr>
          <p:cNvPr id="3" name="e74de9f8-a85b-41be-a73e-02e97efde02d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forma geométrica deve ser usada em um fluxograma quando precisamos fazer uma pergunta de sim ou não?</a:t>
            </a:r>
            <a:endParaRPr lang="en-US" sz="1264" dirty="0"/>
          </a:p>
        </p:txBody>
      </p:sp>
      <p:sp>
        <p:nvSpPr>
          <p:cNvPr id="4" name="08460f83-4975-40ac-a090-d00bd4f29e5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2c997153-0e64-4c69-82fe-19a50472520c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Losango</a:t>
            </a:r>
            <a:endParaRPr lang="en-US" sz="1264" dirty="0"/>
          </a:p>
        </p:txBody>
      </p:sp>
      <p:sp>
        <p:nvSpPr>
          <p:cNvPr id="6" name="13282f04-ea82-45ea-a9be-533ddb9c4fe2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bc4bdd7-0641-40e8-8a73-d1b4c2ede880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Círculo perfeito</a:t>
            </a:r>
            <a:endParaRPr lang="en-US" sz="1264" dirty="0"/>
          </a:p>
        </p:txBody>
      </p:sp>
      <p:sp>
        <p:nvSpPr>
          <p:cNvPr id="8" name="3b7e1c3b-2c71-49ab-93c5-e839541459fa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d3b7613f-7215-442e-967a-a01d008dd4e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Paralelogramo</a:t>
            </a:r>
            <a:endParaRPr lang="en-US" sz="1264" dirty="0"/>
          </a:p>
        </p:txBody>
      </p:sp>
      <p:sp>
        <p:nvSpPr>
          <p:cNvPr id="10" name="8da4a51d-1120-44b3-a7d2-27d0bb9caec0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6f28158-0475-4a18-a657-f67283aac39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Retângulo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33a6b03-bf53-4029-991b-5dc9930bb32a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Simbologia em Foco</a:t>
            </a:r>
            <a:endParaRPr lang="en-US" sz="2246" dirty="0"/>
          </a:p>
        </p:txBody>
      </p:sp>
      <p:sp>
        <p:nvSpPr>
          <p:cNvPr id="3" name="e74de9f8-a85b-41be-a73e-02e97efde02d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forma geométrica deve ser usada em um fluxograma quando precisamos fazer uma pergunta de sim ou não?</a:t>
            </a:r>
            <a:endParaRPr lang="en-US" sz="1264" dirty="0"/>
          </a:p>
        </p:txBody>
      </p:sp>
      <p:sp>
        <p:nvSpPr>
          <p:cNvPr id="4" name="08460f83-4975-40ac-a090-d00bd4f29e5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2c997153-0e64-4c69-82fe-19a50472520c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Losango</a:t>
            </a:r>
            <a:endParaRPr lang="en-US" sz="1264" dirty="0"/>
          </a:p>
        </p:txBody>
      </p:sp>
      <p:sp>
        <p:nvSpPr>
          <p:cNvPr id="6" name="13282f04-ea82-45ea-a9be-533ddb9c4fe2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bc4bdd7-0641-40e8-8a73-d1b4c2ede880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Círculo perfeito</a:t>
            </a:r>
            <a:endParaRPr lang="en-US" sz="1264" dirty="0"/>
          </a:p>
        </p:txBody>
      </p:sp>
      <p:sp>
        <p:nvSpPr>
          <p:cNvPr id="8" name="3b7e1c3b-2c71-49ab-93c5-e839541459fa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d3b7613f-7215-442e-967a-a01d008dd4e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Paralelogramo</a:t>
            </a:r>
            <a:endParaRPr lang="en-US" sz="1264" dirty="0"/>
          </a:p>
        </p:txBody>
      </p:sp>
      <p:sp>
        <p:nvSpPr>
          <p:cNvPr id="10" name="8da4a51d-1120-44b3-a7d2-27d0bb9caec0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6f28158-0475-4a18-a657-f67283aac39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Retângulo</a:t>
            </a:r>
            <a:endParaRPr lang="en-US" sz="1264" dirty="0"/>
          </a:p>
        </p:txBody>
      </p:sp>
      <p:sp>
        <p:nvSpPr>
          <p:cNvPr id="12" name="a26cff52-649e-48c4-9500-74e8790ddf36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e820b70b-2620-44bf-ad76-cc88e8356a63"/>
          <p:cNvSpPr/>
          <p:nvPr/>
        </p:nvSpPr>
        <p:spPr>
          <a:xfrm>
            <a:off x="872109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DvaYYja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Roteiro para Construir um Fluxograma</a:t>
            </a:r>
            <a:endParaRPr lang="en-US" sz="2246" dirty="0"/>
          </a:p>
        </p:txBody>
      </p:sp>
      <p:sp>
        <p:nvSpPr>
          <p:cNvPr id="3" name="kw1XvyG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gXCTCZeR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pTho1Se5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Delimitar Entrada e Saída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defina claramente onde a tarefa começa e qual resposta deve ser entregue no final.</a:t>
            </a:r>
            <a:endParaRPr lang="en-US" sz="1264" dirty="0"/>
          </a:p>
        </p:txBody>
      </p:sp>
      <p:sp>
        <p:nvSpPr>
          <p:cNvPr id="6" name="E5NYNroj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RLQjQrZL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xSBz7ELR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Listar Ações Consecutivas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desenhe retângulos para cada transformação de dados ou tarefa mecânica.</a:t>
            </a:r>
            <a:endParaRPr lang="en-US" sz="1264" dirty="0"/>
          </a:p>
        </p:txBody>
      </p:sp>
      <p:sp>
        <p:nvSpPr>
          <p:cNvPr id="9" name="IVg1bddh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r1sDQ3ZW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I1ZNONj6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Perguntas Cruciais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use losangos sempre que houver bifurcações de decisão ou testes de condição.</a:t>
            </a:r>
            <a:endParaRPr lang="en-US" sz="126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1OeBuQ"/>
          <p:cNvSpPr/>
          <p:nvPr/>
        </p:nvSpPr>
        <p:spPr>
          <a:xfrm>
            <a:off x="274320" y="186618"/>
            <a:ext cx="472059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Algoritmos de Busca na Web</a:t>
            </a:r>
            <a:endParaRPr lang="en-US" sz="2246" dirty="0"/>
          </a:p>
        </p:txBody>
      </p:sp>
      <p:sp>
        <p:nvSpPr>
          <p:cNvPr id="3" name="IoXU1Rdr"/>
          <p:cNvSpPr/>
          <p:nvPr/>
        </p:nvSpPr>
        <p:spPr>
          <a:xfrm>
            <a:off x="274320" y="1331276"/>
            <a:ext cx="4720590" cy="3486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você digita algo no Google, um algoritmo vasculha bilhões de páginas indexadas em milissegundos.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processo obedece a regras algorítmicas transparentes: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Analisar termos de busca e intenção do usuário.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Comparar relevância com o conteúdo de sites confiáveis.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Ordenar os resultados por qualidade e velocidade da página.</a:t>
            </a:r>
            <a:endParaRPr lang="en-US" sz="1193" dirty="0"/>
          </a:p>
        </p:txBody>
      </p:sp>
      <p:pic>
        <p:nvPicPr>
          <p:cNvPr id="4" name="imgsch26" descr="/home/forge/chalkie-production-workers-1/releases/78875031/backend/storage/app/render-specs/b986b2e4-68f9-48da-ad96-47ec5b9e0182/img_160ebba4713c261b13dda46b13ec597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82880"/>
            <a:ext cx="3691890" cy="3474720"/>
          </a:xfrm>
          <a:prstGeom prst="roundRect">
            <a:avLst>
              <a:gd name="adj" fmla="val 3947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3kysyx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Automação Urbana</a:t>
            </a:r>
            <a:endParaRPr lang="en-US" sz="2246" dirty="0"/>
          </a:p>
        </p:txBody>
      </p:sp>
      <p:sp>
        <p:nvSpPr>
          <p:cNvPr id="3" name="KnXqh7Fa"/>
          <p:cNvSpPr/>
          <p:nvPr/>
        </p:nvSpPr>
        <p:spPr>
          <a:xfrm>
            <a:off x="274320" y="1358356"/>
            <a:ext cx="2743200" cy="9372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Semáforos inteligentes ajustam tempos conforme sensores de solo.</a:t>
            </a:r>
            <a:endParaRPr lang="en-US" sz="1123" dirty="0"/>
          </a:p>
        </p:txBody>
      </p:sp>
      <p:pic>
        <p:nvPicPr>
          <p:cNvPr id="4" name="imgtra27" descr="/home/forge/chalkie-production-workers-1/releases/78875031/backend/storage/app/render-specs/b986b2e4-68f9-48da-ad96-47ec5b9e0182/img_f68ecdcf3186ed29c864c3025acf5c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88870"/>
            <a:ext cx="2286000" cy="1828800"/>
          </a:xfrm>
          <a:prstGeom prst="rect">
            <a:avLst/>
          </a:prstGeom>
        </p:spPr>
      </p:pic>
      <p:sp>
        <p:nvSpPr>
          <p:cNvPr id="5" name="k63LwrYa"/>
          <p:cNvSpPr/>
          <p:nvPr/>
        </p:nvSpPr>
        <p:spPr>
          <a:xfrm>
            <a:off x="3291840" y="180272"/>
            <a:ext cx="5577840" cy="33832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funciona o semáforo inteligente?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Entrada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Sensores sob o asfalto detectam veículos parados na via secundária.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SE há fila aguardando E a via principal já teve sinal verde por 40 segundos...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Aciona o sinal amarelo e em seguida o vermelho na via principal.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Saída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Libera o sinal verde para desafogar a fila secundária.</a:t>
            </a:r>
            <a:endParaRPr lang="en-US" sz="168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KsX2ogf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Evolução do Algoritmo de Tráfego</a:t>
            </a:r>
            <a:endParaRPr lang="en-US" sz="2246" dirty="0"/>
          </a:p>
        </p:txBody>
      </p:sp>
      <p:sp>
        <p:nvSpPr>
          <p:cNvPr id="3" name="iN9LBmo5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4" name="SD8D4i9Z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hN7c87Ee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sFWDqURm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nXgl2xNy"/>
          <p:cNvSpPr/>
          <p:nvPr/>
        </p:nvSpPr>
        <p:spPr>
          <a:xfrm>
            <a:off x="685800" y="315913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Tempo Fixo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Luzes mudavam em intervalos fixos sem avaliar trânsito.</a:t>
            </a:r>
            <a:endParaRPr lang="en-US" sz="1264" dirty="0"/>
          </a:p>
        </p:txBody>
      </p:sp>
      <p:sp>
        <p:nvSpPr>
          <p:cNvPr id="8" name="34MZTt5M"/>
          <p:cNvSpPr/>
          <p:nvPr/>
        </p:nvSpPr>
        <p:spPr>
          <a:xfrm>
            <a:off x="3429000" y="129604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Sensores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Sensores detectam carros e alteram ciclos verdes.</a:t>
            </a:r>
            <a:endParaRPr lang="en-US" sz="1264" dirty="0"/>
          </a:p>
        </p:txBody>
      </p:sp>
      <p:sp>
        <p:nvSpPr>
          <p:cNvPr id="9" name="Nm0i4ebn"/>
          <p:cNvSpPr/>
          <p:nvPr/>
        </p:nvSpPr>
        <p:spPr>
          <a:xfrm>
            <a:off x="6172200" y="315913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Cidades Inteligentes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Câmeras e redes sincronizam quarteirões inteiros.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xkrvRKj"/>
          <p:cNvSpPr/>
          <p:nvPr/>
        </p:nvSpPr>
        <p:spPr>
          <a:xfrm>
            <a:off x="274320" y="186618"/>
            <a:ext cx="472059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Lógica na Resolução de Problemas</a:t>
            </a:r>
            <a:endParaRPr lang="en-US" sz="2246" dirty="0"/>
          </a:p>
        </p:txBody>
      </p:sp>
      <p:sp>
        <p:nvSpPr>
          <p:cNvPr id="3" name="Ej1vjUSx"/>
          <p:cNvSpPr/>
          <p:nvPr/>
        </p:nvSpPr>
        <p:spPr>
          <a:xfrm>
            <a:off x="274320" y="1331276"/>
            <a:ext cx="4720590" cy="3486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raciocínio lógico é a bússola que impede decisões baseadas em suposições vagas. Ele nos treina a avaliar </a:t>
            </a: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causa e consequência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antes da ação.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desenvolvemos a disciplina algorítmica: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Detectamos incoerências conceituais antes de criar protótipos.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Encontramos a causa raiz de falhas e bugs em vez de aplicar correções temporárias.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Construímos soluções replicáveis que outras pessoas conseguem entender.</a:t>
            </a:r>
            <a:endParaRPr lang="en-US" sz="1193" dirty="0"/>
          </a:p>
        </p:txBody>
      </p:sp>
      <p:pic>
        <p:nvPicPr>
          <p:cNvPr id="4" name="imglog29" descr="/home/forge/chalkie-production-workers-1/releases/78875031/backend/storage/app/render-specs/b986b2e4-68f9-48da-ad96-47ec5b9e0182/img_dd0dcf9491f0ef016cc783908d9ffdf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82880"/>
            <a:ext cx="3691890" cy="3474720"/>
          </a:xfrm>
          <a:prstGeom prst="roundRect">
            <a:avLst>
              <a:gd name="adj" fmla="val 3947"/>
            </a:avLst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bac30" descr="/home/forge/chalkie-production-workers-1/releases/78875031/backend/storage/app/render-specs/b986b2e4-68f9-48da-ad96-47ec5b9e0182/img_cee6620c10aaa7691217243c6bf0ec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OdnhvEs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/>
        </p:spPr>
      </p:sp>
      <p:sp>
        <p:nvSpPr>
          <p:cNvPr id="4" name="eDpGjcX3"/>
          <p:cNvSpPr/>
          <p:nvPr/>
        </p:nvSpPr>
        <p:spPr>
          <a:xfrm>
            <a:off x="274320" y="1695378"/>
            <a:ext cx="8595360" cy="16802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Raciocínio Algorítmico</a:t>
            </a:r>
            <a:endParaRPr lang="en-US" sz="2246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Pensar como um cientista da computação não significa agir friamente como uma máquina. Significa aprender a estruturar pensamentos para criar soluções elegantes no mundo real.</a:t>
            </a:r>
            <a:endParaRPr lang="en-US" sz="224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YxQsr35"/>
          <p:cNvSpPr/>
          <p:nvPr/>
        </p:nvSpPr>
        <p:spPr>
          <a:xfrm>
            <a:off x="274320" y="186618"/>
            <a:ext cx="472059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Desafio: Atravessar o Rio</a:t>
            </a:r>
            <a:endParaRPr lang="en-US" sz="2246" dirty="0"/>
          </a:p>
        </p:txBody>
      </p:sp>
      <p:sp>
        <p:nvSpPr>
          <p:cNvPr id="3" name="sp1xeTV1"/>
          <p:cNvSpPr/>
          <p:nvPr/>
        </p:nvSpPr>
        <p:spPr>
          <a:xfrm>
            <a:off x="274320" y="896936"/>
            <a:ext cx="4720590" cy="36233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enigma clássico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um barqueiro precisa transportar um lobo, uma cabra e um maço de couves para a outra margem do rio em um barco minúsculo.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 restrições estritas do algoritmo: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barco só suporta o barqueiro e um único passageiro por viagem.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Sozinhos, o lobo devora a cabra.</a:t>
            </a:r>
            <a:endParaRPr lang="en-US" sz="1193" dirty="0"/>
          </a:p>
          <a:p>
            <a:pPr algn="l" marL="228600" indent="-68580">
              <a:lnSpc>
                <a:spcPts val="1897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Sozinhos, a cabra devora a couve.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item deve ser levado primeiro sem deixar nenhum predador com sua presa?</a:t>
            </a:r>
            <a:endParaRPr lang="en-US" sz="1193" dirty="0"/>
          </a:p>
        </p:txBody>
      </p:sp>
      <p:pic>
        <p:nvPicPr>
          <p:cNvPr id="4" name="imgeni31" descr="/home/forge/chalkie-production-workers-1/releases/78875031/backend/storage/app/render-specs/b986b2e4-68f9-48da-ad96-47ec5b9e0182/img_9e43e28949f76fc0bbec10ea4bd775d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182880"/>
            <a:ext cx="3691890" cy="3474720"/>
          </a:xfrm>
          <a:prstGeom prst="roundRect">
            <a:avLst>
              <a:gd name="adj" fmla="val 3947"/>
            </a:avLst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d8633f-8f3b-48d0-bbbe-8cdc0f66ff9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 do Enigma</a:t>
            </a:r>
            <a:endParaRPr lang="en-US" sz="2246" dirty="0"/>
          </a:p>
        </p:txBody>
      </p:sp>
      <p:sp>
        <p:nvSpPr>
          <p:cNvPr id="3" name="efbc0f98-2120-44e9-af82-9a6048e2843e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Quem o barqueiro deve levar obrigatoriamente na primeira viagem até a outra margem?</a:t>
            </a:r>
            <a:endParaRPr lang="en-US" sz="1264" dirty="0"/>
          </a:p>
        </p:txBody>
      </p:sp>
      <p:sp>
        <p:nvSpPr>
          <p:cNvPr id="4" name="bf491dc9-fe97-4dca-9f14-6f4ee0298cbd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d5fe6b3-6ff2-4415-8a68-f9c61db89705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cabra (deixando o lobo com a couve, que ele não come)</a:t>
            </a:r>
            <a:endParaRPr lang="en-US" sz="1264" dirty="0"/>
          </a:p>
        </p:txBody>
      </p:sp>
      <p:sp>
        <p:nvSpPr>
          <p:cNvPr id="6" name="397063de-7b8c-4a43-a1f0-7d66120fee8b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8ebc37c4-5501-4a52-8e10-0ed84c84469b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lobo (deixando a cabra livre com a couve)</a:t>
            </a:r>
            <a:endParaRPr lang="en-US" sz="1264" dirty="0"/>
          </a:p>
        </p:txBody>
      </p:sp>
      <p:sp>
        <p:nvSpPr>
          <p:cNvPr id="8" name="7cbbe13c-a404-4c8f-9df8-12101166f81c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7f433e7-aa55-46fe-9dc2-13e783f2bfb0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Ninguém, ele deve cruzar o rio sozinho primeiro</a:t>
            </a:r>
            <a:endParaRPr lang="en-US" sz="1264" dirty="0"/>
          </a:p>
        </p:txBody>
      </p:sp>
      <p:sp>
        <p:nvSpPr>
          <p:cNvPr id="10" name="66916830-a381-4d0c-8252-bd6b7e9863f5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3348f7-8f34-4480-ad1e-0f5063ae8ba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couve (deixando o lobo sozinho com a cabra)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d8633f-8f3b-48d0-bbbe-8cdc0f66ff9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 do Enigma</a:t>
            </a:r>
            <a:endParaRPr lang="en-US" sz="2246" dirty="0"/>
          </a:p>
        </p:txBody>
      </p:sp>
      <p:sp>
        <p:nvSpPr>
          <p:cNvPr id="3" name="efbc0f98-2120-44e9-af82-9a6048e2843e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Quem o barqueiro deve levar obrigatoriamente na primeira viagem até a outra margem?</a:t>
            </a:r>
            <a:endParaRPr lang="en-US" sz="1264" dirty="0"/>
          </a:p>
        </p:txBody>
      </p:sp>
      <p:sp>
        <p:nvSpPr>
          <p:cNvPr id="4" name="bf491dc9-fe97-4dca-9f14-6f4ee0298cbd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d5fe6b3-6ff2-4415-8a68-f9c61db89705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cabra (deixando o lobo com a couve, que ele não come)</a:t>
            </a:r>
            <a:endParaRPr lang="en-US" sz="1264" dirty="0"/>
          </a:p>
        </p:txBody>
      </p:sp>
      <p:sp>
        <p:nvSpPr>
          <p:cNvPr id="6" name="397063de-7b8c-4a43-a1f0-7d66120fee8b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8ebc37c4-5501-4a52-8e10-0ed84c84469b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lobo (deixando a cabra livre com a couve)</a:t>
            </a:r>
            <a:endParaRPr lang="en-US" sz="1264" dirty="0"/>
          </a:p>
        </p:txBody>
      </p:sp>
      <p:sp>
        <p:nvSpPr>
          <p:cNvPr id="8" name="7cbbe13c-a404-4c8f-9df8-12101166f81c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7f433e7-aa55-46fe-9dc2-13e783f2bfb0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Ninguém, ele deve cruzar o rio sozinho primeiro</a:t>
            </a:r>
            <a:endParaRPr lang="en-US" sz="1264" dirty="0"/>
          </a:p>
        </p:txBody>
      </p:sp>
      <p:sp>
        <p:nvSpPr>
          <p:cNvPr id="10" name="66916830-a381-4d0c-8252-bd6b7e9863f5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3348f7-8f34-4480-ad1e-0f5063ae8ba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couve (deixando o lobo sozinho com a cabra)</a:t>
            </a:r>
            <a:endParaRPr lang="en-US" sz="1264" dirty="0"/>
          </a:p>
        </p:txBody>
      </p:sp>
      <p:sp>
        <p:nvSpPr>
          <p:cNvPr id="12" name="05687746-6493-40f2-8939-180b284fb64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7ca8b736-06e3-4b38-bef4-15deb1bd9c5b"/>
          <p:cNvSpPr/>
          <p:nvPr/>
        </p:nvSpPr>
        <p:spPr>
          <a:xfrm>
            <a:off x="872109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77bd3b1-5b38-40ba-ae2f-c942f7c8cbe5" descr="/home/forge/chalkie-production-workers-1/releases/78875031/backend/storage/app/render-specs/b986b2e4-68f9-48da-ad96-47ec5b9e0182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pic>
        <p:nvPicPr>
          <p:cNvPr id="3" name="9e239c13-57a5-4412-8a05-7021e25dd022" descr="/home/forge/chalkie-production-workers-1/releases/78875031/backend/storage/app/render-specs/b986b2e4-68f9-48da-ad96-47ec5b9e0182/img_408044e968d5e89a613dd147b9e11eb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ect">
            <a:avLst/>
          </a:prstGeom>
        </p:spPr>
      </p:pic>
      <p:sp>
        <p:nvSpPr>
          <p:cNvPr id="4" name="d50c6a40-f013-4558-b9aa-badda4ffacab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Algoritmos no Cotidiano</a:t>
            </a:r>
            <a:endParaRPr lang="en-US" sz="2246" dirty="0"/>
          </a:p>
        </p:txBody>
      </p:sp>
      <p:sp>
        <p:nvSpPr>
          <p:cNvPr id="5" name="a0354a9d-3767-4b3d-8985-abe173ddbfc0"/>
          <p:cNvSpPr/>
          <p:nvPr/>
        </p:nvSpPr>
        <p:spPr>
          <a:xfrm>
            <a:off x="4297680" y="1826837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quais momentos do seu dia você toma decisões usando a lógica SE/ENTÃO/SENÃO sem perceber?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77bd3b1-5b38-40ba-ae2f-c942f7c8cbe5" descr="/home/forge/chalkie-production-workers-1/releases/78875031/backend/storage/app/render-specs/b986b2e4-68f9-48da-ad96-47ec5b9e0182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sp>
        <p:nvSpPr>
          <p:cNvPr id="3" name="d50c6a40-f013-4558-b9aa-badda4ffacab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Algoritmos no Cotidiano</a:t>
            </a:r>
            <a:endParaRPr lang="en-US" sz="2246" dirty="0"/>
          </a:p>
        </p:txBody>
      </p:sp>
      <p:sp>
        <p:nvSpPr>
          <p:cNvPr id="4" name="b73cce48-7500-4357-96e0-508880ad8590"/>
          <p:cNvSpPr/>
          <p:nvPr/>
        </p:nvSpPr>
        <p:spPr>
          <a:xfrm>
            <a:off x="982980" y="1655387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conferir se vai chover para levar ou não o guarda-chuva.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checar o saldo do cartão de transporte antes de entrar no ônibus.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escolher colocar o celular no carregador quando a bateria fica abaixo de vinte por cento.</a:t>
            </a:r>
            <a:endParaRPr lang="en-US" sz="1264" dirty="0"/>
          </a:p>
        </p:txBody>
      </p:sp>
      <p:sp>
        <p:nvSpPr>
          <p:cNvPr id="5" name="1c246e5c-d2a3-4d08-8626-7775e626d2a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1b74e43-89b8-46e7-ada8-3f26a830ba73" descr="/home/forge/chalkie-production-workers-1/releases/78875031/backend/storage/app/render-specs/b986b2e4-68f9-48da-ad96-47ec5b9e0182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ect">
            <a:avLst/>
          </a:prstGeom>
        </p:spPr>
      </p:pic>
      <p:sp>
        <p:nvSpPr>
          <p:cNvPr id="3" name="7ac154c3-d112-4950-bc0f-80c2aabb3f7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4" name="737cbc0b-7629-4cef-9735-ea92a45f9d53"/>
          <p:cNvSpPr/>
          <p:nvPr/>
        </p:nvSpPr>
        <p:spPr>
          <a:xfrm>
            <a:off x="285750" y="1141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define um algoritmo e quais são suas características principais?</a:t>
            </a:r>
            <a:endParaRPr lang="en-US" sz="1264" dirty="0"/>
          </a:p>
        </p:txBody>
      </p:sp>
      <p:sp>
        <p:nvSpPr>
          <p:cNvPr id="5" name="ead833eb-1ff0-4d93-81a3-4a5391c4e92d"/>
          <p:cNvSpPr/>
          <p:nvPr/>
        </p:nvSpPr>
        <p:spPr>
          <a:xfrm>
            <a:off x="285750" y="2284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são os quatro pilares do pensamento computacional?</a:t>
            </a:r>
            <a:endParaRPr lang="en-US" sz="1264" dirty="0"/>
          </a:p>
        </p:txBody>
      </p:sp>
      <p:sp>
        <p:nvSpPr>
          <p:cNvPr id="6" name="4eba1841-9bf0-48ca-9bbb-cea0c222d3ff"/>
          <p:cNvSpPr/>
          <p:nvPr/>
        </p:nvSpPr>
        <p:spPr>
          <a:xfrm>
            <a:off x="285750" y="3427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representa o símbolo de losango em um fluxograma padronizado?</a:t>
            </a:r>
            <a:endParaRPr lang="en-US" sz="1264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ac154c3-d112-4950-bc0f-80c2aabb3f7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3993c1f7-4269-40e0-9fb1-bbf53014f48e"/>
          <p:cNvSpPr/>
          <p:nvPr/>
        </p:nvSpPr>
        <p:spPr>
          <a:xfrm>
            <a:off x="285750" y="1141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 uma sequência finita, clara e ordenada de instruções para resolver um problema.</a:t>
            </a:r>
            <a:endParaRPr lang="en-US" sz="1264" dirty="0"/>
          </a:p>
        </p:txBody>
      </p:sp>
      <p:sp>
        <p:nvSpPr>
          <p:cNvPr id="4" name="7c0ce313-7670-485b-a19b-b148bac56440"/>
          <p:cNvSpPr/>
          <p:nvPr/>
        </p:nvSpPr>
        <p:spPr>
          <a:xfrm>
            <a:off x="285750" y="2284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Decomposição, reconhecimento de padrões, abstração e algoritmos.</a:t>
            </a:r>
            <a:endParaRPr lang="en-US" sz="1264" dirty="0"/>
          </a:p>
        </p:txBody>
      </p:sp>
      <p:sp>
        <p:nvSpPr>
          <p:cNvPr id="5" name="62119da4-b03f-4522-be6d-3560acd91349"/>
          <p:cNvSpPr/>
          <p:nvPr/>
        </p:nvSpPr>
        <p:spPr>
          <a:xfrm>
            <a:off x="285750" y="3427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Representa uma tomada de decisão condicional com caminhos como Sim e Não.</a:t>
            </a:r>
            <a:endParaRPr lang="en-US" sz="1264" dirty="0"/>
          </a:p>
        </p:txBody>
      </p:sp>
      <p:sp>
        <p:nvSpPr>
          <p:cNvPr id="6" name="51b51d58-7603-4dd0-9bcb-ce165536f6ed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Fxi5MVk"/>
          <p:cNvSpPr/>
          <p:nvPr/>
        </p:nvSpPr>
        <p:spPr>
          <a:xfrm>
            <a:off x="274320" y="186618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Encerramento da Série de Tecnologia</a:t>
            </a:r>
            <a:endParaRPr lang="en-US" sz="2246" dirty="0"/>
          </a:p>
        </p:txBody>
      </p:sp>
      <p:sp>
        <p:nvSpPr>
          <p:cNvPr id="3" name="VgF0ZPvJ"/>
          <p:cNvSpPr/>
          <p:nvPr/>
        </p:nvSpPr>
        <p:spPr>
          <a:xfrm>
            <a:off x="274320" y="1286601"/>
            <a:ext cx="4914900" cy="36118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Parabéns por completar os 5 módulos da série </a:t>
            </a: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da Tecnologia e Programação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!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Compreendemos o hardware, o software e os dispositivos que usamos diariamente.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Adotamos práticas seguras de cidadania digital e proteção de dados.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Dominamos a digitação, editores de texto, apresentações visuais e pesquisa qualificada.</a:t>
            </a:r>
            <a:endParaRPr lang="en-US" sz="1123" dirty="0"/>
          </a:p>
          <a:p>
            <a:pPr algn="l" marL="228600" indent="-68580">
              <a:lnSpc>
                <a:spcPts val="178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Hoje, desbloqueamos o pensamento computacional e a estrutura dos algoritmos.</a:t>
            </a:r>
            <a:endParaRPr lang="en-US" sz="1123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Agora você possui a base lógica para aprender qualquer linguagem de programação!</a:t>
            </a:r>
            <a:endParaRPr lang="en-US" sz="1123" dirty="0"/>
          </a:p>
        </p:txBody>
      </p:sp>
      <p:pic>
        <p:nvPicPr>
          <p:cNvPr id="4" name="imgcls35" descr="/home/forge/chalkie-production-workers-1/releases/78875031/backend/storage/app/render-specs/b986b2e4-68f9-48da-ad96-47ec5b9e0182/img_d22c97480d48ee56b70a5e2fe0bea96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82880"/>
            <a:ext cx="3497580" cy="3291840"/>
          </a:xfrm>
          <a:prstGeom prst="roundRect">
            <a:avLst>
              <a:gd name="adj" fmla="val 4167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aos Algoritmos</dc:title>
  <dc:subject>PptxGenJS Presentation</dc:subject>
  <dc:creator>PptxGenJS</dc:creator>
  <cp:lastModifiedBy>PptxGenJS</cp:lastModifiedBy>
  <cp:revision>1</cp:revision>
  <dcterms:created xsi:type="dcterms:W3CDTF">2026-09-29T11:08:14Z</dcterms:created>
  <dcterms:modified xsi:type="dcterms:W3CDTF">2026-09-29T11:08:14Z</dcterms:modified>
</cp:coreProperties>
</file>