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embeddedFontLst>
    <p:embeddedFont>
      <p:font typeface="Dyslexie"/>
      <p:regular r:id="rId48"/>
      <p:bold r:id="rId4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font" Target="fonts/font1.fntdata"/><Relationship Id="rId4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6poBnT1"/>
          <p:cNvSpPr/>
          <p:nvPr/>
        </p:nvSpPr>
        <p:spPr>
          <a:xfrm>
            <a:off x="274320" y="1593000"/>
            <a:ext cx="4023360" cy="12001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Ferramentas de Produtividade</a:t>
            </a:r>
            <a:endParaRPr lang="en-US" sz="2527" dirty="0"/>
          </a:p>
        </p:txBody>
      </p:sp>
      <p:sp>
        <p:nvSpPr>
          <p:cNvPr id="3" name="4kHIk1Zr"/>
          <p:cNvSpPr/>
          <p:nvPr/>
        </p:nvSpPr>
        <p:spPr>
          <a:xfrm>
            <a:off x="274320" y="2770510"/>
            <a:ext cx="40233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Domine a digitação ágil e os recursos essenciais do editor de texto.</a:t>
            </a:r>
            <a:endParaRPr lang="en-US" sz="1264" dirty="0"/>
          </a:p>
        </p:txBody>
      </p:sp>
      <p:pic>
        <p:nvPicPr>
          <p:cNvPr id="4" name="imgcvr01" descr="/home/forge/chalkie-production-workers-3/releases/78875040/backend/storage/app/render-specs/15faccd3-87e2-4d50-b2b4-e7e89553b979/img_da7a8a9139a58a68ac89a38c1a95166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"/>
            <a:ext cx="4297680" cy="4594860"/>
          </a:xfrm>
          <a:prstGeom prst="roundRect">
            <a:avLst>
              <a:gd name="adj" fmla="val 3191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G5O84Xp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Recap: Cidadania Digital e Segurança Online</a:t>
            </a:r>
            <a:endParaRPr lang="en-US" sz="2246" dirty="0"/>
          </a:p>
        </p:txBody>
      </p:sp>
      <p:sp>
        <p:nvSpPr>
          <p:cNvPr id="3" name="DybVDwkf"/>
          <p:cNvSpPr/>
          <p:nvPr/>
        </p:nvSpPr>
        <p:spPr>
          <a:xfrm>
            <a:off x="274320" y="998860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Direitos e deveres constroem uma convivência ética e respeitosa na internet.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Combate a fake news e cyberbullying protege a integridade e bem-estar de todos.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Senhas robustas, antivírus e controle de pegadas digitais blindam nossa privacidade.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podemos nos proteger online mantendo uma postura cidadã e segura?</a:t>
            </a:r>
            <a:endParaRPr lang="en-US" sz="1264" dirty="0"/>
          </a:p>
        </p:txBody>
      </p:sp>
      <p:pic>
        <p:nvPicPr>
          <p:cNvPr id="4" name="imgrec02" descr="/home/forge/chalkie-production-workers-3/releases/78875040/backend/storage/app/render-specs/15faccd3-87e2-4d50-b2b4-e7e89553b979/img_d66d299a0b92c55c0d6756644402c4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fa87b11-0549-48c7-aa77-63e32c17c5dc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 Rápido: Cidadania Digital</a:t>
            </a:r>
            <a:endParaRPr lang="en-US" sz="2246" dirty="0"/>
          </a:p>
        </p:txBody>
      </p:sp>
      <p:sp>
        <p:nvSpPr>
          <p:cNvPr id="3" name="4fc540b6-3435-421f-8194-c9421415525d"/>
          <p:cNvSpPr/>
          <p:nvPr/>
        </p:nvSpPr>
        <p:spPr>
          <a:xfrm>
            <a:off x="822960" y="1141037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  <a:effectLst>
            <a:outerShdw sx="100000" sy="100000" kx="0" ky="0" algn="bl" rotWithShape="0" blurRad="0" dist="129286" dir="2700000">
              <a:srgbClr val="000000">
                <a:alpha val="100000"/>
              </a:srgbClr>
            </a:outerShdw>
          </a:effectLst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Compartilhar uma notícia duvidosa sem verificar a fonte é inofensivo se você apenas repassar aos amigos.</a:t>
            </a:r>
            <a:endParaRPr lang="en-US" sz="1264" dirty="0"/>
          </a:p>
        </p:txBody>
      </p:sp>
      <p:sp>
        <p:nvSpPr>
          <p:cNvPr id="4" name="e4997248-1bbb-49a4-b55a-f135f66b6f3e"/>
          <p:cNvSpPr/>
          <p:nvPr/>
        </p:nvSpPr>
        <p:spPr>
          <a:xfrm>
            <a:off x="2571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5" name="eaba13b9-4821-473c-86dd-7100b0623eb2"/>
          <p:cNvSpPr/>
          <p:nvPr/>
        </p:nvSpPr>
        <p:spPr>
          <a:xfrm>
            <a:off x="4857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6" name="60beffe1-2697-488f-87c1-285e699d0682"/>
          <p:cNvSpPr/>
          <p:nvPr/>
        </p:nvSpPr>
        <p:spPr>
          <a:xfrm>
            <a:off x="2571750" y="3712787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fa87b11-0549-48c7-aa77-63e32c17c5dc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 Rápido: Cidadania Digital</a:t>
            </a:r>
            <a:endParaRPr lang="en-US" sz="2246" dirty="0"/>
          </a:p>
        </p:txBody>
      </p:sp>
      <p:sp>
        <p:nvSpPr>
          <p:cNvPr id="3" name="4fc540b6-3435-421f-8194-c9421415525d"/>
          <p:cNvSpPr/>
          <p:nvPr/>
        </p:nvSpPr>
        <p:spPr>
          <a:xfrm>
            <a:off x="822960" y="1141037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  <a:effectLst>
            <a:outerShdw sx="100000" sy="100000" kx="0" ky="0" algn="bl" rotWithShape="0" blurRad="0" dist="129286" dir="2700000">
              <a:srgbClr val="000000">
                <a:alpha val="100000"/>
              </a:srgbClr>
            </a:outerShdw>
          </a:effectLst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Compartilhar uma notícia duvidosa sem verificar a fonte é inofensivo se você apenas repassar aos amigos.</a:t>
            </a:r>
            <a:endParaRPr lang="en-US" sz="1264" dirty="0"/>
          </a:p>
        </p:txBody>
      </p:sp>
      <p:sp>
        <p:nvSpPr>
          <p:cNvPr id="4" name="e4997248-1bbb-49a4-b55a-f135f66b6f3e"/>
          <p:cNvSpPr/>
          <p:nvPr/>
        </p:nvSpPr>
        <p:spPr>
          <a:xfrm>
            <a:off x="2571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5" name="eaba13b9-4821-473c-86dd-7100b0623eb2"/>
          <p:cNvSpPr/>
          <p:nvPr/>
        </p:nvSpPr>
        <p:spPr>
          <a:xfrm>
            <a:off x="4857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6" name="d5ffac61-e669-4e04-abcc-4ae8e51d2e27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7" name="729acd0e-1174-4d50-bdad-e82d90aabbc3"/>
          <p:cNvSpPr/>
          <p:nvPr/>
        </p:nvSpPr>
        <p:spPr>
          <a:xfrm>
            <a:off x="457200" y="3655786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</a:ln>
        </p:spPr>
        <p:txBody>
          <a:bodyPr wrap="square" lIns="125730" tIns="125730" rIns="125730" bIns="12573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🔑 </a:t>
            </a: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Repassar notícias sem checagem propaga desinformação e pode causar pânico ou difamação.</a:t>
            </a:r>
            <a:endParaRPr lang="en-US" sz="1123" dirty="0"/>
          </a:p>
        </p:txBody>
      </p:sp>
      <p:sp>
        <p:nvSpPr>
          <p:cNvPr id="8" name="243e2c8b-33ff-4bd3-90cb-6c215dd78be6"/>
          <p:cNvSpPr/>
          <p:nvPr/>
        </p:nvSpPr>
        <p:spPr>
          <a:xfrm>
            <a:off x="6435090" y="24903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5vgtGu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Learning Objectives</a:t>
            </a:r>
            <a:endParaRPr lang="en-US" sz="2246" dirty="0"/>
          </a:p>
        </p:txBody>
      </p:sp>
      <p:sp>
        <p:nvSpPr>
          <p:cNvPr id="3" name="tCW5IxLJ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x1HBawLe"/>
          <p:cNvSpPr/>
          <p:nvPr/>
        </p:nvSpPr>
        <p:spPr>
          <a:xfrm>
            <a:off x="468630" y="1588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5" name="JimdE7Lb"/>
          <p:cNvSpPr/>
          <p:nvPr/>
        </p:nvSpPr>
        <p:spPr>
          <a:xfrm>
            <a:off x="1108710" y="138748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a postura ergonômica correta e posicionar os dedos na linha-guia do teclado.</a:t>
            </a:r>
            <a:endParaRPr lang="en-US" sz="1264" dirty="0"/>
          </a:p>
        </p:txBody>
      </p:sp>
      <p:sp>
        <p:nvSpPr>
          <p:cNvPr id="6" name="VIAgfTSg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DN9RfI8u"/>
          <p:cNvSpPr/>
          <p:nvPr/>
        </p:nvSpPr>
        <p:spPr>
          <a:xfrm>
            <a:off x="468630" y="274307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8" name="4mlELgIR"/>
          <p:cNvSpPr/>
          <p:nvPr/>
        </p:nvSpPr>
        <p:spPr>
          <a:xfrm>
            <a:off x="1108710" y="254191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Empregar os principais atalhos de teclado para agilizar a edição e navegação.</a:t>
            </a:r>
            <a:endParaRPr lang="en-US" sz="1264" dirty="0"/>
          </a:p>
        </p:txBody>
      </p:sp>
      <p:sp>
        <p:nvSpPr>
          <p:cNvPr id="9" name="vB51Lroz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0" name="bp8paKCL"/>
          <p:cNvSpPr/>
          <p:nvPr/>
        </p:nvSpPr>
        <p:spPr>
          <a:xfrm>
            <a:off x="468630" y="38975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1" name="Dxls3xGY"/>
          <p:cNvSpPr/>
          <p:nvPr/>
        </p:nvSpPr>
        <p:spPr>
          <a:xfrm>
            <a:off x="1108710" y="369634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Estruturar e formatar documentos completos com imagens, tabelas e listas organizadas.</a:t>
            </a:r>
            <a:endParaRPr lang="en-US" sz="126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0PrHnQt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Key Vocabulary</a:t>
            </a:r>
            <a:endParaRPr lang="en-US" sz="2246" dirty="0"/>
          </a:p>
        </p:txBody>
      </p:sp>
      <p:pic>
        <p:nvPicPr>
          <p:cNvPr id="3" name="voc01" descr="/home/forge/chalkie-production-workers-3/releases/78875040/backend/storage/app/render-specs/15faccd3-87e2-4d50-b2b4-e7e89553b979/img_cbed9a006c232c4ce5d41352929854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XKgQA9vM"/>
          <p:cNvSpPr/>
          <p:nvPr/>
        </p:nvSpPr>
        <p:spPr>
          <a:xfrm>
            <a:off x="274320" y="3458301"/>
            <a:ext cx="2011680" cy="1440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Produtividade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Capacidade de produzir resultados com agilidade e qualidade.</a:t>
            </a:r>
            <a:endParaRPr lang="en-US" sz="1123" dirty="0"/>
          </a:p>
        </p:txBody>
      </p:sp>
      <p:pic>
        <p:nvPicPr>
          <p:cNvPr id="5" name="voc02" descr="/home/forge/chalkie-production-workers-3/releases/78875040/backend/storage/app/render-specs/15faccd3-87e2-4d50-b2b4-e7e89553b979/img_73ec2fb19fdd586c1550fb2e55d713f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6" name="XPYf7CLj"/>
          <p:cNvSpPr/>
          <p:nvPr/>
        </p:nvSpPr>
        <p:spPr>
          <a:xfrm>
            <a:off x="2468880" y="3081111"/>
            <a:ext cx="2011680" cy="1440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Atalhos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Combinações de teclas que acionam comandos instantâneos.</a:t>
            </a:r>
            <a:endParaRPr lang="en-US" sz="1123" dirty="0"/>
          </a:p>
        </p:txBody>
      </p:sp>
      <p:pic>
        <p:nvPicPr>
          <p:cNvPr id="7" name="voc03" descr="/home/forge/chalkie-production-workers-3/releases/78875040/backend/storage/app/render-specs/15faccd3-87e2-4d50-b2b4-e7e89553b979/img_de5b3b1df1ae5157f58ae5025f36914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8" name="HKHEDP2W"/>
          <p:cNvSpPr/>
          <p:nvPr/>
        </p:nvSpPr>
        <p:spPr>
          <a:xfrm>
            <a:off x="4663440" y="3652611"/>
            <a:ext cx="201168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Ajuste visual de texto, como fonte, tamanho, estilo e cor.</a:t>
            </a:r>
            <a:endParaRPr lang="en-US" sz="1123" dirty="0"/>
          </a:p>
        </p:txBody>
      </p:sp>
      <p:pic>
        <p:nvPicPr>
          <p:cNvPr id="9" name="voc04" descr="/home/forge/chalkie-production-workers-3/releases/78875040/backend/storage/app/render-specs/15faccd3-87e2-4d50-b2b4-e7e89553b979/img_361bf7323e960f08ad58c13d5a2cceb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aOSw67PH"/>
          <p:cNvSpPr/>
          <p:nvPr/>
        </p:nvSpPr>
        <p:spPr>
          <a:xfrm>
            <a:off x="6858000" y="3081111"/>
            <a:ext cx="201168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Documento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Arquivo estruturado contendo informações textuais e visuais.</a:t>
            </a:r>
            <a:endParaRPr lang="en-US" sz="112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ban06" descr="/home/forge/chalkie-production-workers-3/releases/78875040/backend/storage/app/render-specs/15faccd3-87e2-4d50-b2b4-e7e89553b979/img_84da8df149c9e7c723e78e8033f1ab1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171700"/>
          </a:xfrm>
          <a:prstGeom prst="rect">
            <a:avLst/>
          </a:prstGeom>
        </p:spPr>
      </p:pic>
      <p:sp>
        <p:nvSpPr>
          <p:cNvPr id="3" name="cHVCxtEX"/>
          <p:cNvSpPr/>
          <p:nvPr/>
        </p:nvSpPr>
        <p:spPr>
          <a:xfrm>
            <a:off x="274320" y="244975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Digitar com Eficiência?</a:t>
            </a:r>
            <a:endParaRPr lang="en-US" sz="2246" dirty="0"/>
          </a:p>
        </p:txBody>
      </p:sp>
      <p:sp>
        <p:nvSpPr>
          <p:cNvPr id="4" name="7pVKjDsX"/>
          <p:cNvSpPr/>
          <p:nvPr/>
        </p:nvSpPr>
        <p:spPr>
          <a:xfrm>
            <a:off x="274320" y="3262000"/>
            <a:ext cx="8595360" cy="10515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não é apenas apertar teclas: é a forma como traduzimos pensamentos em dados digitais. Quando você aprende a digitar sem olhar para o teclado, seu cérebro foca 100% no conteúdo das suas ideias, e não na busca de cada letra.</a:t>
            </a:r>
            <a:endParaRPr lang="en-US" sz="126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pYQzff"/>
          <p:cNvSpPr/>
          <p:nvPr/>
        </p:nvSpPr>
        <p:spPr>
          <a:xfrm>
            <a:off x="274320" y="186618"/>
            <a:ext cx="27432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Ergonomia e Postura</a:t>
            </a:r>
            <a:endParaRPr lang="en-US" sz="2246" dirty="0"/>
          </a:p>
        </p:txBody>
      </p:sp>
      <p:sp>
        <p:nvSpPr>
          <p:cNvPr id="3" name="yddlK4cO"/>
          <p:cNvSpPr/>
          <p:nvPr/>
        </p:nvSpPr>
        <p:spPr>
          <a:xfrm>
            <a:off x="274320" y="1358356"/>
            <a:ext cx="2743200" cy="6743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Cuidar do corpo evita lesões e cansaço.</a:t>
            </a:r>
            <a:endParaRPr lang="en-US" sz="1123" dirty="0"/>
          </a:p>
        </p:txBody>
      </p:sp>
      <p:pic>
        <p:nvPicPr>
          <p:cNvPr id="4" name="imgerg07" descr="/home/forge/chalkie-production-workers-3/releases/78875040/backend/storage/app/render-specs/15faccd3-87e2-4d50-b2b4-e7e89553b979/img_1f8f80147651817b896b7a3460b05c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5980"/>
            <a:ext cx="2286000" cy="1828800"/>
          </a:xfrm>
          <a:prstGeom prst="rect">
            <a:avLst/>
          </a:prstGeom>
        </p:spPr>
      </p:pic>
      <p:sp>
        <p:nvSpPr>
          <p:cNvPr id="5" name="Vq2T0qM8"/>
          <p:cNvSpPr/>
          <p:nvPr/>
        </p:nvSpPr>
        <p:spPr>
          <a:xfrm>
            <a:off x="3291840" y="164470"/>
            <a:ext cx="5577840" cy="27889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Passar horas em frente ao computador exige cuidados fundamentais com a postura: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 ereta: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Mantenha as costas totalmente apoiadas no encosto da cadeira.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Pés no chão: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Mantenha a sola dos pés firme no piso ou em um descanso.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Altura dos olhos: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topo do monitor deve ficar alinhado à sua linha de visão.</a:t>
            </a:r>
            <a:endParaRPr lang="en-US" sz="1264" dirty="0"/>
          </a:p>
        </p:txBody>
      </p:sp>
      <p:sp>
        <p:nvSpPr>
          <p:cNvPr id="6" name="XcdZSpjn"/>
          <p:cNvSpPr/>
          <p:nvPr/>
        </p:nvSpPr>
        <p:spPr>
          <a:xfrm>
            <a:off x="3291840" y="3154680"/>
            <a:ext cx="5577840" cy="1337310"/>
          </a:xfrm>
          <a:prstGeom prst="roundRect">
            <a:avLst>
              <a:gd name="adj" fmla="val 6838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FbQyqgGF"/>
          <p:cNvSpPr/>
          <p:nvPr/>
        </p:nvSpPr>
        <p:spPr>
          <a:xfrm>
            <a:off x="3417570" y="331069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🧠</a:t>
            </a:r>
            <a:endParaRPr lang="en-US" sz="1685" dirty="0"/>
          </a:p>
        </p:txBody>
      </p:sp>
      <p:sp>
        <p:nvSpPr>
          <p:cNvPr id="8" name="hJH68ffU"/>
          <p:cNvSpPr/>
          <p:nvPr/>
        </p:nvSpPr>
        <p:spPr>
          <a:xfrm>
            <a:off x="3829050" y="3278596"/>
            <a:ext cx="49149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Punhos relaxados e paralelos à mesa evitam lesões por esforço repetitivo (LER).</a:t>
            </a:r>
            <a:endParaRPr lang="en-US" sz="11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QeLVpGK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Linha-Guia do Teclado</a:t>
            </a:r>
            <a:endParaRPr lang="en-US" sz="2246" dirty="0"/>
          </a:p>
        </p:txBody>
      </p:sp>
      <p:sp>
        <p:nvSpPr>
          <p:cNvPr id="3" name="sBmNIaNH"/>
          <p:cNvSpPr/>
          <p:nvPr/>
        </p:nvSpPr>
        <p:spPr>
          <a:xfrm>
            <a:off x="274320" y="1014662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posição base dos dedos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Os dedos repousam na linha central. Mão esquerda nas teclas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A, S, D, F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mão direita nas teclas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J, K, L, Ç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 teclas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J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possuem pequenas saliências táteis para você posicionar os dedos sem precisar olhar!</a:t>
            </a:r>
            <a:endParaRPr lang="en-US" sz="1685" dirty="0"/>
          </a:p>
        </p:txBody>
      </p:sp>
      <p:pic>
        <p:nvPicPr>
          <p:cNvPr id="4" name="imgfjk08" descr="/home/forge/chalkie-production-workers-3/releases/78875040/backend/storage/app/render-specs/15faccd3-87e2-4d50-b2b4-e7e89553b979/img_1755efc86537c7b8ba434fdd9934ee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DZAq79x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Distribuição dos Dedos nas Teclas</a:t>
            </a:r>
            <a:endParaRPr lang="en-US" sz="2246" dirty="0"/>
          </a:p>
        </p:txBody>
      </p:sp>
      <p:sp>
        <p:nvSpPr>
          <p:cNvPr id="3" name="wUU9LPiq"/>
          <p:cNvSpPr/>
          <p:nvPr/>
        </p:nvSpPr>
        <p:spPr>
          <a:xfrm>
            <a:off x="274320" y="101727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icodedo1" descr="/home/forge/chalkie-production-workers-3/releases/78875040/backend/storage/app/render-specs/15faccd3-87e2-4d50-b2b4-e7e89553b979/img_0c7558c2e482c7475893198a3f1984f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165860"/>
            <a:ext cx="548640" cy="548640"/>
          </a:xfrm>
          <a:prstGeom prst="rect">
            <a:avLst/>
          </a:prstGeom>
        </p:spPr>
      </p:pic>
      <p:sp>
        <p:nvSpPr>
          <p:cNvPr id="5" name="OsljpiAl"/>
          <p:cNvSpPr/>
          <p:nvPr/>
        </p:nvSpPr>
        <p:spPr>
          <a:xfrm>
            <a:off x="1062990" y="116325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Indicadores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Cobrem o centro: teclas F, G, R, T, V, B na esquerda; J, H, U, Y, M, N na direita.</a:t>
            </a:r>
            <a:endParaRPr lang="en-US" sz="1685" dirty="0"/>
          </a:p>
        </p:txBody>
      </p:sp>
      <p:sp>
        <p:nvSpPr>
          <p:cNvPr id="6" name="RUOMYwYH"/>
          <p:cNvSpPr/>
          <p:nvPr/>
        </p:nvSpPr>
        <p:spPr>
          <a:xfrm>
            <a:off x="4663440" y="101727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icodedo2" descr="/home/forge/chalkie-production-workers-3/releases/78875040/backend/storage/app/render-specs/15faccd3-87e2-4d50-b2b4-e7e89553b979/img_f0b65c851b6762593400ff54cc3e2e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30" y="1165860"/>
            <a:ext cx="548640" cy="548640"/>
          </a:xfrm>
          <a:prstGeom prst="rect">
            <a:avLst/>
          </a:prstGeom>
        </p:spPr>
      </p:pic>
      <p:sp>
        <p:nvSpPr>
          <p:cNvPr id="8" name="TEz37Q9G"/>
          <p:cNvSpPr/>
          <p:nvPr/>
        </p:nvSpPr>
        <p:spPr>
          <a:xfrm>
            <a:off x="5452110" y="116325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Médios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Responsáveis pelas colunas de E, D, C na esquerda e I, K, vírgula na direita.</a:t>
            </a:r>
            <a:endParaRPr lang="en-US" sz="1685" dirty="0"/>
          </a:p>
        </p:txBody>
      </p:sp>
      <p:sp>
        <p:nvSpPr>
          <p:cNvPr id="9" name="DG44u7lc"/>
          <p:cNvSpPr/>
          <p:nvPr/>
        </p:nvSpPr>
        <p:spPr>
          <a:xfrm>
            <a:off x="274320" y="305181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icodedo3" descr="/home/forge/chalkie-production-workers-3/releases/78875040/backend/storage/app/render-specs/15faccd3-87e2-4d50-b2b4-e7e89553b979/img_828265d3f1f748583626a03afbf1991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3200400"/>
            <a:ext cx="548640" cy="548640"/>
          </a:xfrm>
          <a:prstGeom prst="rect">
            <a:avLst/>
          </a:prstGeom>
        </p:spPr>
      </p:pic>
      <p:sp>
        <p:nvSpPr>
          <p:cNvPr id="11" name="46aax8mF"/>
          <p:cNvSpPr/>
          <p:nvPr/>
        </p:nvSpPr>
        <p:spPr>
          <a:xfrm>
            <a:off x="1062990" y="319779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Anelares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Controlam as colunas de W, S, X na mão esquerda e O, L, ponto na mão direita.</a:t>
            </a:r>
            <a:endParaRPr lang="en-US" sz="1685" dirty="0"/>
          </a:p>
        </p:txBody>
      </p:sp>
      <p:sp>
        <p:nvSpPr>
          <p:cNvPr id="12" name="RZXWJbB0"/>
          <p:cNvSpPr/>
          <p:nvPr/>
        </p:nvSpPr>
        <p:spPr>
          <a:xfrm>
            <a:off x="4663440" y="305181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icodedo4" descr="/home/forge/chalkie-production-workers-3/releases/78875040/backend/storage/app/render-specs/15faccd3-87e2-4d50-b2b4-e7e89553b979/img_9da2a986171e7a1470f8069f8f7b52a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3200400"/>
            <a:ext cx="548640" cy="548640"/>
          </a:xfrm>
          <a:prstGeom prst="rect">
            <a:avLst/>
          </a:prstGeom>
        </p:spPr>
      </p:pic>
      <p:sp>
        <p:nvSpPr>
          <p:cNvPr id="14" name="KGwg3gqT"/>
          <p:cNvSpPr/>
          <p:nvPr/>
        </p:nvSpPr>
        <p:spPr>
          <a:xfrm>
            <a:off x="5452110" y="319779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Mínimos e Polegares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Mínimos operam Shift, Enter e pontuação; polegares cuidam da barra de espaço.</a:t>
            </a:r>
            <a:endParaRPr lang="en-US" sz="16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wivXXrL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Evolução do Treino de Digitação</a:t>
            </a:r>
            <a:endParaRPr lang="en-US" sz="2246" dirty="0"/>
          </a:p>
        </p:txBody>
      </p:sp>
      <p:pic>
        <p:nvPicPr>
          <p:cNvPr id="3" name="trstep01" descr="/home/forge/chalkie-production-workers-3/releases/78875040/backend/storage/app/render-specs/15faccd3-87e2-4d50-b2b4-e7e89553b979/img_e3ae048a9cee4cb86df89509ae131fd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0871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bHRcgrbV"/>
          <p:cNvSpPr/>
          <p:nvPr/>
        </p:nvSpPr>
        <p:spPr>
          <a:xfrm>
            <a:off x="182880" y="328041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w9p75djE"/>
          <p:cNvSpPr/>
          <p:nvPr/>
        </p:nvSpPr>
        <p:spPr>
          <a:xfrm>
            <a:off x="274320" y="3808354"/>
            <a:ext cx="2743200" cy="9829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Posição Base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Memorizar o toque da linha-guia sem mover pulsos.</a:t>
            </a:r>
            <a:endParaRPr lang="en-US" sz="1264" dirty="0"/>
          </a:p>
        </p:txBody>
      </p:sp>
      <p:pic>
        <p:nvPicPr>
          <p:cNvPr id="6" name="trstep02" descr="/home/forge/chalkie-production-workers-3/releases/78875040/backend/storage/app/render-specs/15faccd3-87e2-4d50-b2b4-e7e89553b979/img_8e63bc03d94baac83912cde1085ced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0871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7" name="J8sO6ZLC"/>
          <p:cNvSpPr/>
          <p:nvPr/>
        </p:nvSpPr>
        <p:spPr>
          <a:xfrm>
            <a:off x="3108960" y="328041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x7giYhgy"/>
          <p:cNvSpPr/>
          <p:nvPr/>
        </p:nvSpPr>
        <p:spPr>
          <a:xfrm>
            <a:off x="3200400" y="3808354"/>
            <a:ext cx="2743200" cy="9829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Precisão em Foco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Priorizar a tecla correta em ritmo constante.</a:t>
            </a:r>
            <a:endParaRPr lang="en-US" sz="1264" dirty="0"/>
          </a:p>
        </p:txBody>
      </p:sp>
      <p:pic>
        <p:nvPicPr>
          <p:cNvPr id="9" name="trstep03" descr="/home/forge/chalkie-production-workers-3/releases/78875040/backend/storage/app/render-specs/15faccd3-87e2-4d50-b2b4-e7e89553b979/img_36c1daf9be04cbe2efa13b856076ef6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10871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10" name="8zwxONkN"/>
          <p:cNvSpPr/>
          <p:nvPr/>
        </p:nvSpPr>
        <p:spPr>
          <a:xfrm>
            <a:off x="6035040" y="328041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11" name="kRh6nBHu"/>
          <p:cNvSpPr/>
          <p:nvPr/>
        </p:nvSpPr>
        <p:spPr>
          <a:xfrm>
            <a:off x="6126480" y="3808354"/>
            <a:ext cx="2743200" cy="9829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Velocidade Natural</a:t>
            </a:r>
            <a:endParaRPr lang="en-US" sz="126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Atingir rapidez fluida por memória muscular.</a:t>
            </a:r>
            <a:endParaRPr lang="en-US" sz="126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2c132e2-52db-497c-a368-dc5582e41c01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Postura</a:t>
            </a:r>
            <a:endParaRPr lang="en-US" sz="2246" dirty="0"/>
          </a:p>
        </p:txBody>
      </p:sp>
      <p:sp>
        <p:nvSpPr>
          <p:cNvPr id="3" name="b89c8109-fe22-4641-ac34-6ea5169f95b0"/>
          <p:cNvSpPr/>
          <p:nvPr/>
        </p:nvSpPr>
        <p:spPr>
          <a:xfrm>
            <a:off x="285750" y="683837"/>
            <a:ext cx="8572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as teclas F e J possuem pequenas marcas táteis salientes?</a:t>
            </a:r>
            <a:endParaRPr lang="en-US" sz="1264" dirty="0"/>
          </a:p>
        </p:txBody>
      </p:sp>
      <p:sp>
        <p:nvSpPr>
          <p:cNvPr id="4" name="cfdd9408-2451-47c9-990b-16932b18df44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61f1392d-19ad-454c-be51-ac6ab173d487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separar o teclado alfabético do teclado numérico</a:t>
            </a:r>
            <a:endParaRPr lang="en-US" sz="1264" dirty="0"/>
          </a:p>
        </p:txBody>
      </p:sp>
      <p:sp>
        <p:nvSpPr>
          <p:cNvPr id="6" name="d9cd83f5-a5a5-42e5-849f-04d8db257e1e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f73a013f-6a9f-46de-83dd-16c4e99215db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indicar onde o usuário deve apoiar os dedos polegares</a:t>
            </a:r>
            <a:endParaRPr lang="en-US" sz="1264" dirty="0"/>
          </a:p>
        </p:txBody>
      </p:sp>
      <p:sp>
        <p:nvSpPr>
          <p:cNvPr id="8" name="1b032a1e-6b82-4a18-9ebb-ced92b133b19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e3bba24-77dd-4cd3-acf9-bab899302143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posicionar os dedos indicadores na linha-guia sem olhar</a:t>
            </a:r>
            <a:endParaRPr lang="en-US" sz="1264" dirty="0"/>
          </a:p>
        </p:txBody>
      </p:sp>
      <p:sp>
        <p:nvSpPr>
          <p:cNvPr id="10" name="d838b92e-e521-4bf5-a882-5d48d101493f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d421fb6f-cf52-48fe-8fa1-8fb273669877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sinalizar que são as teclas mais usadas na digitação</a:t>
            </a:r>
            <a:endParaRPr lang="en-US" sz="126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2c132e2-52db-497c-a368-dc5582e41c01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Postura</a:t>
            </a:r>
            <a:endParaRPr lang="en-US" sz="2246" dirty="0"/>
          </a:p>
        </p:txBody>
      </p:sp>
      <p:sp>
        <p:nvSpPr>
          <p:cNvPr id="3" name="b89c8109-fe22-4641-ac34-6ea5169f95b0"/>
          <p:cNvSpPr/>
          <p:nvPr/>
        </p:nvSpPr>
        <p:spPr>
          <a:xfrm>
            <a:off x="285750" y="683837"/>
            <a:ext cx="8572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as teclas F e J possuem pequenas marcas táteis salientes?</a:t>
            </a:r>
            <a:endParaRPr lang="en-US" sz="1264" dirty="0"/>
          </a:p>
        </p:txBody>
      </p:sp>
      <p:sp>
        <p:nvSpPr>
          <p:cNvPr id="4" name="cfdd9408-2451-47c9-990b-16932b18df44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61f1392d-19ad-454c-be51-ac6ab173d487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separar o teclado alfabético do teclado numérico</a:t>
            </a:r>
            <a:endParaRPr lang="en-US" sz="1264" dirty="0"/>
          </a:p>
        </p:txBody>
      </p:sp>
      <p:sp>
        <p:nvSpPr>
          <p:cNvPr id="6" name="d9cd83f5-a5a5-42e5-849f-04d8db257e1e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f73a013f-6a9f-46de-83dd-16c4e99215db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indicar onde o usuário deve apoiar os dedos polegares</a:t>
            </a:r>
            <a:endParaRPr lang="en-US" sz="1264" dirty="0"/>
          </a:p>
        </p:txBody>
      </p:sp>
      <p:sp>
        <p:nvSpPr>
          <p:cNvPr id="8" name="1b032a1e-6b82-4a18-9ebb-ced92b133b19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ce3bba24-77dd-4cd3-acf9-bab899302143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posicionar os dedos indicadores na linha-guia sem olhar</a:t>
            </a:r>
            <a:endParaRPr lang="en-US" sz="1264" dirty="0"/>
          </a:p>
        </p:txBody>
      </p:sp>
      <p:sp>
        <p:nvSpPr>
          <p:cNvPr id="10" name="d838b92e-e521-4bf5-a882-5d48d101493f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d421fb6f-cf52-48fe-8fa1-8fb273669877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sinalizar que são as teclas mais usadas na digitação</a:t>
            </a:r>
            <a:endParaRPr lang="en-US" sz="1264" dirty="0"/>
          </a:p>
        </p:txBody>
      </p:sp>
      <p:sp>
        <p:nvSpPr>
          <p:cNvPr id="12" name="41d13793-849d-4b4e-8c10-43f40c8115cf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03f0ef2b-957b-4886-b0bf-25b7eec0c5db"/>
          <p:cNvSpPr/>
          <p:nvPr/>
        </p:nvSpPr>
        <p:spPr>
          <a:xfrm>
            <a:off x="8721090" y="32332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fXM3g4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Poder dos Atalhos de Teclado</a:t>
            </a:r>
            <a:endParaRPr lang="en-US" sz="2246" dirty="0"/>
          </a:p>
        </p:txBody>
      </p:sp>
      <p:sp>
        <p:nvSpPr>
          <p:cNvPr id="3" name="VQmCt3BX"/>
          <p:cNvSpPr/>
          <p:nvPr/>
        </p:nvSpPr>
        <p:spPr>
          <a:xfrm>
            <a:off x="274320" y="1014662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Menos mouse, mais agilidade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Toda vez que você tira a mão do teclado para usar o mouse em comandos repetitivos, você perde preciosos segundos e quebra seu fluxo de raciocínio.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Atalhos combinam teclas modificadoras como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(ou Command no Mac) e letras específicas para executar tarefas instantaneamente.</a:t>
            </a:r>
            <a:endParaRPr lang="en-US" sz="1685" dirty="0"/>
          </a:p>
        </p:txBody>
      </p:sp>
      <p:pic>
        <p:nvPicPr>
          <p:cNvPr id="4" name="imgkey12" descr="/home/forge/chalkie-production-workers-3/releases/78875040/backend/storage/app/render-specs/15faccd3-87e2-4d50-b2b4-e7e89553b979/img_106a849cc7e16eee3d729beddef5003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P3GG51m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Atalhos de Edição Essenciais</a:t>
            </a:r>
            <a:endParaRPr lang="en-US" sz="2246" dirty="0"/>
          </a:p>
        </p:txBody>
      </p:sp>
      <p:pic>
        <p:nvPicPr>
          <p:cNvPr id="3" name="atcopy13" descr="/home/forge/chalkie-production-workers-3/releases/78875040/backend/storage/app/render-specs/15faccd3-87e2-4d50-b2b4-e7e89553b979/img_c89e1ad2e5bd21fa39b5b28741e5bb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KAzkYIGn"/>
          <p:cNvSpPr/>
          <p:nvPr/>
        </p:nvSpPr>
        <p:spPr>
          <a:xfrm>
            <a:off x="274320" y="3037772"/>
            <a:ext cx="28117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C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Copiar: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Duplica o trecho selecionado para a área de transferência do sistema.</a:t>
            </a:r>
            <a:endParaRPr lang="en-US" sz="1685" dirty="0"/>
          </a:p>
        </p:txBody>
      </p:sp>
      <p:pic>
        <p:nvPicPr>
          <p:cNvPr id="5" name="atcut13" descr="/home/forge/chalkie-production-workers-3/releases/78875040/backend/storage/app/render-specs/15faccd3-87e2-4d50-b2b4-e7e89553b979/img_e7f1bf837ad1d6604246b87d1049fe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1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iseQOAfI"/>
          <p:cNvSpPr/>
          <p:nvPr/>
        </p:nvSpPr>
        <p:spPr>
          <a:xfrm>
            <a:off x="3166110" y="3037772"/>
            <a:ext cx="281178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X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Recortar: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Remove o conteúdo selecionado do local original e o guarda na memória.</a:t>
            </a:r>
            <a:endParaRPr lang="en-US" sz="1685" dirty="0"/>
          </a:p>
        </p:txBody>
      </p:sp>
      <p:pic>
        <p:nvPicPr>
          <p:cNvPr id="7" name="atpaste13" descr="/home/forge/chalkie-production-workers-3/releases/78875040/backend/storage/app/render-specs/15faccd3-87e2-4d50-b2b4-e7e89553b979/img_e6af52849ac44032306bab14a00e68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8" name="CjxJGSMD"/>
          <p:cNvSpPr/>
          <p:nvPr/>
        </p:nvSpPr>
        <p:spPr>
          <a:xfrm>
            <a:off x="6069330" y="3037772"/>
            <a:ext cx="28117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V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Colar: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Insere no cursor o conteúdo armazenado na área de transferência.</a:t>
            </a:r>
            <a:endParaRPr lang="en-US" sz="168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i5ZF1g"/>
          <p:cNvSpPr/>
          <p:nvPr/>
        </p:nvSpPr>
        <p:spPr>
          <a:xfrm>
            <a:off x="274320" y="186618"/>
            <a:ext cx="27432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Desfazer e Refazer Ações</a:t>
            </a:r>
            <a:endParaRPr lang="en-US" sz="2246" dirty="0"/>
          </a:p>
        </p:txBody>
      </p:sp>
      <p:sp>
        <p:nvSpPr>
          <p:cNvPr id="3" name="gTmhFmys"/>
          <p:cNvSpPr/>
          <p:nvPr/>
        </p:nvSpPr>
        <p:spPr>
          <a:xfrm>
            <a:off x="274320" y="1358356"/>
            <a:ext cx="2743200" cy="6743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Seu salva-vidas contra erros acidentais.</a:t>
            </a:r>
            <a:endParaRPr lang="en-US" sz="1123" dirty="0"/>
          </a:p>
        </p:txBody>
      </p:sp>
      <p:pic>
        <p:nvPicPr>
          <p:cNvPr id="4" name="imgundo14" descr="/home/forge/chalkie-production-workers-3/releases/78875040/backend/storage/app/render-specs/15faccd3-87e2-4d50-b2b4-e7e89553b979/img_30c7e844cf9062c318f436a2c45482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5980"/>
            <a:ext cx="2286000" cy="1828800"/>
          </a:xfrm>
          <a:prstGeom prst="rect">
            <a:avLst/>
          </a:prstGeom>
        </p:spPr>
      </p:pic>
      <p:sp>
        <p:nvSpPr>
          <p:cNvPr id="5" name="F3ksVra4"/>
          <p:cNvSpPr/>
          <p:nvPr/>
        </p:nvSpPr>
        <p:spPr>
          <a:xfrm>
            <a:off x="3291840" y="180272"/>
            <a:ext cx="5577840" cy="20574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Nunca entre em pânico!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Apagou um parágrafo inteiro sem querer? O atalho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Z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reverte a última modificação imediatamente.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 se você desfez demais? O atalho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Y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(ou Ctrl + Shift + Z no Docs) refaz a alteração cancelada.</a:t>
            </a:r>
            <a:endParaRPr lang="en-US" sz="1685" dirty="0"/>
          </a:p>
        </p:txBody>
      </p:sp>
      <p:sp>
        <p:nvSpPr>
          <p:cNvPr id="6" name="SakeBpgA"/>
          <p:cNvSpPr/>
          <p:nvPr/>
        </p:nvSpPr>
        <p:spPr>
          <a:xfrm>
            <a:off x="3291840" y="2423160"/>
            <a:ext cx="5577840" cy="1337310"/>
          </a:xfrm>
          <a:prstGeom prst="roundRect">
            <a:avLst>
              <a:gd name="adj" fmla="val 6838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YkgijDeY"/>
          <p:cNvSpPr/>
          <p:nvPr/>
        </p:nvSpPr>
        <p:spPr>
          <a:xfrm>
            <a:off x="3417570" y="257917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💡</a:t>
            </a:r>
            <a:endParaRPr lang="en-US" sz="1685" dirty="0"/>
          </a:p>
        </p:txBody>
      </p:sp>
      <p:sp>
        <p:nvSpPr>
          <p:cNvPr id="8" name="gZCVZT93"/>
          <p:cNvSpPr/>
          <p:nvPr/>
        </p:nvSpPr>
        <p:spPr>
          <a:xfrm>
            <a:off x="3829050" y="2547076"/>
            <a:ext cx="49149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Dica de ouro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Z funciona em praticamente todos os programas, desde editores até navegadores.</a:t>
            </a:r>
            <a:endParaRPr lang="en-US" sz="112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fmOKQq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Atalhos de Seleção e Busca</a:t>
            </a:r>
            <a:endParaRPr lang="en-US" sz="2246" dirty="0"/>
          </a:p>
        </p:txBody>
      </p:sp>
      <p:sp>
        <p:nvSpPr>
          <p:cNvPr id="3" name="rbyAeGoO"/>
          <p:cNvSpPr/>
          <p:nvPr/>
        </p:nvSpPr>
        <p:spPr>
          <a:xfrm>
            <a:off x="274320" y="101727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icoselec1" descr="/home/forge/chalkie-production-workers-3/releases/78875040/backend/storage/app/render-specs/15faccd3-87e2-4d50-b2b4-e7e89553b979/img_884ab734c91628c3cefc679121090bc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165860"/>
            <a:ext cx="548640" cy="548640"/>
          </a:xfrm>
          <a:prstGeom prst="rect">
            <a:avLst/>
          </a:prstGeom>
        </p:spPr>
      </p:pic>
      <p:sp>
        <p:nvSpPr>
          <p:cNvPr id="5" name="2OOmFbWP"/>
          <p:cNvSpPr/>
          <p:nvPr/>
        </p:nvSpPr>
        <p:spPr>
          <a:xfrm>
            <a:off x="1062990" y="116325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A (ou Ctrl + T)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Seleciona todo o texto e elementos do documento de uma única vez.</a:t>
            </a:r>
            <a:endParaRPr lang="en-US" sz="1685" dirty="0"/>
          </a:p>
        </p:txBody>
      </p:sp>
      <p:sp>
        <p:nvSpPr>
          <p:cNvPr id="6" name="w2OwQXrN"/>
          <p:cNvSpPr/>
          <p:nvPr/>
        </p:nvSpPr>
        <p:spPr>
          <a:xfrm>
            <a:off x="4663440" y="101727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icofind2" descr="/home/forge/chalkie-production-workers-3/releases/78875040/backend/storage/app/render-specs/15faccd3-87e2-4d50-b2b4-e7e89553b979/img_e65313fe5efaa7adf4031d5f99d5ad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30" y="1165860"/>
            <a:ext cx="548640" cy="548640"/>
          </a:xfrm>
          <a:prstGeom prst="rect">
            <a:avLst/>
          </a:prstGeom>
        </p:spPr>
      </p:pic>
      <p:sp>
        <p:nvSpPr>
          <p:cNvPr id="8" name="gVuFQzkj"/>
          <p:cNvSpPr/>
          <p:nvPr/>
        </p:nvSpPr>
        <p:spPr>
          <a:xfrm>
            <a:off x="5452110" y="116325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F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Abre a barra de localização para encontrar palavras específicas instantaneamente.</a:t>
            </a:r>
            <a:endParaRPr lang="en-US" sz="1685" dirty="0"/>
          </a:p>
        </p:txBody>
      </p:sp>
      <p:sp>
        <p:nvSpPr>
          <p:cNvPr id="9" name="wj8p5B5C"/>
          <p:cNvSpPr/>
          <p:nvPr/>
        </p:nvSpPr>
        <p:spPr>
          <a:xfrm>
            <a:off x="274320" y="305181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icosave3" descr="/home/forge/chalkie-production-workers-3/releases/78875040/backend/storage/app/render-specs/15faccd3-87e2-4d50-b2b4-e7e89553b979/img_40c44c1629afca5203a8a3e3033456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3200400"/>
            <a:ext cx="548640" cy="548640"/>
          </a:xfrm>
          <a:prstGeom prst="rect">
            <a:avLst/>
          </a:prstGeom>
        </p:spPr>
      </p:pic>
      <p:sp>
        <p:nvSpPr>
          <p:cNvPr id="11" name="H7GMQX2m"/>
          <p:cNvSpPr/>
          <p:nvPr/>
        </p:nvSpPr>
        <p:spPr>
          <a:xfrm>
            <a:off x="1062990" y="319779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S (ou Ctrl + B)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Salva as alterações recentes do documento no armazenamento local ou nuvem.</a:t>
            </a:r>
            <a:endParaRPr lang="en-US" sz="1685" dirty="0"/>
          </a:p>
        </p:txBody>
      </p:sp>
      <p:sp>
        <p:nvSpPr>
          <p:cNvPr id="12" name="sBZAnnwL"/>
          <p:cNvSpPr/>
          <p:nvPr/>
        </p:nvSpPr>
        <p:spPr>
          <a:xfrm>
            <a:off x="4663440" y="305181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icoprint4" descr="/home/forge/chalkie-production-workers-3/releases/78875040/backend/storage/app/render-specs/15faccd3-87e2-4d50-b2b4-e7e89553b979/img_dd03900d1ce7aac3e2060cf378a621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3200400"/>
            <a:ext cx="548640" cy="548640"/>
          </a:xfrm>
          <a:prstGeom prst="rect">
            <a:avLst/>
          </a:prstGeom>
        </p:spPr>
      </p:pic>
      <p:sp>
        <p:nvSpPr>
          <p:cNvPr id="14" name="yt0W60tY"/>
          <p:cNvSpPr/>
          <p:nvPr/>
        </p:nvSpPr>
        <p:spPr>
          <a:xfrm>
            <a:off x="5452110" y="319779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P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Abre a caixa de diálogo de impressão ou geração de arquivo em PDF.</a:t>
            </a:r>
            <a:endParaRPr lang="en-US" sz="168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11889be-3ae4-4a66-83e4-4670340edd29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Conexão de Atalhos</a:t>
            </a:r>
            <a:endParaRPr lang="en-US" sz="2246" dirty="0"/>
          </a:p>
        </p:txBody>
      </p:sp>
      <p:sp>
        <p:nvSpPr>
          <p:cNvPr id="3" name="ea2c08fc-0968-4a85-a68a-aa0e44644c06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552ac8dd-62dc-4926-8063-1ebe4e3a056c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Z</a:t>
            </a:r>
            <a:endParaRPr lang="en-US" sz="1404" dirty="0"/>
          </a:p>
        </p:txBody>
      </p:sp>
      <p:sp>
        <p:nvSpPr>
          <p:cNvPr id="5" name="27024f2e-ea29-4b7b-8717-8383beb1d541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C</a:t>
            </a:r>
            <a:endParaRPr lang="en-US" sz="1404" dirty="0"/>
          </a:p>
        </p:txBody>
      </p:sp>
      <p:sp>
        <p:nvSpPr>
          <p:cNvPr id="6" name="efe3a81f-a06c-48fc-a8e6-210f0582cef4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V</a:t>
            </a:r>
            <a:endParaRPr lang="en-US" sz="1404" dirty="0"/>
          </a:p>
        </p:txBody>
      </p:sp>
      <p:sp>
        <p:nvSpPr>
          <p:cNvPr id="7" name="3340a8cb-98f2-42f1-9bbc-8447631e0b0f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F</a:t>
            </a:r>
            <a:endParaRPr lang="en-US" sz="1404" dirty="0"/>
          </a:p>
        </p:txBody>
      </p:sp>
      <p:sp>
        <p:nvSpPr>
          <p:cNvPr id="8" name="71d16bf4-e73b-41b9-aff6-49ff6eae61d3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Duplica o texto selecionado na área de transferência</a:t>
            </a:r>
            <a:endParaRPr lang="en-US" sz="1264" dirty="0"/>
          </a:p>
        </p:txBody>
      </p:sp>
      <p:sp>
        <p:nvSpPr>
          <p:cNvPr id="9" name="72a05e6d-e759-499a-9859-54ab6f9bc278"/>
          <p:cNvSpPr/>
          <p:nvPr/>
        </p:nvSpPr>
        <p:spPr>
          <a:xfrm>
            <a:off x="3829050" y="2226887"/>
            <a:ext cx="5143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Desfaz a última ação realizada no documento</a:t>
            </a:r>
            <a:endParaRPr lang="en-US" sz="1264" dirty="0"/>
          </a:p>
        </p:txBody>
      </p:sp>
      <p:sp>
        <p:nvSpPr>
          <p:cNvPr id="10" name="023c70a8-258d-4a46-8d42-75946e1ecabc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Cola o conteúdo copiado na posição atual do cursor</a:t>
            </a:r>
            <a:endParaRPr lang="en-US" sz="1264" dirty="0"/>
          </a:p>
        </p:txBody>
      </p:sp>
      <p:sp>
        <p:nvSpPr>
          <p:cNvPr id="11" name="d80e4f82-d428-4430-bead-6d56c3ea5f84"/>
          <p:cNvSpPr/>
          <p:nvPr/>
        </p:nvSpPr>
        <p:spPr>
          <a:xfrm>
            <a:off x="3829050" y="40556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Abre a ferramenta de busca para encontrar palavras</a:t>
            </a:r>
            <a:endParaRPr lang="en-US" sz="12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11889be-3ae4-4a66-83e4-4670340edd29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Conexão de Atalhos</a:t>
            </a:r>
            <a:endParaRPr lang="en-US" sz="2246" dirty="0"/>
          </a:p>
        </p:txBody>
      </p:sp>
      <p:sp>
        <p:nvSpPr>
          <p:cNvPr id="3" name="ea2c08fc-0968-4a85-a68a-aa0e44644c06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552ac8dd-62dc-4926-8063-1ebe4e3a056c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Z</a:t>
            </a:r>
            <a:endParaRPr lang="en-US" sz="1404" dirty="0"/>
          </a:p>
        </p:txBody>
      </p:sp>
      <p:sp>
        <p:nvSpPr>
          <p:cNvPr id="5" name="27024f2e-ea29-4b7b-8717-8383beb1d541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C</a:t>
            </a:r>
            <a:endParaRPr lang="en-US" sz="1404" dirty="0"/>
          </a:p>
        </p:txBody>
      </p:sp>
      <p:sp>
        <p:nvSpPr>
          <p:cNvPr id="6" name="efe3a81f-a06c-48fc-a8e6-210f0582cef4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V</a:t>
            </a:r>
            <a:endParaRPr lang="en-US" sz="1404" dirty="0"/>
          </a:p>
        </p:txBody>
      </p:sp>
      <p:sp>
        <p:nvSpPr>
          <p:cNvPr id="7" name="3340a8cb-98f2-42f1-9bbc-8447631e0b0f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F</a:t>
            </a:r>
            <a:endParaRPr lang="en-US" sz="1404" dirty="0"/>
          </a:p>
        </p:txBody>
      </p:sp>
      <p:sp>
        <p:nvSpPr>
          <p:cNvPr id="8" name="71d16bf4-e73b-41b9-aff6-49ff6eae61d3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Duplica o texto selecionado na área de transferência</a:t>
            </a:r>
            <a:endParaRPr lang="en-US" sz="1264" dirty="0"/>
          </a:p>
        </p:txBody>
      </p:sp>
      <p:sp>
        <p:nvSpPr>
          <p:cNvPr id="9" name="72a05e6d-e759-499a-9859-54ab6f9bc278"/>
          <p:cNvSpPr/>
          <p:nvPr/>
        </p:nvSpPr>
        <p:spPr>
          <a:xfrm>
            <a:off x="3829050" y="2226887"/>
            <a:ext cx="5143500" cy="4389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Desfaz a última ação realizada no documento</a:t>
            </a:r>
            <a:endParaRPr lang="en-US" sz="1264" dirty="0"/>
          </a:p>
        </p:txBody>
      </p:sp>
      <p:sp>
        <p:nvSpPr>
          <p:cNvPr id="10" name="023c70a8-258d-4a46-8d42-75946e1ecabc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Cola o conteúdo copiado na posição atual do cursor</a:t>
            </a:r>
            <a:endParaRPr lang="en-US" sz="1264" dirty="0"/>
          </a:p>
        </p:txBody>
      </p:sp>
      <p:sp>
        <p:nvSpPr>
          <p:cNvPr id="11" name="d80e4f82-d428-4430-bead-6d56c3ea5f84"/>
          <p:cNvSpPr/>
          <p:nvPr/>
        </p:nvSpPr>
        <p:spPr>
          <a:xfrm>
            <a:off x="3829050" y="40556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Abre a ferramenta de busca para encontrar palavras</a:t>
            </a:r>
            <a:endParaRPr lang="en-US" sz="1264" dirty="0"/>
          </a:p>
        </p:txBody>
      </p:sp>
      <p:sp>
        <p:nvSpPr>
          <p:cNvPr id="12" name="4dd2ec27-92e0-4520-a7c5-d40af726d924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connector-63db1373-b6d7-445d-9a22-c7b87f668ee1-0"/>
          <p:cNvSpPr/>
          <p:nvPr/>
        </p:nvSpPr>
        <p:spPr>
          <a:xfrm>
            <a:off x="2571750" y="1623060"/>
            <a:ext cx="994410" cy="825246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4" name="connector-63db1373-b6d7-445d-9a22-c7b87f668ee1-1"/>
          <p:cNvSpPr/>
          <p:nvPr/>
        </p:nvSpPr>
        <p:spPr>
          <a:xfrm flipV="1">
            <a:off x="2571750" y="1661414"/>
            <a:ext cx="994410" cy="876046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5" name="connector-63db1373-b6d7-445d-9a22-c7b87f668ee1-2"/>
          <p:cNvSpPr/>
          <p:nvPr/>
        </p:nvSpPr>
        <p:spPr>
          <a:xfrm>
            <a:off x="2571750" y="3451860"/>
            <a:ext cx="994410" cy="38354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6" name="connector-63db1373-b6d7-445d-9a22-c7b87f668ee1-3"/>
          <p:cNvSpPr/>
          <p:nvPr/>
        </p:nvSpPr>
        <p:spPr>
          <a:xfrm>
            <a:off x="2571750" y="4366260"/>
            <a:ext cx="994410" cy="38354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7" name="adada8a6-f1a4-4970-9a76-5c3d01f21c2c"/>
          <p:cNvSpPr/>
          <p:nvPr/>
        </p:nvSpPr>
        <p:spPr>
          <a:xfrm>
            <a:off x="3394710" y="2275446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</a:t>
            </a:r>
            <a:endParaRPr lang="en-US" sz="913" dirty="0"/>
          </a:p>
        </p:txBody>
      </p:sp>
      <p:sp>
        <p:nvSpPr>
          <p:cNvPr id="18" name="c0f65f63-5ba7-44ff-bb54-d982eb27b3e4"/>
          <p:cNvSpPr/>
          <p:nvPr/>
        </p:nvSpPr>
        <p:spPr>
          <a:xfrm>
            <a:off x="3394710" y="14885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</a:t>
            </a:r>
            <a:endParaRPr lang="en-US" sz="913" dirty="0"/>
          </a:p>
        </p:txBody>
      </p:sp>
      <p:sp>
        <p:nvSpPr>
          <p:cNvPr id="19" name="cae02835-5925-40bf-9b83-9918d1cd5960"/>
          <p:cNvSpPr/>
          <p:nvPr/>
        </p:nvSpPr>
        <p:spPr>
          <a:xfrm>
            <a:off x="3394710" y="33173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</a:t>
            </a:r>
            <a:endParaRPr lang="en-US" sz="913" dirty="0"/>
          </a:p>
        </p:txBody>
      </p:sp>
      <p:sp>
        <p:nvSpPr>
          <p:cNvPr id="20" name="dcdd8be6-586a-4ab2-8ddf-2e00be236b2d"/>
          <p:cNvSpPr/>
          <p:nvPr/>
        </p:nvSpPr>
        <p:spPr>
          <a:xfrm>
            <a:off x="3394710" y="42317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</a:t>
            </a:r>
            <a:endParaRPr lang="en-US" sz="91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ban17" descr="/home/forge/chalkie-production-workers-3/releases/78875040/backend/storage/app/render-specs/15faccd3-87e2-4d50-b2b4-e7e89553b979/img_e8c60bac30acb91f8b1531f1a1e442f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171700"/>
          </a:xfrm>
          <a:prstGeom prst="rect">
            <a:avLst/>
          </a:prstGeom>
        </p:spPr>
      </p:pic>
      <p:sp>
        <p:nvSpPr>
          <p:cNvPr id="3" name="4gWEKPQt"/>
          <p:cNvSpPr/>
          <p:nvPr/>
        </p:nvSpPr>
        <p:spPr>
          <a:xfrm>
            <a:off x="274320" y="244975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Introdução aos Editores de Texto</a:t>
            </a:r>
            <a:endParaRPr lang="en-US" sz="2246" dirty="0"/>
          </a:p>
        </p:txBody>
      </p:sp>
      <p:sp>
        <p:nvSpPr>
          <p:cNvPr id="4" name="66xNnGEY"/>
          <p:cNvSpPr/>
          <p:nvPr/>
        </p:nvSpPr>
        <p:spPr>
          <a:xfrm>
            <a:off x="274320" y="3262000"/>
            <a:ext cx="8595360" cy="10515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editor de texto moderno não serve apenas para escrever palavras, mas para criar publicações organizadas, relatórios escolares e colaborações em equipe com acabamento profissional.</a:t>
            </a:r>
            <a:endParaRPr lang="en-US" sz="126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Uk4Jio7"/>
          <p:cNvSpPr/>
          <p:nvPr/>
        </p:nvSpPr>
        <p:spPr>
          <a:xfrm>
            <a:off x="274320" y="186618"/>
            <a:ext cx="27432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Editores Populares</a:t>
            </a:r>
            <a:endParaRPr lang="en-US" sz="2246" dirty="0"/>
          </a:p>
        </p:txBody>
      </p:sp>
      <p:sp>
        <p:nvSpPr>
          <p:cNvPr id="3" name="PCzBRrvD"/>
          <p:cNvSpPr/>
          <p:nvPr/>
        </p:nvSpPr>
        <p:spPr>
          <a:xfrm>
            <a:off x="274320" y="1358356"/>
            <a:ext cx="2743200" cy="6743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Opções na nuvem e no computador.</a:t>
            </a:r>
            <a:endParaRPr lang="en-US" sz="1123" dirty="0"/>
          </a:p>
        </p:txBody>
      </p:sp>
      <p:pic>
        <p:nvPicPr>
          <p:cNvPr id="4" name="imgsoft18" descr="/home/forge/chalkie-production-workers-3/releases/78875040/backend/storage/app/render-specs/15faccd3-87e2-4d50-b2b4-e7e89553b979/img_69cf73ccc3bcccc67e1a1ae80420c4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5980"/>
            <a:ext cx="2286000" cy="1828800"/>
          </a:xfrm>
          <a:prstGeom prst="rect">
            <a:avLst/>
          </a:prstGeom>
        </p:spPr>
      </p:pic>
      <p:sp>
        <p:nvSpPr>
          <p:cNvPr id="5" name="bslVHdVD"/>
          <p:cNvSpPr/>
          <p:nvPr/>
        </p:nvSpPr>
        <p:spPr>
          <a:xfrm>
            <a:off x="3291840" y="164470"/>
            <a:ext cx="5577840" cy="2834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Google Docs: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Gratuito, roda direto no navegador, salva automaticamente no Google Drive e permite colaboração em tempo real com colegas.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LibreOffice Writer: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Programa gratuito de código aberto completo, instalado localmente e sem dependência de internet.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WordPad / Word: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Soluções do Windows, indo do simples leitor básico até o editor padrão corporativo.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WAwlXQ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Interface do Editor de Texto</a:t>
            </a:r>
            <a:endParaRPr lang="en-US" sz="2246" dirty="0"/>
          </a:p>
        </p:txBody>
      </p:sp>
      <p:sp>
        <p:nvSpPr>
          <p:cNvPr id="3" name="UcZdpGpF"/>
          <p:cNvSpPr/>
          <p:nvPr/>
        </p:nvSpPr>
        <p:spPr>
          <a:xfrm>
            <a:off x="274320" y="998860"/>
            <a:ext cx="85953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Entenda a divisão estrutural padrão presente em quase todos os programas de edição:</a:t>
            </a:r>
            <a:endParaRPr lang="en-US" sz="1264" dirty="0"/>
          </a:p>
        </p:txBody>
      </p:sp>
      <p:pic>
        <p:nvPicPr>
          <p:cNvPr id="4" name="diagint19" descr="/home/forge/chalkie-production-workers-3/releases/78875040/backend/storage/app/render-specs/15faccd3-87e2-4d50-b2b4-e7e89553b979/img_e7d982b2fcf3e9061469ad813fa1dc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7772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SRgoRSx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Explorando as Regiões da Tela</a:t>
            </a:r>
            <a:endParaRPr lang="en-US" sz="2246" dirty="0"/>
          </a:p>
        </p:txBody>
      </p:sp>
      <p:pic>
        <p:nvPicPr>
          <p:cNvPr id="3" name="uipart01" descr="/home/forge/chalkie-production-workers-3/releases/78875040/backend/storage/app/render-specs/15faccd3-87e2-4d50-b2b4-e7e89553b979/img_fac547b14b982fe138285b0f5bbb3b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geV9Q9hu"/>
          <p:cNvSpPr/>
          <p:nvPr/>
        </p:nvSpPr>
        <p:spPr>
          <a:xfrm>
            <a:off x="274320" y="3037772"/>
            <a:ext cx="281178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 de Menus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Concentra comandos em categorias lógicas: Arquivo, Editar, Ver, Inserir e Formatar.</a:t>
            </a:r>
            <a:endParaRPr lang="en-US" sz="1685" dirty="0"/>
          </a:p>
        </p:txBody>
      </p:sp>
      <p:pic>
        <p:nvPicPr>
          <p:cNvPr id="5" name="uipart02" descr="/home/forge/chalkie-production-workers-3/releases/78875040/backend/storage/app/render-specs/15faccd3-87e2-4d50-b2b4-e7e89553b979/img_cf10f5632f0fe53d93943a15b02ca2a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1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Rw7AJ4fe"/>
          <p:cNvSpPr/>
          <p:nvPr/>
        </p:nvSpPr>
        <p:spPr>
          <a:xfrm>
            <a:off x="3166110" y="3037772"/>
            <a:ext cx="281178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 de Ícones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Botoeira de acesso rápido para mudar fontes, tamanhos, cores e alinhamento com um clique.</a:t>
            </a:r>
            <a:endParaRPr lang="en-US" sz="1685" dirty="0"/>
          </a:p>
        </p:txBody>
      </p:sp>
      <p:pic>
        <p:nvPicPr>
          <p:cNvPr id="7" name="uipart03" descr="/home/forge/chalkie-production-workers-3/releases/78875040/backend/storage/app/render-specs/15faccd3-87e2-4d50-b2b4-e7e89553b979/img_eb2e6f467faf7aa85b860b966f24e0d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925830"/>
            <a:ext cx="281178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8" name="4Y8Ijp6N"/>
          <p:cNvSpPr/>
          <p:nvPr/>
        </p:nvSpPr>
        <p:spPr>
          <a:xfrm>
            <a:off x="6069330" y="3037772"/>
            <a:ext cx="281178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Área do Documento</a:t>
            </a:r>
            <a:endParaRPr lang="en-US" sz="1685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folha virtual delimitada por réguas e margens, onde seu texto e elementos são exibidos.</a:t>
            </a:r>
            <a:endParaRPr lang="en-US" sz="168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FJboHY"/>
          <p:cNvSpPr/>
          <p:nvPr/>
        </p:nvSpPr>
        <p:spPr>
          <a:xfrm>
            <a:off x="274320" y="186618"/>
            <a:ext cx="41148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Básica de Caracteres</a:t>
            </a:r>
            <a:endParaRPr lang="en-US" sz="2246" dirty="0"/>
          </a:p>
        </p:txBody>
      </p:sp>
      <p:sp>
        <p:nvSpPr>
          <p:cNvPr id="3" name="AGbhfteZ"/>
          <p:cNvSpPr/>
          <p:nvPr/>
        </p:nvSpPr>
        <p:spPr>
          <a:xfrm>
            <a:off x="274320" y="1387480"/>
            <a:ext cx="4114800" cy="30175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formatação adequada guia a leitura e define a hierarquia visual do seu trabalho.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Família da Fonte: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Escolha tipografias legíveis como Arial, Times New Roman ou Calibri.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Tamanho do Texto: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Use 12 pt para corpo padrão e tamanhos maiores para títulos.</a:t>
            </a:r>
            <a:endParaRPr lang="en-US" sz="1264" dirty="0"/>
          </a:p>
        </p:txBody>
      </p:sp>
      <p:pic>
        <p:nvPicPr>
          <p:cNvPr id="4" name="imgfnt21" descr="/home/forge/chalkie-production-workers-3/releases/78875040/backend/storage/app/render-specs/15faccd3-87e2-4d50-b2b4-e7e89553b979/img_883f7aba20e0ac2dede9e2e95c3384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Axis987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Estilos de Ênfase</a:t>
            </a:r>
            <a:endParaRPr lang="en-US" sz="2246" dirty="0"/>
          </a:p>
        </p:txBody>
      </p:sp>
      <p:pic>
        <p:nvPicPr>
          <p:cNvPr id="3" name="enfbold22" descr="/home/forge/chalkie-production-workers-3/releases/78875040/backend/storage/app/render-specs/15faccd3-87e2-4d50-b2b4-e7e89553b979/img_ae64bc144b081acdfc0b06d77e4f919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811780" cy="1954530"/>
          </a:xfrm>
          <a:prstGeom prst="roundRect">
            <a:avLst>
              <a:gd name="adj" fmla="val 7018"/>
            </a:avLst>
          </a:prstGeom>
        </p:spPr>
      </p:pic>
      <p:sp>
        <p:nvSpPr>
          <p:cNvPr id="4" name="tQEAaBF6"/>
          <p:cNvSpPr/>
          <p:nvPr/>
        </p:nvSpPr>
        <p:spPr>
          <a:xfrm>
            <a:off x="274320" y="2934994"/>
            <a:ext cx="2811780" cy="17602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67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Negrito (Ctrl + B)</a:t>
            </a:r>
            <a:endParaRPr lang="en-US" sz="1615" dirty="0"/>
          </a:p>
          <a:p>
            <a:pPr algn="l" indent="0" marL="0">
              <a:lnSpc>
                <a:spcPts val="1897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Destaca termos cruciais, cabeçalhos ou palavras-chave que exigem atenção imediata.</a:t>
            </a:r>
            <a:endParaRPr lang="en-US" sz="1615" dirty="0"/>
          </a:p>
        </p:txBody>
      </p:sp>
      <p:pic>
        <p:nvPicPr>
          <p:cNvPr id="5" name="enfita22" descr="/home/forge/chalkie-production-workers-3/releases/78875040/backend/storage/app/render-specs/15faccd3-87e2-4d50-b2b4-e7e89553b979/img_3c757753c7dd017e685bb21efd4419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10" y="925830"/>
            <a:ext cx="2811780" cy="1954530"/>
          </a:xfrm>
          <a:prstGeom prst="roundRect">
            <a:avLst>
              <a:gd name="adj" fmla="val 7018"/>
            </a:avLst>
          </a:prstGeom>
        </p:spPr>
      </p:pic>
      <p:sp>
        <p:nvSpPr>
          <p:cNvPr id="6" name="fF7fVjvE"/>
          <p:cNvSpPr/>
          <p:nvPr/>
        </p:nvSpPr>
        <p:spPr>
          <a:xfrm>
            <a:off x="3166110" y="2934994"/>
            <a:ext cx="281178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67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Itálico (Ctrl + I)</a:t>
            </a:r>
            <a:endParaRPr lang="en-US" sz="1615" dirty="0"/>
          </a:p>
          <a:p>
            <a:pPr algn="l" indent="0" marL="0">
              <a:lnSpc>
                <a:spcPts val="1897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para termos em língua estrangeira, títulos de livros e citações diretas.</a:t>
            </a:r>
            <a:endParaRPr lang="en-US" sz="1615" dirty="0"/>
          </a:p>
        </p:txBody>
      </p:sp>
      <p:pic>
        <p:nvPicPr>
          <p:cNvPr id="7" name="enfund22" descr="/home/forge/chalkie-production-workers-3/releases/78875040/backend/storage/app/render-specs/15faccd3-87e2-4d50-b2b4-e7e89553b979/img_bf5113b0ebc96a1862d9c3d29d57ff7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925830"/>
            <a:ext cx="2811780" cy="1954530"/>
          </a:xfrm>
          <a:prstGeom prst="roundRect">
            <a:avLst>
              <a:gd name="adj" fmla="val 7018"/>
            </a:avLst>
          </a:prstGeom>
        </p:spPr>
      </p:pic>
      <p:sp>
        <p:nvSpPr>
          <p:cNvPr id="8" name="Zp3doc7i"/>
          <p:cNvSpPr/>
          <p:nvPr/>
        </p:nvSpPr>
        <p:spPr>
          <a:xfrm>
            <a:off x="6069330" y="2934994"/>
            <a:ext cx="281178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67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Sublinhado (Ctrl + U)</a:t>
            </a:r>
            <a:endParaRPr lang="en-US" sz="1615" dirty="0"/>
          </a:p>
          <a:p>
            <a:pPr algn="l" indent="0" marL="0">
              <a:lnSpc>
                <a:spcPts val="1897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Usado para marcar links ou trechos especiais; use com moderação para não poluir.</a:t>
            </a:r>
            <a:endParaRPr lang="en-US" sz="161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qmlbCdy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Estruturação de Parágrafos</a:t>
            </a:r>
            <a:endParaRPr lang="en-US" sz="2246" dirty="0"/>
          </a:p>
        </p:txBody>
      </p:sp>
      <p:sp>
        <p:nvSpPr>
          <p:cNvPr id="3" name="Tl6C4BQm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name="adj" fmla="val 710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icoaln1" descr="/home/forge/chalkie-production-workers-3/releases/78875040/backend/storage/app/render-specs/15faccd3-87e2-4d50-b2b4-e7e89553b979/img_d94fe92b2216fed41218f3e051065ca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62990"/>
            <a:ext cx="548640" cy="548640"/>
          </a:xfrm>
          <a:prstGeom prst="rect">
            <a:avLst/>
          </a:prstGeom>
        </p:spPr>
      </p:pic>
      <p:sp>
        <p:nvSpPr>
          <p:cNvPr id="5" name="GIz9Lk78"/>
          <p:cNvSpPr/>
          <p:nvPr/>
        </p:nvSpPr>
        <p:spPr>
          <a:xfrm>
            <a:off x="1005840" y="1060531"/>
            <a:ext cx="338328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Alinhar à Esquerda</a:t>
            </a:r>
            <a:endParaRPr lang="en-US" sz="1544" dirty="0"/>
          </a:p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Padrão natural da língua portuguesa; proporciona leitura confortável e fluida.</a:t>
            </a:r>
            <a:endParaRPr lang="en-US" sz="1544" dirty="0"/>
          </a:p>
        </p:txBody>
      </p:sp>
      <p:sp>
        <p:nvSpPr>
          <p:cNvPr id="6" name="ETSCFuPa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name="adj" fmla="val 710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icoaln2" descr="/home/forge/chalkie-production-workers-3/releases/78875040/backend/storage/app/render-specs/15faccd3-87e2-4d50-b2b4-e7e89553b979/img_75cb74c59517732e800029332578c8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62990"/>
            <a:ext cx="548640" cy="548640"/>
          </a:xfrm>
          <a:prstGeom prst="rect">
            <a:avLst/>
          </a:prstGeom>
        </p:spPr>
      </p:pic>
      <p:sp>
        <p:nvSpPr>
          <p:cNvPr id="8" name="nvMBRnFX"/>
          <p:cNvSpPr/>
          <p:nvPr/>
        </p:nvSpPr>
        <p:spPr>
          <a:xfrm>
            <a:off x="5349240" y="1060531"/>
            <a:ext cx="338328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Centralizado</a:t>
            </a:r>
            <a:endParaRPr lang="en-US" sz="1544" dirty="0"/>
          </a:p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Perfeito para títulos principais, capas de trabalhos e versos poéticos.</a:t>
            </a:r>
            <a:endParaRPr lang="en-US" sz="1544" dirty="0"/>
          </a:p>
        </p:txBody>
      </p:sp>
      <p:sp>
        <p:nvSpPr>
          <p:cNvPr id="9" name="goEs10l2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name="adj" fmla="val 710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icoaln3" descr="/home/forge/chalkie-production-workers-3/releases/78875040/backend/storage/app/render-specs/15faccd3-87e2-4d50-b2b4-e7e89553b979/img_e287fc9f39ab90f829baa3191ecce97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86100"/>
            <a:ext cx="548640" cy="548640"/>
          </a:xfrm>
          <a:prstGeom prst="rect">
            <a:avLst/>
          </a:prstGeom>
        </p:spPr>
      </p:pic>
      <p:sp>
        <p:nvSpPr>
          <p:cNvPr id="11" name="0liB7dgU"/>
          <p:cNvSpPr/>
          <p:nvPr/>
        </p:nvSpPr>
        <p:spPr>
          <a:xfrm>
            <a:off x="1005840" y="3083641"/>
            <a:ext cx="3383280" cy="11201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Alinhar à Direita</a:t>
            </a:r>
            <a:endParaRPr lang="en-US" sz="1544" dirty="0"/>
          </a:p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Usado para datas no topo de cartas, assinaturas e referências numéricas.</a:t>
            </a:r>
            <a:endParaRPr lang="en-US" sz="1544" dirty="0"/>
          </a:p>
        </p:txBody>
      </p:sp>
      <p:sp>
        <p:nvSpPr>
          <p:cNvPr id="12" name="v2rJG2aL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name="adj" fmla="val 710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icoaln4" descr="/home/forge/chalkie-production-workers-3/releases/78875040/backend/storage/app/render-specs/15faccd3-87e2-4d50-b2b4-e7e89553b979/img_95509c2769e4e040b8f4588a2e2e10c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086100"/>
            <a:ext cx="548640" cy="548640"/>
          </a:xfrm>
          <a:prstGeom prst="rect">
            <a:avLst/>
          </a:prstGeom>
        </p:spPr>
      </p:pic>
      <p:sp>
        <p:nvSpPr>
          <p:cNvPr id="14" name="iPEyHDIy"/>
          <p:cNvSpPr/>
          <p:nvPr/>
        </p:nvSpPr>
        <p:spPr>
          <a:xfrm>
            <a:off x="5349240" y="3083641"/>
            <a:ext cx="3383280" cy="13716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Justificado</a:t>
            </a:r>
            <a:endParaRPr lang="en-US" sz="1544" dirty="0"/>
          </a:p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Distribui as palavras tocando ambas as margens; confere acabamento formal a livros e jornais.</a:t>
            </a:r>
            <a:endParaRPr lang="en-US" sz="154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BvVe2us"/>
          <p:cNvSpPr/>
          <p:nvPr/>
        </p:nvSpPr>
        <p:spPr>
          <a:xfrm>
            <a:off x="274320" y="186618"/>
            <a:ext cx="27432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Listas Ordenadas e Marcadores</a:t>
            </a:r>
            <a:endParaRPr lang="en-US" sz="2246" dirty="0"/>
          </a:p>
        </p:txBody>
      </p:sp>
      <p:sp>
        <p:nvSpPr>
          <p:cNvPr id="3" name="vSCdpBam"/>
          <p:cNvSpPr/>
          <p:nvPr/>
        </p:nvSpPr>
        <p:spPr>
          <a:xfrm>
            <a:off x="274320" y="1804126"/>
            <a:ext cx="2743200" cy="6743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Clareza para itens e sequências.</a:t>
            </a:r>
            <a:endParaRPr lang="en-US" sz="1123" dirty="0"/>
          </a:p>
        </p:txBody>
      </p:sp>
      <p:pic>
        <p:nvPicPr>
          <p:cNvPr id="4" name="imglst24" descr="/home/forge/chalkie-production-workers-3/releases/78875040/backend/storage/app/render-specs/15faccd3-87e2-4d50-b2b4-e7e89553b979/img_204e750312c420e6f17250eb370d07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71750"/>
            <a:ext cx="2286000" cy="1828800"/>
          </a:xfrm>
          <a:prstGeom prst="rect">
            <a:avLst/>
          </a:prstGeom>
        </p:spPr>
      </p:pic>
      <p:sp>
        <p:nvSpPr>
          <p:cNvPr id="5" name="buN85cJL"/>
          <p:cNvSpPr/>
          <p:nvPr/>
        </p:nvSpPr>
        <p:spPr>
          <a:xfrm>
            <a:off x="3291840" y="180272"/>
            <a:ext cx="5577840" cy="2583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usar cada tipo de lista?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Listas Numeradas: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Devem ser usadas quando a ordem importa, como etapas de uma receita, instruções de instalação ou rankings.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Marcadores (Bullets):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Ideais quando os itens não dependem de sequência rígida, como ingredientes, materiais ou tópicos de resumo.</a:t>
            </a:r>
            <a:endParaRPr lang="en-US" sz="168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44cbd4-50b2-41ac-b7a3-158999710d68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Formatação</a:t>
            </a:r>
            <a:endParaRPr lang="en-US" sz="2246" dirty="0"/>
          </a:p>
        </p:txBody>
      </p:sp>
      <p:sp>
        <p:nvSpPr>
          <p:cNvPr id="3" name="f12a4908-17b5-4f5e-a401-4d1e49ed4fc9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alinhamento distribui o texto igualmente entre as duas margens, deixando o bloco uniforme?</a:t>
            </a:r>
            <a:endParaRPr lang="en-US" sz="1264" dirty="0"/>
          </a:p>
        </p:txBody>
      </p:sp>
      <p:sp>
        <p:nvSpPr>
          <p:cNvPr id="4" name="bf8e0e31-83ff-4491-97ea-6f17c9d12dd1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f4cdb8aa-a88d-40aa-8063-9c05adfafe06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Centralizado</a:t>
            </a:r>
            <a:endParaRPr lang="en-US" sz="1264" dirty="0"/>
          </a:p>
        </p:txBody>
      </p:sp>
      <p:sp>
        <p:nvSpPr>
          <p:cNvPr id="6" name="56bf2265-a8ef-446a-89c0-b68b5b9a4b47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362964cd-7352-4c92-9ec5-1539a830dbfe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Alinhado à direita</a:t>
            </a:r>
            <a:endParaRPr lang="en-US" sz="1264" dirty="0"/>
          </a:p>
        </p:txBody>
      </p:sp>
      <p:sp>
        <p:nvSpPr>
          <p:cNvPr id="8" name="96860dd7-2dcc-45c0-bd91-37a8e3c83a5b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24e367c7-e89e-4ec7-9ed5-eb783f2c8e09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Justificado</a:t>
            </a:r>
            <a:endParaRPr lang="en-US" sz="1264" dirty="0"/>
          </a:p>
        </p:txBody>
      </p:sp>
      <p:sp>
        <p:nvSpPr>
          <p:cNvPr id="10" name="33fbf921-6d1f-47c9-84ed-59b801bfcdf1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29040e4-cf1a-411f-a6b2-d4a0855d3edb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Alinhado à esquerda</a:t>
            </a:r>
            <a:endParaRPr lang="en-US" sz="126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44cbd4-50b2-41ac-b7a3-158999710d68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 de Formatação</a:t>
            </a:r>
            <a:endParaRPr lang="en-US" sz="2246" dirty="0"/>
          </a:p>
        </p:txBody>
      </p:sp>
      <p:sp>
        <p:nvSpPr>
          <p:cNvPr id="3" name="f12a4908-17b5-4f5e-a401-4d1e49ed4fc9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alinhamento distribui o texto igualmente entre as duas margens, deixando o bloco uniforme?</a:t>
            </a:r>
            <a:endParaRPr lang="en-US" sz="1264" dirty="0"/>
          </a:p>
        </p:txBody>
      </p:sp>
      <p:sp>
        <p:nvSpPr>
          <p:cNvPr id="4" name="bf8e0e31-83ff-4491-97ea-6f17c9d12dd1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f4cdb8aa-a88d-40aa-8063-9c05adfafe06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Centralizado</a:t>
            </a:r>
            <a:endParaRPr lang="en-US" sz="1264" dirty="0"/>
          </a:p>
        </p:txBody>
      </p:sp>
      <p:sp>
        <p:nvSpPr>
          <p:cNvPr id="6" name="56bf2265-a8ef-446a-89c0-b68b5b9a4b47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362964cd-7352-4c92-9ec5-1539a830dbfe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Alinhado à direita</a:t>
            </a:r>
            <a:endParaRPr lang="en-US" sz="1264" dirty="0"/>
          </a:p>
        </p:txBody>
      </p:sp>
      <p:sp>
        <p:nvSpPr>
          <p:cNvPr id="8" name="96860dd7-2dcc-45c0-bd91-37a8e3c83a5b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24e367c7-e89e-4ec7-9ed5-eb783f2c8e09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Justificado</a:t>
            </a:r>
            <a:endParaRPr lang="en-US" sz="1264" dirty="0"/>
          </a:p>
        </p:txBody>
      </p:sp>
      <p:sp>
        <p:nvSpPr>
          <p:cNvPr id="10" name="33fbf921-6d1f-47c9-84ed-59b801bfcdf1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29040e4-cf1a-411f-a6b2-d4a0855d3edb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Alinhado à esquerda</a:t>
            </a:r>
            <a:endParaRPr lang="en-US" sz="1264" dirty="0"/>
          </a:p>
        </p:txBody>
      </p:sp>
      <p:sp>
        <p:nvSpPr>
          <p:cNvPr id="12" name="dd793bcc-3c5e-4362-82bb-3b3a185a7a9e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a5c31e64-e192-4fc3-aff9-d5530b3496eb"/>
          <p:cNvSpPr/>
          <p:nvPr/>
        </p:nvSpPr>
        <p:spPr>
          <a:xfrm>
            <a:off x="8721090" y="32332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TSITogg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Inserção de Imagens e Ajuste de Fluxo</a:t>
            </a:r>
            <a:endParaRPr lang="en-US" sz="2246" dirty="0"/>
          </a:p>
        </p:txBody>
      </p:sp>
      <p:sp>
        <p:nvSpPr>
          <p:cNvPr id="3" name="JAG8HlGN"/>
          <p:cNvSpPr/>
          <p:nvPr/>
        </p:nvSpPr>
        <p:spPr>
          <a:xfrm>
            <a:off x="274320" y="1014662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Integrando texto e gráficos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inserir uma imagem através do menu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&gt; Imagem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o editor oferece opções para definir como o texto ao redor reage: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linha: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A imagem se comporta como se fosse uma grande letra dentro da frase.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Ajustar texto: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O texto contorna a imagem harmoniosamente em volta da moldura.</a:t>
            </a:r>
            <a:endParaRPr lang="en-US" sz="1685" dirty="0"/>
          </a:p>
        </p:txBody>
      </p:sp>
      <p:pic>
        <p:nvPicPr>
          <p:cNvPr id="4" name="imgins26" descr="/home/forge/chalkie-production-workers-3/releases/78875040/backend/storage/app/render-specs/15faccd3-87e2-4d50-b2b4-e7e89553b979/img_2a14a0dcd53a7fc5a24ab216c1add1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UZQQCTf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Inserindo Tabelas para Organizar Dados</a:t>
            </a:r>
            <a:endParaRPr lang="en-US" sz="2246" dirty="0"/>
          </a:p>
        </p:txBody>
      </p:sp>
      <p:sp>
        <p:nvSpPr>
          <p:cNvPr id="3" name="ACqytt4f"/>
          <p:cNvSpPr/>
          <p:nvPr/>
        </p:nvSpPr>
        <p:spPr>
          <a:xfrm>
            <a:off x="274320" y="1014662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 e colunas estruturadas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Tabelas são perfeitas para comparar horários de aulas, especificações técnicas ou relatórios de despesas.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selecionar a grade de tamanho (ex: 3 colunas por 4 linhas), o editor gera as células prontas para preenchimento com dados alinhados.</a:t>
            </a:r>
            <a:endParaRPr lang="en-US" sz="1685" dirty="0"/>
          </a:p>
        </p:txBody>
      </p:sp>
      <p:pic>
        <p:nvPicPr>
          <p:cNvPr id="4" name="diagtab27" descr="/home/forge/chalkie-production-workers-3/releases/78875040/backend/storage/app/render-specs/15faccd3-87e2-4d50-b2b4-e7e89553b979/img_2c2cfac97300d3d1d4fd2dedeb605a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alVeLwP"/>
          <p:cNvSpPr/>
          <p:nvPr/>
        </p:nvSpPr>
        <p:spPr>
          <a:xfrm>
            <a:off x="274320" y="186618"/>
            <a:ext cx="27432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Hiperlinks e Conectividade</a:t>
            </a:r>
            <a:endParaRPr lang="en-US" sz="2246" dirty="0"/>
          </a:p>
        </p:txBody>
      </p:sp>
      <p:sp>
        <p:nvSpPr>
          <p:cNvPr id="3" name="k1ogPZpv"/>
          <p:cNvSpPr/>
          <p:nvPr/>
        </p:nvSpPr>
        <p:spPr>
          <a:xfrm>
            <a:off x="274320" y="1358356"/>
            <a:ext cx="2743200" cy="6743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Conectando fontes externas ao documento.</a:t>
            </a:r>
            <a:endParaRPr lang="en-US" sz="1123" dirty="0"/>
          </a:p>
        </p:txBody>
      </p:sp>
      <p:pic>
        <p:nvPicPr>
          <p:cNvPr id="4" name="imglnk28" descr="/home/forge/chalkie-production-workers-3/releases/78875040/backend/storage/app/render-specs/15faccd3-87e2-4d50-b2b4-e7e89553b979/img_f2836043287f3fbb60aec6d6f7bca55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5980"/>
            <a:ext cx="2286000" cy="1828800"/>
          </a:xfrm>
          <a:prstGeom prst="rect">
            <a:avLst/>
          </a:prstGeom>
        </p:spPr>
      </p:pic>
      <p:sp>
        <p:nvSpPr>
          <p:cNvPr id="5" name="QQrweKtY"/>
          <p:cNvSpPr/>
          <p:nvPr/>
        </p:nvSpPr>
        <p:spPr>
          <a:xfrm>
            <a:off x="3291840" y="180272"/>
            <a:ext cx="5577840" cy="22974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Atalho Ctrl + K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Selecione uma palavra ou trecho e use o atalho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Ctrl + K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transformar o texto em uma ponte interativa para páginas da web ou outros documentos.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Essa prática torna seus relatórios muito mais ricos e referenciados cientificamente.</a:t>
            </a:r>
            <a:endParaRPr lang="en-US" sz="1685" dirty="0"/>
          </a:p>
        </p:txBody>
      </p:sp>
      <p:sp>
        <p:nvSpPr>
          <p:cNvPr id="6" name="U8kyxdA4"/>
          <p:cNvSpPr/>
          <p:nvPr/>
        </p:nvSpPr>
        <p:spPr>
          <a:xfrm>
            <a:off x="3291840" y="2663190"/>
            <a:ext cx="5577840" cy="1337310"/>
          </a:xfrm>
          <a:prstGeom prst="roundRect">
            <a:avLst>
              <a:gd name="adj" fmla="val 6838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4jULOOVW"/>
          <p:cNvSpPr/>
          <p:nvPr/>
        </p:nvSpPr>
        <p:spPr>
          <a:xfrm>
            <a:off x="3417570" y="281920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⚠️</a:t>
            </a:r>
            <a:endParaRPr lang="en-US" sz="1685" dirty="0"/>
          </a:p>
        </p:txBody>
      </p:sp>
      <p:sp>
        <p:nvSpPr>
          <p:cNvPr id="8" name="6NnvpPUS"/>
          <p:cNvSpPr/>
          <p:nvPr/>
        </p:nvSpPr>
        <p:spPr>
          <a:xfrm>
            <a:off x="3829050" y="2787106"/>
            <a:ext cx="49149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colar URLs brutas quilométricas; insira o link em um texto âncora descritivo e claro.</a:t>
            </a:r>
            <a:endParaRPr lang="en-US" sz="1123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PAg6yUv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 Ortográfica e Gramatical</a:t>
            </a:r>
            <a:endParaRPr lang="en-US" sz="2246" dirty="0"/>
          </a:p>
        </p:txBody>
      </p:sp>
      <p:sp>
        <p:nvSpPr>
          <p:cNvPr id="3" name="iuKBpvR8"/>
          <p:cNvSpPr/>
          <p:nvPr/>
        </p:nvSpPr>
        <p:spPr>
          <a:xfrm>
            <a:off x="274320" y="923314"/>
            <a:ext cx="4503420" cy="39433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567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1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auxílio dos sublinhados coloridos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Editores modernos analisam seu texto automaticamente enquanto você escreve:</a:t>
            </a:r>
            <a:endParaRPr lang="en-US" sz="1615" dirty="0"/>
          </a:p>
          <a:p>
            <a:pPr algn="l" marL="228600" indent="-68580">
              <a:lnSpc>
                <a:spcPts val="2142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Ondulado vermelho: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Indica erro de digitação ou ortografia não reconhecida pelo dicionário.</a:t>
            </a:r>
            <a:endParaRPr lang="en-US" sz="1615" dirty="0"/>
          </a:p>
          <a:p>
            <a:pPr algn="l" marL="228600" indent="-68580">
              <a:lnSpc>
                <a:spcPts val="2142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Ondulado azul/verde: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Sugere melhoria gramatical, concordância ou pontuação.</a:t>
            </a:r>
            <a:endParaRPr lang="en-US" sz="1615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Basta clicar com o botão direito sobre a palavra para ver a correção sugerida.</a:t>
            </a:r>
            <a:endParaRPr lang="en-US" sz="1615" dirty="0"/>
          </a:p>
        </p:txBody>
      </p:sp>
      <p:pic>
        <p:nvPicPr>
          <p:cNvPr id="4" name="imgrev29" descr="/home/forge/chalkie-production-workers-3/releases/78875040/backend/storage/app/render-specs/15faccd3-87e2-4d50-b2b4-e7e89553b979/img_16604a2795e6a7642740fb0bfb4441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925830"/>
            <a:ext cx="3909060" cy="342900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6eed262-2f02-42a1-b664-d935ff222a8f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Elementos no Documento</a:t>
            </a:r>
            <a:endParaRPr lang="en-US" sz="2246" dirty="0"/>
          </a:p>
        </p:txBody>
      </p:sp>
      <p:sp>
        <p:nvSpPr>
          <p:cNvPr id="3" name="1b82f1aa-a245-401c-80b5-72140c0cabc1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Quais das seguintes afirmativas sobre inserção e revisão estão corretas? (Mais de uma está correta)</a:t>
            </a:r>
            <a:endParaRPr lang="en-US" sz="1264" dirty="0"/>
          </a:p>
        </p:txBody>
      </p:sp>
      <p:sp>
        <p:nvSpPr>
          <p:cNvPr id="4" name="d236d691-4312-4cd2-8a44-006c354a44a4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b5f8bbde-53d7-4532-b06b-437c062dc8b1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Imagens só podem ser inseridas se tiverem exatamente o mesmo tamanho da página</a:t>
            </a:r>
            <a:endParaRPr lang="en-US" sz="1264" dirty="0"/>
          </a:p>
        </p:txBody>
      </p:sp>
      <p:sp>
        <p:nvSpPr>
          <p:cNvPr id="6" name="0f9c9c68-84d6-4e53-b4d8-da6df870c82f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ad6a6181-2a85-455a-b0b9-ab30abbc80b5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atalho Ctrl + K permite associar um hiperlink a uma palavra selecionada</a:t>
            </a:r>
            <a:endParaRPr lang="en-US" sz="1264" dirty="0"/>
          </a:p>
        </p:txBody>
      </p:sp>
      <p:sp>
        <p:nvSpPr>
          <p:cNvPr id="8" name="928b6205-4611-43dc-89f7-39e17abcee32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b8fae95d-9b41-4219-a97a-954265a40652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Tabelas organizam informações quantitativas ou comparativas em linhas e colunas</a:t>
            </a:r>
            <a:endParaRPr lang="en-US" sz="1264" dirty="0"/>
          </a:p>
        </p:txBody>
      </p:sp>
      <p:sp>
        <p:nvSpPr>
          <p:cNvPr id="10" name="a137441d-125e-4ae7-9c27-cbb95a79600f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275d1388-a009-4ee3-9f72-a5634c875fcd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linha ondulada vermelha sempre significa que o programa vai apagar a palavra</a:t>
            </a:r>
            <a:endParaRPr lang="en-US" sz="126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6eed262-2f02-42a1-b664-d935ff222a8f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Elementos no Documento</a:t>
            </a:r>
            <a:endParaRPr lang="en-US" sz="2246" dirty="0"/>
          </a:p>
        </p:txBody>
      </p:sp>
      <p:sp>
        <p:nvSpPr>
          <p:cNvPr id="3" name="1b82f1aa-a245-401c-80b5-72140c0cabc1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Quais das seguintes afirmativas sobre inserção e revisão estão corretas? (Mais de uma está correta)</a:t>
            </a:r>
            <a:endParaRPr lang="en-US" sz="1264" dirty="0"/>
          </a:p>
        </p:txBody>
      </p:sp>
      <p:sp>
        <p:nvSpPr>
          <p:cNvPr id="4" name="d236d691-4312-4cd2-8a44-006c354a44a4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b5f8bbde-53d7-4532-b06b-437c062dc8b1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Imagens só podem ser inseridas se tiverem exatamente o mesmo tamanho da página</a:t>
            </a:r>
            <a:endParaRPr lang="en-US" sz="1264" dirty="0"/>
          </a:p>
        </p:txBody>
      </p:sp>
      <p:sp>
        <p:nvSpPr>
          <p:cNvPr id="6" name="0f9c9c68-84d6-4e53-b4d8-da6df870c82f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ad6a6181-2a85-455a-b0b9-ab30abbc80b5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atalho Ctrl + K permite associar um hiperlink a uma palavra selecionada</a:t>
            </a:r>
            <a:endParaRPr lang="en-US" sz="1264" dirty="0"/>
          </a:p>
        </p:txBody>
      </p:sp>
      <p:sp>
        <p:nvSpPr>
          <p:cNvPr id="8" name="928b6205-4611-43dc-89f7-39e17abcee32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b8fae95d-9b41-4219-a97a-954265a40652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Tabelas organizam informações quantitativas ou comparativas em linhas e colunas</a:t>
            </a:r>
            <a:endParaRPr lang="en-US" sz="1264" dirty="0"/>
          </a:p>
        </p:txBody>
      </p:sp>
      <p:sp>
        <p:nvSpPr>
          <p:cNvPr id="10" name="a137441d-125e-4ae7-9c27-cbb95a79600f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275d1388-a009-4ee3-9f72-a5634c875fcd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linha ondulada vermelha sempre significa que o programa vai apagar a palavra</a:t>
            </a:r>
            <a:endParaRPr lang="en-US" sz="1264" dirty="0"/>
          </a:p>
        </p:txBody>
      </p:sp>
      <p:sp>
        <p:nvSpPr>
          <p:cNvPr id="12" name="080b11d0-9678-430e-9773-bd08dd5b9138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bdfba507-b827-4095-9ebb-d0890ae42721"/>
          <p:cNvSpPr/>
          <p:nvPr/>
        </p:nvSpPr>
        <p:spPr>
          <a:xfrm>
            <a:off x="8721090" y="23760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  <p:sp>
        <p:nvSpPr>
          <p:cNvPr id="14" name="f6939cbf-d129-46c5-a519-38ce45edda14"/>
          <p:cNvSpPr/>
          <p:nvPr/>
        </p:nvSpPr>
        <p:spPr>
          <a:xfrm>
            <a:off x="8721090" y="32332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3GIFbm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Formatos de Arquivo e Exportação</a:t>
            </a:r>
            <a:endParaRPr lang="en-US" sz="2246" dirty="0"/>
          </a:p>
        </p:txBody>
      </p:sp>
      <p:pic>
        <p:nvPicPr>
          <p:cNvPr id="3" name="fmt01" descr="/home/forge/chalkie-production-workers-3/releases/78875040/backend/storage/app/render-specs/15faccd3-87e2-4d50-b2b4-e7e89553b979/img_7a36651c15672953fc3f7da861fa36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d7cNpvg6"/>
          <p:cNvSpPr/>
          <p:nvPr/>
        </p:nvSpPr>
        <p:spPr>
          <a:xfrm>
            <a:off x="274320" y="3195411"/>
            <a:ext cx="274320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.DOCX / .ODT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Formatos editáveis para continuar trabalhando e alterando o conteúdo mais tarde.</a:t>
            </a:r>
            <a:endParaRPr lang="en-US" sz="1123" dirty="0"/>
          </a:p>
        </p:txBody>
      </p:sp>
      <p:pic>
        <p:nvPicPr>
          <p:cNvPr id="5" name="fmt02" descr="/home/forge/chalkie-production-workers-3/releases/78875040/backend/storage/app/render-specs/15faccd3-87e2-4d50-b2b4-e7e89553b979/img_3af7afc479e0280daabde30f6560cd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01727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nuWpeRJG"/>
          <p:cNvSpPr/>
          <p:nvPr/>
        </p:nvSpPr>
        <p:spPr>
          <a:xfrm>
            <a:off x="3200400" y="3195411"/>
            <a:ext cx="274320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.PDF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Formato fechado que preserva fontes e posições exatas em qualquer tela ou impressora.</a:t>
            </a:r>
            <a:endParaRPr lang="en-US" sz="1123" dirty="0"/>
          </a:p>
        </p:txBody>
      </p:sp>
      <p:pic>
        <p:nvPicPr>
          <p:cNvPr id="7" name="fmt03" descr="/home/forge/chalkie-production-workers-3/releases/78875040/backend/storage/app/render-specs/15faccd3-87e2-4d50-b2b4-e7e89553b979/img_be932a6d03f8e1ef6851a0ef8ce083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1727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8" name="CAw0ZyOF"/>
          <p:cNvSpPr/>
          <p:nvPr/>
        </p:nvSpPr>
        <p:spPr>
          <a:xfrm>
            <a:off x="6126480" y="3195411"/>
            <a:ext cx="274320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Nuvem Compartilhada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Acesso por link direto onde equipes editam simultaneamente sem anexos.</a:t>
            </a:r>
            <a:endParaRPr lang="en-US" sz="112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082HwjL"/>
          <p:cNvSpPr/>
          <p:nvPr/>
        </p:nvSpPr>
        <p:spPr>
          <a:xfrm>
            <a:off x="274320" y="186618"/>
            <a:ext cx="27432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Colaboração e Permissões</a:t>
            </a:r>
            <a:endParaRPr lang="en-US" sz="2246" dirty="0"/>
          </a:p>
        </p:txBody>
      </p:sp>
      <p:sp>
        <p:nvSpPr>
          <p:cNvPr id="3" name="8VhGKDDP"/>
          <p:cNvSpPr/>
          <p:nvPr/>
        </p:nvSpPr>
        <p:spPr>
          <a:xfrm>
            <a:off x="274320" y="1358356"/>
            <a:ext cx="2743200" cy="6743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Trabalho em grupo com segurança.</a:t>
            </a:r>
            <a:endParaRPr lang="en-US" sz="1123" dirty="0"/>
          </a:p>
        </p:txBody>
      </p:sp>
      <p:pic>
        <p:nvPicPr>
          <p:cNvPr id="4" name="imgshr32" descr="/home/forge/chalkie-production-workers-3/releases/78875040/backend/storage/app/render-specs/15faccd3-87e2-4d50-b2b4-e7e89553b979/img_fe47d220da2ac367b1aa291670058a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5980"/>
            <a:ext cx="2286000" cy="1828800"/>
          </a:xfrm>
          <a:prstGeom prst="rect">
            <a:avLst/>
          </a:prstGeom>
        </p:spPr>
      </p:pic>
      <p:sp>
        <p:nvSpPr>
          <p:cNvPr id="5" name="7KCd52ZR"/>
          <p:cNvSpPr/>
          <p:nvPr/>
        </p:nvSpPr>
        <p:spPr>
          <a:xfrm>
            <a:off x="3291840" y="164470"/>
            <a:ext cx="5577840" cy="31432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compartilhar um arquivo no Google Docs ou OneDrive, você decide exatamente o que cada pessoa pode fazer: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Leitor: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Pode apenas visualizar e imprimir o texto, sem fazer alterações.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Comentador: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Pode sugerir correções e inserir notas laterais na margem.</a:t>
            </a:r>
            <a:endParaRPr lang="en-US" sz="1264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Editor: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Possui controle total para alterar texto, formatação e apagar trechos.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7D9Q1Mw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Etapas de Produção de um Texto</a:t>
            </a:r>
            <a:endParaRPr lang="en-US" sz="2246" dirty="0"/>
          </a:p>
        </p:txBody>
      </p:sp>
      <p:sp>
        <p:nvSpPr>
          <p:cNvPr id="3" name="LWbLijdo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7EB5A6"/>
          </a:solidFill>
          <a:ln/>
        </p:spPr>
      </p:sp>
      <p:sp>
        <p:nvSpPr>
          <p:cNvPr id="4" name="1xveFyts"/>
          <p:cNvSpPr/>
          <p:nvPr/>
        </p:nvSpPr>
        <p:spPr>
          <a:xfrm>
            <a:off x="13258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XSeUmPJq"/>
          <p:cNvSpPr/>
          <p:nvPr/>
        </p:nvSpPr>
        <p:spPr>
          <a:xfrm>
            <a:off x="33832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faiV6QwO"/>
          <p:cNvSpPr/>
          <p:nvPr/>
        </p:nvSpPr>
        <p:spPr>
          <a:xfrm>
            <a:off x="54406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7" name="nBaB68q5"/>
          <p:cNvSpPr/>
          <p:nvPr/>
        </p:nvSpPr>
        <p:spPr>
          <a:xfrm>
            <a:off x="74980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Jfzb86mI"/>
          <p:cNvSpPr/>
          <p:nvPr/>
        </p:nvSpPr>
        <p:spPr>
          <a:xfrm>
            <a:off x="514350" y="3159130"/>
            <a:ext cx="19431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Fase 1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Rascunho e digitação ágil das ideias.</a:t>
            </a:r>
            <a:endParaRPr lang="en-US" sz="1264" dirty="0"/>
          </a:p>
        </p:txBody>
      </p:sp>
      <p:sp>
        <p:nvSpPr>
          <p:cNvPr id="9" name="g9g51JYN"/>
          <p:cNvSpPr/>
          <p:nvPr/>
        </p:nvSpPr>
        <p:spPr>
          <a:xfrm>
            <a:off x="2571750" y="1296040"/>
            <a:ext cx="19431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Fase 2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de títulos, fontes e parágrafos.</a:t>
            </a:r>
            <a:endParaRPr lang="en-US" sz="1264" dirty="0"/>
          </a:p>
        </p:txBody>
      </p:sp>
      <p:sp>
        <p:nvSpPr>
          <p:cNvPr id="10" name="p7cTrDVB"/>
          <p:cNvSpPr/>
          <p:nvPr/>
        </p:nvSpPr>
        <p:spPr>
          <a:xfrm>
            <a:off x="4629150" y="3159130"/>
            <a:ext cx="19431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Fase 3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Inserção de tabelas, imagens e hiperlinks.</a:t>
            </a:r>
            <a:endParaRPr lang="en-US" sz="1264" dirty="0"/>
          </a:p>
        </p:txBody>
      </p:sp>
      <p:sp>
        <p:nvSpPr>
          <p:cNvPr id="11" name="LKaU4ZGk"/>
          <p:cNvSpPr/>
          <p:nvPr/>
        </p:nvSpPr>
        <p:spPr>
          <a:xfrm>
            <a:off x="6686550" y="1296040"/>
            <a:ext cx="19431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Fase 4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 ortográfica e exportação final.</a:t>
            </a:r>
            <a:endParaRPr lang="en-US" sz="126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d97be0d-4c8d-465b-8d01-fb421a3ab8f2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Check Your Understanding</a:t>
            </a:r>
            <a:endParaRPr lang="en-US" sz="2246" dirty="0"/>
          </a:p>
        </p:txBody>
      </p:sp>
      <p:sp>
        <p:nvSpPr>
          <p:cNvPr id="3" name="41214d3a-de69-4a83-863b-8985203a5ec4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recomendados para produzir e entregar um trabalho escrito de qualidade:</a:t>
            </a:r>
            <a:endParaRPr lang="en-US" sz="1264" dirty="0"/>
          </a:p>
        </p:txBody>
      </p:sp>
      <p:sp>
        <p:nvSpPr>
          <p:cNvPr id="4" name="4d0e7615-a75f-4dd5-9d23-f0a34d8ef805"/>
          <p:cNvSpPr/>
          <p:nvPr/>
        </p:nvSpPr>
        <p:spPr>
          <a:xfrm>
            <a:off x="1714500" y="16553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estilos de formatação como títulos, fontes legíveis e alinhamentos</a:t>
            </a:r>
            <a:endParaRPr lang="en-US" sz="1264" dirty="0"/>
          </a:p>
        </p:txBody>
      </p:sp>
      <p:sp>
        <p:nvSpPr>
          <p:cNvPr id="5" name="6d06ef62-5e49-4c51-b188-96fe4ad4acaa"/>
          <p:cNvSpPr/>
          <p:nvPr/>
        </p:nvSpPr>
        <p:spPr>
          <a:xfrm>
            <a:off x="1714500" y="23983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elementos de apoio visual como imagens, tabelas e links relevantes</a:t>
            </a:r>
            <a:endParaRPr lang="en-US" sz="1264" dirty="0"/>
          </a:p>
        </p:txBody>
      </p:sp>
      <p:sp>
        <p:nvSpPr>
          <p:cNvPr id="6" name="cb4d3481-dd02-4f70-a3f2-5293ceb035cc"/>
          <p:cNvSpPr/>
          <p:nvPr/>
        </p:nvSpPr>
        <p:spPr>
          <a:xfrm>
            <a:off x="1714500" y="31412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o texto bruto utilizando as técnicas de postura e linha-guia</a:t>
            </a:r>
            <a:endParaRPr lang="en-US" sz="1264" dirty="0"/>
          </a:p>
        </p:txBody>
      </p:sp>
      <p:sp>
        <p:nvSpPr>
          <p:cNvPr id="7" name="52ae6e60-ac5f-4212-a126-5404063786e5"/>
          <p:cNvSpPr/>
          <p:nvPr/>
        </p:nvSpPr>
        <p:spPr>
          <a:xfrm>
            <a:off x="1714500" y="38842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Fazer a revisão ortográfica completa e exportar em formato PDF seguro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d97be0d-4c8d-465b-8d01-fb421a3ab8f2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Check Your Understanding</a:t>
            </a:r>
            <a:endParaRPr lang="en-US" sz="2246" dirty="0"/>
          </a:p>
        </p:txBody>
      </p:sp>
      <p:sp>
        <p:nvSpPr>
          <p:cNvPr id="3" name="41214d3a-de69-4a83-863b-8985203a5ec4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os passos recomendados para produzir e entregar um trabalho escrito de qualidade:</a:t>
            </a:r>
            <a:endParaRPr lang="en-US" sz="1264" dirty="0"/>
          </a:p>
        </p:txBody>
      </p:sp>
      <p:sp>
        <p:nvSpPr>
          <p:cNvPr id="4" name="4d0e7615-a75f-4dd5-9d23-f0a34d8ef805"/>
          <p:cNvSpPr/>
          <p:nvPr/>
        </p:nvSpPr>
        <p:spPr>
          <a:xfrm>
            <a:off x="1714500" y="23983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estilos de formatação como títulos, fontes legíveis e alinhamentos</a:t>
            </a:r>
            <a:endParaRPr lang="en-US" sz="1264" dirty="0"/>
          </a:p>
        </p:txBody>
      </p:sp>
      <p:sp>
        <p:nvSpPr>
          <p:cNvPr id="5" name="6d06ef62-5e49-4c51-b188-96fe4ad4acaa"/>
          <p:cNvSpPr/>
          <p:nvPr/>
        </p:nvSpPr>
        <p:spPr>
          <a:xfrm>
            <a:off x="1714500" y="31412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elementos de apoio visual como imagens, tabelas e links relevantes</a:t>
            </a:r>
            <a:endParaRPr lang="en-US" sz="1264" dirty="0"/>
          </a:p>
        </p:txBody>
      </p:sp>
      <p:sp>
        <p:nvSpPr>
          <p:cNvPr id="6" name="cb4d3481-dd02-4f70-a3f2-5293ceb035cc"/>
          <p:cNvSpPr/>
          <p:nvPr/>
        </p:nvSpPr>
        <p:spPr>
          <a:xfrm>
            <a:off x="1714500" y="165538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o texto bruto utilizando as técnicas de postura e linha-guia</a:t>
            </a:r>
            <a:endParaRPr lang="en-US" sz="1264" dirty="0"/>
          </a:p>
        </p:txBody>
      </p:sp>
      <p:sp>
        <p:nvSpPr>
          <p:cNvPr id="7" name="52ae6e60-ac5f-4212-a126-5404063786e5"/>
          <p:cNvSpPr/>
          <p:nvPr/>
        </p:nvSpPr>
        <p:spPr>
          <a:xfrm>
            <a:off x="1714500" y="3884237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Fazer a revisão ortográfica completa e exportar em formato PDF seguro</a:t>
            </a:r>
            <a:endParaRPr lang="en-US" sz="1264" dirty="0"/>
          </a:p>
        </p:txBody>
      </p:sp>
      <p:sp>
        <p:nvSpPr>
          <p:cNvPr id="8" name="a113ff6e-c43f-4334-870f-7bbdbc7de28d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7838f430-6a4e-483d-b87b-b635ae45a91f"/>
          <p:cNvSpPr/>
          <p:nvPr/>
        </p:nvSpPr>
        <p:spPr>
          <a:xfrm>
            <a:off x="7292340" y="15187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675e2c44-2e12-4443-8e6f-d78402b6165a"/>
          <p:cNvSpPr/>
          <p:nvPr/>
        </p:nvSpPr>
        <p:spPr>
          <a:xfrm>
            <a:off x="7292340" y="22617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4b50bc09-5e75-4d00-bad7-6d49c9cc4c12"/>
          <p:cNvSpPr/>
          <p:nvPr/>
        </p:nvSpPr>
        <p:spPr>
          <a:xfrm>
            <a:off x="7292340" y="30046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04a0fcd0-e959-4fb6-8eff-c2e935c16282"/>
          <p:cNvSpPr/>
          <p:nvPr/>
        </p:nvSpPr>
        <p:spPr>
          <a:xfrm>
            <a:off x="7292340" y="37476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cls35" descr="/home/forge/chalkie-production-workers-3/releases/78875040/backend/storage/app/render-specs/15faccd3-87e2-4d50-b2b4-e7e89553b979/img_08935c58cde91018ec75faad371f409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Kn2fbKx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/>
        </p:spPr>
      </p:sp>
      <p:sp>
        <p:nvSpPr>
          <p:cNvPr id="4" name="RKiheAoo"/>
          <p:cNvSpPr/>
          <p:nvPr/>
        </p:nvSpPr>
        <p:spPr>
          <a:xfrm>
            <a:off x="502920" y="1615368"/>
            <a:ext cx="814959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Próxima Parada: Apresentações e Pesquisa!</a:t>
            </a:r>
            <a:endParaRPr lang="en-US" sz="2246" dirty="0"/>
          </a:p>
        </p:txBody>
      </p:sp>
      <p:sp>
        <p:nvSpPr>
          <p:cNvPr id="5" name="Z9U4VrBU"/>
          <p:cNvSpPr/>
          <p:nvPr/>
        </p:nvSpPr>
        <p:spPr>
          <a:xfrm>
            <a:off x="274320" y="2381890"/>
            <a:ext cx="8595360" cy="10515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 a digitação fluida e o domínio dos editores de texto, na Aula 4 vamos aprender a transformar informações em apresentações visuais impactantes e realizar pesquisas avançadas na internet.</a:t>
            </a:r>
            <a:endParaRPr lang="en-US" sz="12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Ferramentas de Produtividade</dc:title>
  <dc:subject>PptxGenJS Presentation</dc:subject>
  <dc:creator>PptxGenJS</dc:creator>
  <cp:lastModifiedBy>PptxGenJS</cp:lastModifiedBy>
  <cp:revision>1</cp:revision>
  <dcterms:created xsi:type="dcterms:W3CDTF">2026-09-29T11:08:11Z</dcterms:created>
  <dcterms:modified xsi:type="dcterms:W3CDTF">2026-09-29T11:08:11Z</dcterms:modified>
</cp:coreProperties>
</file>