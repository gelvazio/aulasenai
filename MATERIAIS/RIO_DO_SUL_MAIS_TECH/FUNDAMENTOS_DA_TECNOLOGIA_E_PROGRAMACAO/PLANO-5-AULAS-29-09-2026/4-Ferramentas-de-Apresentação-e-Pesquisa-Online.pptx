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embeddedFontLst>
    <p:embeddedFont>
      <p:font typeface="Dyslexie"/>
      <p:regular r:id="rId49"/>
      <p:bold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font" Target="fonts/font1.fntdata"/><Relationship Id="rId5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jp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png"/><Relationship Id="rId3" Type="http://schemas.openxmlformats.org/officeDocument/2006/relationships/image" Target="../media/image-3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D9txxBu"/>
          <p:cNvSpPr/>
          <p:nvPr/>
        </p:nvSpPr>
        <p:spPr>
          <a:xfrm>
            <a:off x="274320" y="1307250"/>
            <a:ext cx="4023360" cy="1691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Ferramentas de Apresentação e Pesquisa Online</a:t>
            </a:r>
            <a:endParaRPr lang="en-US" sz="2527" dirty="0"/>
          </a:p>
        </p:txBody>
      </p:sp>
      <p:sp>
        <p:nvSpPr>
          <p:cNvPr id="3" name="0BtPQHUf"/>
          <p:cNvSpPr/>
          <p:nvPr/>
        </p:nvSpPr>
        <p:spPr>
          <a:xfrm>
            <a:off x="274320" y="2976250"/>
            <a:ext cx="40233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Comunique ideias com clareza e navegue com segurança na web.</a:t>
            </a:r>
            <a:endParaRPr lang="en-US" sz="1264" dirty="0"/>
          </a:p>
        </p:txBody>
      </p:sp>
      <p:pic>
        <p:nvPicPr>
          <p:cNvPr id="4" name="medcov1" descr="/home/forge/chalkie-production-workers-3/releases/78875040/backend/storage/app/render-specs/6227853d-6c39-4310-8f74-8df21d0a559a/img_c79494426a9c17df58b107b81c6884a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"/>
            <a:ext cx="4297680" cy="4594860"/>
          </a:xfrm>
          <a:prstGeom prst="roundRect">
            <a:avLst>
              <a:gd name="adj" fmla="val 3191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rec1" descr="/home/forge/chalkie-production-workers-3/releases/78875040/backend/storage/app/render-specs/6227853d-6c39-4310-8f74-8df21d0a559a/img_17fa7f924908c93ba832798b80a0cc0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sp>
        <p:nvSpPr>
          <p:cNvPr id="3" name="Tnz5bte1"/>
          <p:cNvSpPr/>
          <p:nvPr/>
        </p:nvSpPr>
        <p:spPr>
          <a:xfrm>
            <a:off x="274320" y="22440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Recap: Digitação e Editores de Texto</a:t>
            </a:r>
            <a:endParaRPr lang="en-US" sz="2246" dirty="0"/>
          </a:p>
        </p:txBody>
      </p:sp>
      <p:sp>
        <p:nvSpPr>
          <p:cNvPr id="4" name="OQqRHGe8"/>
          <p:cNvSpPr/>
          <p:nvPr/>
        </p:nvSpPr>
        <p:spPr>
          <a:xfrm>
            <a:off x="274320" y="3058251"/>
            <a:ext cx="8595360" cy="1440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Digitação tátil com postura correta amplia a agilidade e reduz a fadiga diária.</a:t>
            </a:r>
            <a:endParaRPr lang="en-US" sz="1123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Editores organizam trabalhos com estilos, alinhamentos e listas estruturadas.</a:t>
            </a:r>
            <a:endParaRPr lang="en-US" sz="1123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Atalhos rápidos no teclado otimizam a formatação frequente de documentos.</a:t>
            </a:r>
            <a:endParaRPr lang="en-US" sz="1123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o domínio dessas ferramentas poupa tempo real nos seus estudos diários?</a:t>
            </a:r>
            <a:endParaRPr lang="en-US" sz="112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199b79e-4e9a-4001-8c91-de5a941cc620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Atalhos de Teclado</a:t>
            </a:r>
            <a:endParaRPr lang="en-US" sz="2246" dirty="0"/>
          </a:p>
        </p:txBody>
      </p:sp>
      <p:sp>
        <p:nvSpPr>
          <p:cNvPr id="3" name="82c9265c-1602-4dcf-a2b5-758b62abb384"/>
          <p:cNvSpPr/>
          <p:nvPr/>
        </p:nvSpPr>
        <p:spPr>
          <a:xfrm>
            <a:off x="285750" y="683837"/>
            <a:ext cx="8572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atalho de teclado é universalmente utilizado para copiar um texto selecionado?</a:t>
            </a:r>
            <a:endParaRPr lang="en-US" sz="1264" dirty="0"/>
          </a:p>
        </p:txBody>
      </p:sp>
      <p:sp>
        <p:nvSpPr>
          <p:cNvPr id="4" name="fb520251-59bf-4e7f-9961-b6d3629ffde3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dacfe967-4892-450a-8eaf-352211992d89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X</a:t>
            </a:r>
            <a:endParaRPr lang="en-US" sz="1264" dirty="0"/>
          </a:p>
        </p:txBody>
      </p:sp>
      <p:sp>
        <p:nvSpPr>
          <p:cNvPr id="6" name="0c1aeb7a-2e4f-4941-9a85-976af78f560f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5d2bfa39-24d3-4708-831e-bb8c406d37e2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V</a:t>
            </a:r>
            <a:endParaRPr lang="en-US" sz="1264" dirty="0"/>
          </a:p>
        </p:txBody>
      </p:sp>
      <p:sp>
        <p:nvSpPr>
          <p:cNvPr id="8" name="a4341490-d2f4-4c7a-a2ab-d55e72fe3222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8bfb986-9b07-4b73-9df6-08429e61132c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C</a:t>
            </a:r>
            <a:endParaRPr lang="en-US" sz="1264" dirty="0"/>
          </a:p>
        </p:txBody>
      </p:sp>
      <p:sp>
        <p:nvSpPr>
          <p:cNvPr id="10" name="b1701390-84fd-4eeb-b612-73329541e29c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1ca3f29e-7220-43cd-9876-fbe9459a5e50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Z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199b79e-4e9a-4001-8c91-de5a941cc620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Atalhos de Teclado</a:t>
            </a:r>
            <a:endParaRPr lang="en-US" sz="2246" dirty="0"/>
          </a:p>
        </p:txBody>
      </p:sp>
      <p:sp>
        <p:nvSpPr>
          <p:cNvPr id="3" name="82c9265c-1602-4dcf-a2b5-758b62abb384"/>
          <p:cNvSpPr/>
          <p:nvPr/>
        </p:nvSpPr>
        <p:spPr>
          <a:xfrm>
            <a:off x="285750" y="683837"/>
            <a:ext cx="8572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atalho de teclado é universalmente utilizado para copiar um texto selecionado?</a:t>
            </a:r>
            <a:endParaRPr lang="en-US" sz="1264" dirty="0"/>
          </a:p>
        </p:txBody>
      </p:sp>
      <p:sp>
        <p:nvSpPr>
          <p:cNvPr id="4" name="fb520251-59bf-4e7f-9961-b6d3629ffde3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dacfe967-4892-450a-8eaf-352211992d89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X</a:t>
            </a:r>
            <a:endParaRPr lang="en-US" sz="1264" dirty="0"/>
          </a:p>
        </p:txBody>
      </p:sp>
      <p:sp>
        <p:nvSpPr>
          <p:cNvPr id="6" name="0c1aeb7a-2e4f-4941-9a85-976af78f560f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5d2bfa39-24d3-4708-831e-bb8c406d37e2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V</a:t>
            </a:r>
            <a:endParaRPr lang="en-US" sz="1264" dirty="0"/>
          </a:p>
        </p:txBody>
      </p:sp>
      <p:sp>
        <p:nvSpPr>
          <p:cNvPr id="8" name="a4341490-d2f4-4c7a-a2ab-d55e72fe3222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8bfb986-9b07-4b73-9df6-08429e61132c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C</a:t>
            </a:r>
            <a:endParaRPr lang="en-US" sz="1264" dirty="0"/>
          </a:p>
        </p:txBody>
      </p:sp>
      <p:sp>
        <p:nvSpPr>
          <p:cNvPr id="10" name="b1701390-84fd-4eeb-b612-73329541e29c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1ca3f29e-7220-43cd-9876-fbe9459a5e50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Z</a:t>
            </a:r>
            <a:endParaRPr lang="en-US" sz="1264" dirty="0"/>
          </a:p>
        </p:txBody>
      </p:sp>
      <p:sp>
        <p:nvSpPr>
          <p:cNvPr id="12" name="b5c5e034-2228-4a8e-8dda-090c9c2c1ef1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98400a48-1d81-4451-8d28-b9835216a060"/>
          <p:cNvSpPr/>
          <p:nvPr/>
        </p:nvSpPr>
        <p:spPr>
          <a:xfrm>
            <a:off x="8721090" y="32332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1NCqMi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Learning Objectives</a:t>
            </a:r>
            <a:endParaRPr lang="en-US" sz="2246" dirty="0"/>
          </a:p>
        </p:txBody>
      </p:sp>
      <p:sp>
        <p:nvSpPr>
          <p:cNvPr id="3" name="6mhcwbHr"/>
          <p:cNvSpPr/>
          <p:nvPr/>
        </p:nvSpPr>
        <p:spPr>
          <a:xfrm>
            <a:off x="274320" y="928585"/>
            <a:ext cx="5029200" cy="5257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Objectives</a:t>
            </a:r>
            <a:endParaRPr lang="en-US" sz="1615" dirty="0"/>
          </a:p>
        </p:txBody>
      </p:sp>
      <p:sp>
        <p:nvSpPr>
          <p:cNvPr id="4" name="5Xp9SMEN"/>
          <p:cNvSpPr/>
          <p:nvPr/>
        </p:nvSpPr>
        <p:spPr>
          <a:xfrm>
            <a:off x="274320" y="1520190"/>
            <a:ext cx="5029200" cy="982980"/>
          </a:xfrm>
          <a:prstGeom prst="roundRect">
            <a:avLst>
              <a:gd name="adj" fmla="val 1162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5" name="8MqT4FFy"/>
          <p:cNvSpPr/>
          <p:nvPr/>
        </p:nvSpPr>
        <p:spPr>
          <a:xfrm>
            <a:off x="434340" y="1826837"/>
            <a:ext cx="194310" cy="36576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6" name="PbRffU7Z"/>
          <p:cNvSpPr/>
          <p:nvPr/>
        </p:nvSpPr>
        <p:spPr>
          <a:xfrm>
            <a:off x="697230" y="1628456"/>
            <a:ext cx="4457700" cy="7315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Estruturar apresentações visuais atraentes e concisas no Google Slides e PowerPoint.</a:t>
            </a:r>
            <a:endParaRPr lang="en-US" sz="1193" dirty="0"/>
          </a:p>
        </p:txBody>
      </p:sp>
      <p:sp>
        <p:nvSpPr>
          <p:cNvPr id="7" name="ifyOmUP0"/>
          <p:cNvSpPr/>
          <p:nvPr/>
        </p:nvSpPr>
        <p:spPr>
          <a:xfrm>
            <a:off x="274320" y="2571750"/>
            <a:ext cx="5029200" cy="982980"/>
          </a:xfrm>
          <a:prstGeom prst="roundRect">
            <a:avLst>
              <a:gd name="adj" fmla="val 1162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8" name="tcBi9R3k"/>
          <p:cNvSpPr/>
          <p:nvPr/>
        </p:nvSpPr>
        <p:spPr>
          <a:xfrm>
            <a:off x="434340" y="2878397"/>
            <a:ext cx="182880" cy="36576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9" name="CKhFFTVR"/>
          <p:cNvSpPr/>
          <p:nvPr/>
        </p:nvSpPr>
        <p:spPr>
          <a:xfrm>
            <a:off x="685800" y="2680016"/>
            <a:ext cx="4469130" cy="7315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técnicas avançadas de pesquisa com palavras-chave e operadores em navegadores.</a:t>
            </a:r>
            <a:endParaRPr lang="en-US" sz="1193" dirty="0"/>
          </a:p>
        </p:txBody>
      </p:sp>
      <p:sp>
        <p:nvSpPr>
          <p:cNvPr id="10" name="XbJomhRr"/>
          <p:cNvSpPr/>
          <p:nvPr/>
        </p:nvSpPr>
        <p:spPr>
          <a:xfrm>
            <a:off x="274320" y="3623310"/>
            <a:ext cx="5029200" cy="982980"/>
          </a:xfrm>
          <a:prstGeom prst="roundRect">
            <a:avLst>
              <a:gd name="adj" fmla="val 1162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1" name="ZQ9KhyDa"/>
          <p:cNvSpPr/>
          <p:nvPr/>
        </p:nvSpPr>
        <p:spPr>
          <a:xfrm>
            <a:off x="434340" y="3929957"/>
            <a:ext cx="194310" cy="36576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2" name="cQ45ELgz"/>
          <p:cNvSpPr/>
          <p:nvPr/>
        </p:nvSpPr>
        <p:spPr>
          <a:xfrm>
            <a:off x="685800" y="3731576"/>
            <a:ext cx="4457700" cy="7315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Avaliar a credibilidade de fontes digitais e organizar registros e favoritos com eficiência.</a:t>
            </a:r>
            <a:endParaRPr lang="en-US" sz="1193" dirty="0"/>
          </a:p>
        </p:txBody>
      </p:sp>
      <p:pic>
        <p:nvPicPr>
          <p:cNvPr id="13" name="medobj1" descr="/home/forge/chalkie-production-workers-3/releases/78875040/backend/storage/app/render-specs/6227853d-6c39-4310-8f74-8df21d0a559a/img_f6d735c3361e696bcb164f4390a48ff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25830"/>
            <a:ext cx="3474720" cy="342900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5pX4RR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Key Vocabulary</a:t>
            </a:r>
            <a:endParaRPr lang="en-US" sz="2246" dirty="0"/>
          </a:p>
        </p:txBody>
      </p:sp>
      <p:pic>
        <p:nvPicPr>
          <p:cNvPr id="3" name="medvoc1" descr="/home/forge/chalkie-production-workers-3/releases/78875040/backend/storage/app/render-specs/6227853d-6c39-4310-8f74-8df21d0a559a/img_c72680e33b31212c98f4628d82f68b6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bJQ4nPOX"/>
          <p:cNvSpPr/>
          <p:nvPr/>
        </p:nvSpPr>
        <p:spPr>
          <a:xfrm>
            <a:off x="274320" y="3458301"/>
            <a:ext cx="2011680" cy="1440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Apresentação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Exposição ordenada de ideias e dados apoiada por recursos visuais.</a:t>
            </a:r>
            <a:endParaRPr lang="en-US" sz="1123" dirty="0"/>
          </a:p>
        </p:txBody>
      </p:sp>
      <p:pic>
        <p:nvPicPr>
          <p:cNvPr id="5" name="medvoc2" descr="/home/forge/chalkie-production-workers-3/releases/78875040/backend/storage/app/render-specs/6227853d-6c39-4310-8f74-8df21d0a559a/img_b43f3bfe6253b128a1a71036a2e25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6" name="0rP1ugll"/>
          <p:cNvSpPr/>
          <p:nvPr/>
        </p:nvSpPr>
        <p:spPr>
          <a:xfrm>
            <a:off x="2468880" y="3081111"/>
            <a:ext cx="201168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Slide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Cada página ou tela individual que compõe a sequência projetada.</a:t>
            </a:r>
            <a:endParaRPr lang="en-US" sz="1123" dirty="0"/>
          </a:p>
        </p:txBody>
      </p:sp>
      <p:pic>
        <p:nvPicPr>
          <p:cNvPr id="7" name="medvoc3" descr="/home/forge/chalkie-production-workers-3/releases/78875040/backend/storage/app/render-specs/6227853d-6c39-4310-8f74-8df21d0a559a/img_ea4fc8b02129c1854a36fe80606430e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8" name="zVmb3GMh"/>
          <p:cNvSpPr/>
          <p:nvPr/>
        </p:nvSpPr>
        <p:spPr>
          <a:xfrm>
            <a:off x="4663440" y="3652611"/>
            <a:ext cx="201168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Navegador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Software que permite acessar, visualizar e navegar por sites da web.</a:t>
            </a:r>
            <a:endParaRPr lang="en-US" sz="1123" dirty="0"/>
          </a:p>
        </p:txBody>
      </p:sp>
      <p:pic>
        <p:nvPicPr>
          <p:cNvPr id="9" name="medvoc4" descr="/home/forge/chalkie-production-workers-3/releases/78875040/backend/storage/app/render-specs/6227853d-6c39-4310-8f74-8df21d0a559a/img_007d2041d710008e1dfd26d9fe418576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qLgVjFY0"/>
          <p:cNvSpPr/>
          <p:nvPr/>
        </p:nvSpPr>
        <p:spPr>
          <a:xfrm>
            <a:off x="6858000" y="3081111"/>
            <a:ext cx="2011680" cy="1440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Credibilidade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Grau de confiabilidade, exatidão e autoridade de uma fonte de dados.</a:t>
            </a:r>
            <a:endParaRPr lang="en-US" sz="112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MFHZpvh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Apresentar Ideias Visualmente?</a:t>
            </a:r>
            <a:endParaRPr lang="en-US" sz="2246" dirty="0"/>
          </a:p>
        </p:txBody>
      </p:sp>
      <p:sp>
        <p:nvSpPr>
          <p:cNvPr id="3" name="SVlqP45t"/>
          <p:cNvSpPr/>
          <p:nvPr/>
        </p:nvSpPr>
        <p:spPr>
          <a:xfrm>
            <a:off x="274320" y="927207"/>
            <a:ext cx="17145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14300" tIns="45720" rIns="114300" bIns="45720" rtlCol="0" anchor="ctr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 CHAVE</a:t>
            </a:r>
            <a:endParaRPr lang="en-US" sz="842" dirty="0"/>
          </a:p>
        </p:txBody>
      </p:sp>
      <p:sp>
        <p:nvSpPr>
          <p:cNvPr id="4" name="szTluv8O"/>
          <p:cNvSpPr/>
          <p:nvPr/>
        </p:nvSpPr>
        <p:spPr>
          <a:xfrm>
            <a:off x="274320" y="1282915"/>
            <a:ext cx="4503420" cy="3589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Comunicação e Impacto Cognitivo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cérebro humano processa informações visuais de forma extremamente rápida. Uma apresentação eficaz não repete tudo o que você fala: ela destaca conclusões essenciais e relações conceituais.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Slides bem estruturados mantêm a atenção do público, facilitam anotações e tornam argumentos complexos fáceis de recordar após a aula ou reunião.</a:t>
            </a:r>
            <a:endParaRPr lang="en-US" sz="1615" dirty="0"/>
          </a:p>
        </p:txBody>
      </p:sp>
      <p:pic>
        <p:nvPicPr>
          <p:cNvPr id="5" name="medvis1" descr="/home/forge/chalkie-production-workers-3/releases/78875040/backend/storage/app/render-specs/6227853d-6c39-4310-8f74-8df21d0a559a/img_643b1f0b68f6f2038bc1a502297b1e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280160"/>
            <a:ext cx="3909060" cy="2937510"/>
          </a:xfrm>
          <a:prstGeom prst="roundRect">
            <a:avLst>
              <a:gd name="adj" fmla="val 4669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HMiInDI"/>
          <p:cNvSpPr/>
          <p:nvPr/>
        </p:nvSpPr>
        <p:spPr>
          <a:xfrm>
            <a:off x="274320" y="186618"/>
            <a:ext cx="27432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Ferramentas Modernas</a:t>
            </a:r>
            <a:endParaRPr lang="en-US" sz="2246" dirty="0"/>
          </a:p>
        </p:txBody>
      </p:sp>
      <p:sp>
        <p:nvSpPr>
          <p:cNvPr id="3" name="vFolgKv3"/>
          <p:cNvSpPr/>
          <p:nvPr/>
        </p:nvSpPr>
        <p:spPr>
          <a:xfrm>
            <a:off x="274320" y="1389471"/>
            <a:ext cx="2743200" cy="9372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Softwares líderes para estruturar e exibir conteúdos multimídia.</a:t>
            </a:r>
            <a:endParaRPr lang="en-US" sz="1123" dirty="0"/>
          </a:p>
        </p:txBody>
      </p:sp>
      <p:pic>
        <p:nvPicPr>
          <p:cNvPr id="4" name="medapp1" descr="/home/forge/chalkie-production-workers-3/releases/78875040/backend/storage/app/render-specs/6227853d-6c39-4310-8f74-8df21d0a559a/img_0b51145571550e256b1873ea509166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80310"/>
            <a:ext cx="2286000" cy="1714500"/>
          </a:xfrm>
          <a:prstGeom prst="roundRect">
            <a:avLst>
              <a:gd name="adj" fmla="val 5333"/>
            </a:avLst>
          </a:prstGeom>
        </p:spPr>
      </p:pic>
      <p:sp>
        <p:nvSpPr>
          <p:cNvPr id="5" name="cnAG6sH6"/>
          <p:cNvSpPr/>
          <p:nvPr/>
        </p:nvSpPr>
        <p:spPr>
          <a:xfrm>
            <a:off x="3291840" y="185733"/>
            <a:ext cx="2697480" cy="4686300"/>
          </a:xfrm>
          <a:prstGeom prst="roundRect">
            <a:avLst>
              <a:gd name="adj" fmla="val 5085"/>
            </a:avLst>
          </a:prstGeom>
          <a:solidFill>
            <a:srgbClr val="262B47"/>
          </a:solidFill>
          <a:ln w="11430">
            <a:solidFill>
              <a:srgbClr val="54566A"/>
            </a:solidFill>
          </a:ln>
        </p:spPr>
        <p:txBody>
          <a:bodyPr wrap="square" lIns="194310" tIns="194310" rIns="194310" bIns="19431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Google Slides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100% baseado na nuvem e no navegador.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Colaboração simultânea em tempo real com colegas.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Salvamento automático contínuo no Google Drive.</a:t>
            </a:r>
            <a:endParaRPr lang="en-US" sz="1685" dirty="0"/>
          </a:p>
        </p:txBody>
      </p:sp>
      <p:sp>
        <p:nvSpPr>
          <p:cNvPr id="6" name="8VZeoXkw"/>
          <p:cNvSpPr/>
          <p:nvPr/>
        </p:nvSpPr>
        <p:spPr>
          <a:xfrm>
            <a:off x="6172200" y="185733"/>
            <a:ext cx="2697480" cy="4686300"/>
          </a:xfrm>
          <a:prstGeom prst="roundRect">
            <a:avLst>
              <a:gd name="adj" fmla="val 5085"/>
            </a:avLst>
          </a:prstGeom>
          <a:solidFill>
            <a:srgbClr val="262B47"/>
          </a:solidFill>
          <a:ln w="11430">
            <a:solidFill>
              <a:srgbClr val="54566A"/>
            </a:solidFill>
          </a:ln>
        </p:spPr>
        <p:txBody>
          <a:bodyPr wrap="square" lIns="194310" tIns="194310" rIns="194310" bIns="19431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Microsoft PowerPoint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Padrão consolidado no mercado corporativo e escolar.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Recursos avançados de animação vetorial e efeitos 3D.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Disponível tanto offline em desktop quanto via web.</a:t>
            </a:r>
            <a:endParaRPr lang="en-US" sz="16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0IfFVX4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de uma Apresentação Eficaz</a:t>
            </a:r>
            <a:endParaRPr lang="en-US" sz="2246" dirty="0"/>
          </a:p>
        </p:txBody>
      </p:sp>
      <p:pic>
        <p:nvPicPr>
          <p:cNvPr id="3" name="medest1" descr="/home/forge/chalkie-production-workers-3/releases/78875040/backend/storage/app/render-specs/6227853d-6c39-4310-8f74-8df21d0a559a/img_96481042f9a234483dc79c7d5dc21d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SAA6C7Df"/>
          <p:cNvSpPr/>
          <p:nvPr/>
        </p:nvSpPr>
        <p:spPr>
          <a:xfrm>
            <a:off x="182880" y="326898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DjHRmcYa"/>
          <p:cNvSpPr/>
          <p:nvPr/>
        </p:nvSpPr>
        <p:spPr>
          <a:xfrm>
            <a:off x="274320" y="3797121"/>
            <a:ext cx="2011680" cy="10058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Título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 tema e atrai o grupo.</a:t>
            </a:r>
            <a:endParaRPr lang="en-US" sz="1404" dirty="0"/>
          </a:p>
        </p:txBody>
      </p:sp>
      <p:pic>
        <p:nvPicPr>
          <p:cNvPr id="6" name="medest2" descr="/home/forge/chalkie-production-workers-3/releases/78875040/backend/storage/app/render-specs/6227853d-6c39-4310-8f74-8df21d0a559a/img_4ee5202be1a47e467db86ec9a5dc96a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09728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7" name="Ox1jOS5Y"/>
          <p:cNvSpPr/>
          <p:nvPr/>
        </p:nvSpPr>
        <p:spPr>
          <a:xfrm>
            <a:off x="2377440" y="326898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vmuh3Kle"/>
          <p:cNvSpPr/>
          <p:nvPr/>
        </p:nvSpPr>
        <p:spPr>
          <a:xfrm>
            <a:off x="2468880" y="3797121"/>
            <a:ext cx="2011680" cy="10058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Introdução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Apresenta o foco central da aula.</a:t>
            </a:r>
            <a:endParaRPr lang="en-US" sz="1404" dirty="0"/>
          </a:p>
        </p:txBody>
      </p:sp>
      <p:pic>
        <p:nvPicPr>
          <p:cNvPr id="9" name="medest3" descr="/home/forge/chalkie-production-workers-3/releases/78875040/backend/storage/app/render-specs/6227853d-6c39-4310-8f74-8df21d0a559a/img_f6b4ec4942214f20d11a80e971a9d25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buf9LQER"/>
          <p:cNvSpPr/>
          <p:nvPr/>
        </p:nvSpPr>
        <p:spPr>
          <a:xfrm>
            <a:off x="4572000" y="326898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11" name="OuX52BPN"/>
          <p:cNvSpPr/>
          <p:nvPr/>
        </p:nvSpPr>
        <p:spPr>
          <a:xfrm>
            <a:off x="4663440" y="3797121"/>
            <a:ext cx="2011680" cy="10058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Conteúdo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Traz argumentos, dados e fatos.</a:t>
            </a:r>
            <a:endParaRPr lang="en-US" sz="1404" dirty="0"/>
          </a:p>
        </p:txBody>
      </p:sp>
      <p:pic>
        <p:nvPicPr>
          <p:cNvPr id="12" name="medest4" descr="/home/forge/chalkie-production-workers-3/releases/78875040/backend/storage/app/render-specs/6227853d-6c39-4310-8f74-8df21d0a559a/img_a4674a85a6dea6e081756f933ace975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9728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3" name="u7G4A478"/>
          <p:cNvSpPr/>
          <p:nvPr/>
        </p:nvSpPr>
        <p:spPr>
          <a:xfrm>
            <a:off x="6766560" y="326898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14" name="z1WctOMy"/>
          <p:cNvSpPr/>
          <p:nvPr/>
        </p:nvSpPr>
        <p:spPr>
          <a:xfrm>
            <a:off x="6858000" y="3797121"/>
            <a:ext cx="2011680" cy="10058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Conclusão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Resume os pontos aprendidos.</a:t>
            </a:r>
            <a:endParaRPr lang="en-US" sz="140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RPuo419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Criação de Slides: Layouts e Temas</a:t>
            </a:r>
            <a:endParaRPr lang="en-US" sz="2246" dirty="0"/>
          </a:p>
        </p:txBody>
      </p:sp>
      <p:pic>
        <p:nvPicPr>
          <p:cNvPr id="3" name="medlay1" descr="/home/forge/chalkie-production-workers-3/releases/78875040/backend/storage/app/render-specs/6227853d-6c39-4310-8f74-8df21d0a559a/img_c414b64c750cde68c5c56331983340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420624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bNmnFa00"/>
          <p:cNvSpPr/>
          <p:nvPr/>
        </p:nvSpPr>
        <p:spPr>
          <a:xfrm>
            <a:off x="274320" y="3191823"/>
            <a:ext cx="420624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Modelos de Layout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estruturas com caixas dedicadas para títulos, subtítulos e comparações colunadas.</a:t>
            </a:r>
            <a:endParaRPr lang="en-US" sz="1685" dirty="0"/>
          </a:p>
        </p:txBody>
      </p:sp>
      <p:pic>
        <p:nvPicPr>
          <p:cNvPr id="5" name="medlay2" descr="/home/forge/chalkie-production-workers-3/releases/78875040/backend/storage/app/render-specs/6227853d-6c39-4310-8f74-8df21d0a559a/img_dad0acdd80c56ceb49513ce15c52235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17270"/>
            <a:ext cx="420624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4Y0abPyG"/>
          <p:cNvSpPr/>
          <p:nvPr/>
        </p:nvSpPr>
        <p:spPr>
          <a:xfrm>
            <a:off x="4663440" y="3191823"/>
            <a:ext cx="420624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Consistência Visual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Mantenha a mesma paleta de cores e tipografia em toda a apresentação para transmitir seriedade.</a:t>
            </a:r>
            <a:endParaRPr lang="en-US" sz="16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HYfSNJs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Inserção de Conteúdo Multimídia</a:t>
            </a:r>
            <a:endParaRPr lang="en-US" sz="2246" dirty="0"/>
          </a:p>
        </p:txBody>
      </p:sp>
      <p:sp>
        <p:nvSpPr>
          <p:cNvPr id="3" name="IiFQXfou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medico1" descr="/home/forge/chalkie-production-workers-3/releases/78875040/backend/storage/app/render-specs/6227853d-6c39-4310-8f74-8df21d0a559a/img_3d58248050c2496a506a2b376b1328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62990"/>
            <a:ext cx="548640" cy="548640"/>
          </a:xfrm>
          <a:prstGeom prst="rect">
            <a:avLst/>
          </a:prstGeom>
        </p:spPr>
      </p:pic>
      <p:sp>
        <p:nvSpPr>
          <p:cNvPr id="5" name="ZQghvvxW"/>
          <p:cNvSpPr/>
          <p:nvPr/>
        </p:nvSpPr>
        <p:spPr>
          <a:xfrm>
            <a:off x="1005840" y="1065745"/>
            <a:ext cx="338328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Imagens Nítidas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fotografias em alta resolução que complementem a ideia principal sem distorcer as proporções.</a:t>
            </a:r>
            <a:endParaRPr lang="en-US" sz="1615" dirty="0"/>
          </a:p>
        </p:txBody>
      </p:sp>
      <p:sp>
        <p:nvSpPr>
          <p:cNvPr id="6" name="zcik7Ysc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medico2" descr="/home/forge/chalkie-production-workers-3/releases/78875040/backend/storage/app/render-specs/6227853d-6c39-4310-8f74-8df21d0a559a/img_db90d3052f74d5aee7f024d849f307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62990"/>
            <a:ext cx="548640" cy="548640"/>
          </a:xfrm>
          <a:prstGeom prst="rect">
            <a:avLst/>
          </a:prstGeom>
        </p:spPr>
      </p:pic>
      <p:sp>
        <p:nvSpPr>
          <p:cNvPr id="8" name="nd2y5hlA"/>
          <p:cNvSpPr/>
          <p:nvPr/>
        </p:nvSpPr>
        <p:spPr>
          <a:xfrm>
            <a:off x="5349240" y="1065745"/>
            <a:ext cx="3383280" cy="1703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Vídeos Curtos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Incorpore trechos de até 1 minuto para demonstrar fenômenos, depoimentos ou experimentos práticos.</a:t>
            </a:r>
            <a:endParaRPr lang="en-US" sz="1615" dirty="0"/>
          </a:p>
        </p:txBody>
      </p:sp>
      <p:sp>
        <p:nvSpPr>
          <p:cNvPr id="9" name="0EKcInSO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medico3" descr="/home/forge/chalkie-production-workers-3/releases/78875040/backend/storage/app/render-specs/6227853d-6c39-4310-8f74-8df21d0a559a/img_8bd9ff62c9d37e70d8d89b2c9e78738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31820"/>
            <a:ext cx="548640" cy="548640"/>
          </a:xfrm>
          <a:prstGeom prst="rect">
            <a:avLst/>
          </a:prstGeom>
        </p:spPr>
      </p:pic>
      <p:sp>
        <p:nvSpPr>
          <p:cNvPr id="11" name="J8z0hPjK"/>
          <p:cNvSpPr/>
          <p:nvPr/>
        </p:nvSpPr>
        <p:spPr>
          <a:xfrm>
            <a:off x="1005840" y="3134575"/>
            <a:ext cx="338328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Áudios Pontuais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Efeitos sonoros e narrações devem ser usados com critério para não desviar o foco da sua fala.</a:t>
            </a:r>
            <a:endParaRPr lang="en-US" sz="1615" dirty="0"/>
          </a:p>
        </p:txBody>
      </p:sp>
      <p:sp>
        <p:nvSpPr>
          <p:cNvPr id="12" name="8ZfQAPp6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medico4" descr="/home/forge/chalkie-production-workers-3/releases/78875040/backend/storage/app/render-specs/6227853d-6c39-4310-8f74-8df21d0a559a/img_3c4da391d358d0a6d17e2a0f1f51858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131820"/>
            <a:ext cx="548640" cy="548640"/>
          </a:xfrm>
          <a:prstGeom prst="rect">
            <a:avLst/>
          </a:prstGeom>
        </p:spPr>
      </p:pic>
      <p:sp>
        <p:nvSpPr>
          <p:cNvPr id="14" name="UXsLWFrT"/>
          <p:cNvSpPr/>
          <p:nvPr/>
        </p:nvSpPr>
        <p:spPr>
          <a:xfrm>
            <a:off x="5349240" y="3134575"/>
            <a:ext cx="338328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e Tabelas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Transforme números brutos em diagramas visuais intuitivos que facilitem comparações rápidas.</a:t>
            </a:r>
            <a:endParaRPr lang="en-US" sz="161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TCLG0eK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Transições e Animações</a:t>
            </a:r>
            <a:endParaRPr lang="en-US" sz="2246" dirty="0"/>
          </a:p>
        </p:txBody>
      </p:sp>
      <p:sp>
        <p:nvSpPr>
          <p:cNvPr id="3" name="LZuBt4h5"/>
          <p:cNvSpPr/>
          <p:nvPr/>
        </p:nvSpPr>
        <p:spPr>
          <a:xfrm>
            <a:off x="274320" y="1019827"/>
            <a:ext cx="4663440" cy="16802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Moderação é a Regra de Ouro</a:t>
            </a:r>
            <a:endParaRPr lang="en-US" sz="1544" dirty="0"/>
          </a:p>
          <a:p>
            <a:pPr algn="l" indent="0" marL="0">
              <a:lnSpc>
                <a:spcPts val="194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Transição de slides: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Efeito visual na troca de telas. Prefira opções suaves e discretas.</a:t>
            </a:r>
            <a:endParaRPr lang="en-US" sz="1544" dirty="0"/>
          </a:p>
          <a:p>
            <a:pPr algn="l" indent="0" marL="0">
              <a:lnSpc>
                <a:spcPts val="194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Animação de objetos: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Revela tópicos ao clicar, conduzindo o foco sem distrair o leitor.</a:t>
            </a:r>
            <a:endParaRPr lang="en-US" sz="1544" dirty="0"/>
          </a:p>
        </p:txBody>
      </p:sp>
      <p:sp>
        <p:nvSpPr>
          <p:cNvPr id="4" name="ZQPd34oH"/>
          <p:cNvSpPr/>
          <p:nvPr/>
        </p:nvSpPr>
        <p:spPr>
          <a:xfrm>
            <a:off x="274320" y="2880360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5" name="bfRA2XlK"/>
          <p:cNvSpPr/>
          <p:nvPr/>
        </p:nvSpPr>
        <p:spPr>
          <a:xfrm>
            <a:off x="400050" y="303637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💡</a:t>
            </a:r>
            <a:endParaRPr lang="en-US" sz="1685" dirty="0"/>
          </a:p>
        </p:txBody>
      </p:sp>
      <p:sp>
        <p:nvSpPr>
          <p:cNvPr id="6" name="DAXx8yiO"/>
          <p:cNvSpPr/>
          <p:nvPr/>
        </p:nvSpPr>
        <p:spPr>
          <a:xfrm>
            <a:off x="811530" y="3004276"/>
            <a:ext cx="4000500" cy="9829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Dica Prática</a:t>
            </a:r>
            <a:endParaRPr lang="en-US" sz="1123" dirty="0"/>
          </a:p>
          <a:p>
            <a:pPr algn="l" indent="0" marL="0">
              <a:lnSpc>
                <a:spcPts val="194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sons e movimentos exagerados que distraiam a turma.</a:t>
            </a:r>
            <a:endParaRPr lang="en-US" sz="1123" dirty="0"/>
          </a:p>
        </p:txBody>
      </p:sp>
      <p:pic>
        <p:nvPicPr>
          <p:cNvPr id="7" name="medani1" descr="/home/forge/chalkie-production-workers-3/releases/78875040/backend/storage/app/render-specs/6227853d-6c39-4310-8f74-8df21d0a559a/img_b342b2403b794e32068ea47796a7ae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017270"/>
            <a:ext cx="36576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IvX0IMT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Boas Práticas de Design</a:t>
            </a:r>
            <a:endParaRPr lang="en-US" sz="2246" dirty="0"/>
          </a:p>
        </p:txBody>
      </p:sp>
      <p:sp>
        <p:nvSpPr>
          <p:cNvPr id="3" name="FN9Unxrw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VWXjNQ4H"/>
          <p:cNvSpPr/>
          <p:nvPr/>
        </p:nvSpPr>
        <p:spPr>
          <a:xfrm>
            <a:off x="468630" y="1588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5" name="BIKGejsO"/>
          <p:cNvSpPr/>
          <p:nvPr/>
        </p:nvSpPr>
        <p:spPr>
          <a:xfrm>
            <a:off x="1108710" y="138748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Menos texto, mais impacto: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Não escreva parágrafos inteiros para serem lidos em voz alta.</a:t>
            </a:r>
            <a:endParaRPr lang="en-US" sz="1264" dirty="0"/>
          </a:p>
        </p:txBody>
      </p:sp>
      <p:sp>
        <p:nvSpPr>
          <p:cNvPr id="6" name="wEJGsVms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Js78uY5H"/>
          <p:cNvSpPr/>
          <p:nvPr/>
        </p:nvSpPr>
        <p:spPr>
          <a:xfrm>
            <a:off x="468630" y="274307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8" name="0d13MvHD"/>
          <p:cNvSpPr/>
          <p:nvPr/>
        </p:nvSpPr>
        <p:spPr>
          <a:xfrm>
            <a:off x="1108710" y="254191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Hierarquia tipográfica clara: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Garanta contraste firme entre a cor das fontes e o fundo do slide.</a:t>
            </a:r>
            <a:endParaRPr lang="en-US" sz="1264" dirty="0"/>
          </a:p>
        </p:txBody>
      </p:sp>
      <p:sp>
        <p:nvSpPr>
          <p:cNvPr id="9" name="qsresTvq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0" name="NjIyfOVh"/>
          <p:cNvSpPr/>
          <p:nvPr/>
        </p:nvSpPr>
        <p:spPr>
          <a:xfrm>
            <a:off x="468630" y="38975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1" name="5PlUVfcX"/>
          <p:cNvSpPr/>
          <p:nvPr/>
        </p:nvSpPr>
        <p:spPr>
          <a:xfrm>
            <a:off x="1108710" y="369634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Espaço em branco generoso: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Deixe margens limpas para que as informações respirem com harmonia.</a:t>
            </a:r>
            <a:endParaRPr lang="en-US" sz="126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5df94f-fd05-4b81-9ed1-304b07965abd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da Apresentação</a:t>
            </a:r>
            <a:endParaRPr lang="en-US" sz="2246" dirty="0"/>
          </a:p>
        </p:txBody>
      </p:sp>
      <p:sp>
        <p:nvSpPr>
          <p:cNvPr id="3" name="11d6368a-2bf3-4512-bfb1-8a4def13f300"/>
          <p:cNvSpPr/>
          <p:nvPr/>
        </p:nvSpPr>
        <p:spPr>
          <a:xfrm>
            <a:off x="285750" y="683837"/>
            <a:ext cx="8572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Organize as seções estruturais de uma apresentação acadêmica na sequência correta:</a:t>
            </a:r>
            <a:endParaRPr lang="en-US" sz="1264" dirty="0"/>
          </a:p>
        </p:txBody>
      </p:sp>
      <p:sp>
        <p:nvSpPr>
          <p:cNvPr id="4" name="7a557ac7-2e00-463d-8745-98716327e04a"/>
          <p:cNvSpPr/>
          <p:nvPr/>
        </p:nvSpPr>
        <p:spPr>
          <a:xfrm>
            <a:off x="1714500" y="16553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Conclusão e considerações finais</a:t>
            </a:r>
            <a:endParaRPr lang="en-US" sz="1264" dirty="0"/>
          </a:p>
        </p:txBody>
      </p:sp>
      <p:sp>
        <p:nvSpPr>
          <p:cNvPr id="5" name="bd86c735-c475-4d88-9f76-4dfd6c27d274"/>
          <p:cNvSpPr/>
          <p:nvPr/>
        </p:nvSpPr>
        <p:spPr>
          <a:xfrm>
            <a:off x="1714500" y="23983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Introdução do tema e objetivo principal</a:t>
            </a:r>
            <a:endParaRPr lang="en-US" sz="1264" dirty="0"/>
          </a:p>
        </p:txBody>
      </p:sp>
      <p:sp>
        <p:nvSpPr>
          <p:cNvPr id="6" name="d3433f58-bcaf-460f-9c1b-424a9560b18a"/>
          <p:cNvSpPr/>
          <p:nvPr/>
        </p:nvSpPr>
        <p:spPr>
          <a:xfrm>
            <a:off x="1714500" y="31412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Slide de título e apresentação dos autores</a:t>
            </a:r>
            <a:endParaRPr lang="en-US" sz="1264" dirty="0"/>
          </a:p>
        </p:txBody>
      </p:sp>
      <p:sp>
        <p:nvSpPr>
          <p:cNvPr id="7" name="8664fcc0-43ee-4594-8c2e-b5f8ed84bc72"/>
          <p:cNvSpPr/>
          <p:nvPr/>
        </p:nvSpPr>
        <p:spPr>
          <a:xfrm>
            <a:off x="1714500" y="38842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Desenvolvimento com dados e evidências</a:t>
            </a:r>
            <a:endParaRPr lang="en-US" sz="126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5df94f-fd05-4b81-9ed1-304b07965abd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da Apresentação</a:t>
            </a:r>
            <a:endParaRPr lang="en-US" sz="2246" dirty="0"/>
          </a:p>
        </p:txBody>
      </p:sp>
      <p:sp>
        <p:nvSpPr>
          <p:cNvPr id="3" name="11d6368a-2bf3-4512-bfb1-8a4def13f300"/>
          <p:cNvSpPr/>
          <p:nvPr/>
        </p:nvSpPr>
        <p:spPr>
          <a:xfrm>
            <a:off x="285750" y="683837"/>
            <a:ext cx="8572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Organize as seções estruturais de uma apresentação acadêmica na sequência correta:</a:t>
            </a:r>
            <a:endParaRPr lang="en-US" sz="1264" dirty="0"/>
          </a:p>
        </p:txBody>
      </p:sp>
      <p:sp>
        <p:nvSpPr>
          <p:cNvPr id="4" name="7a557ac7-2e00-463d-8745-98716327e04a"/>
          <p:cNvSpPr/>
          <p:nvPr/>
        </p:nvSpPr>
        <p:spPr>
          <a:xfrm>
            <a:off x="1714500" y="38842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Conclusão e considerações finais</a:t>
            </a:r>
            <a:endParaRPr lang="en-US" sz="1264" dirty="0"/>
          </a:p>
        </p:txBody>
      </p:sp>
      <p:sp>
        <p:nvSpPr>
          <p:cNvPr id="5" name="bd86c735-c475-4d88-9f76-4dfd6c27d274"/>
          <p:cNvSpPr/>
          <p:nvPr/>
        </p:nvSpPr>
        <p:spPr>
          <a:xfrm>
            <a:off x="1714500" y="23983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Introdução do tema e objetivo principal</a:t>
            </a:r>
            <a:endParaRPr lang="en-US" sz="1264" dirty="0"/>
          </a:p>
        </p:txBody>
      </p:sp>
      <p:sp>
        <p:nvSpPr>
          <p:cNvPr id="6" name="d3433f58-bcaf-460f-9c1b-424a9560b18a"/>
          <p:cNvSpPr/>
          <p:nvPr/>
        </p:nvSpPr>
        <p:spPr>
          <a:xfrm>
            <a:off x="1714500" y="16553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Slide de título e apresentação dos autores</a:t>
            </a:r>
            <a:endParaRPr lang="en-US" sz="1264" dirty="0"/>
          </a:p>
        </p:txBody>
      </p:sp>
      <p:sp>
        <p:nvSpPr>
          <p:cNvPr id="7" name="8664fcc0-43ee-4594-8c2e-b5f8ed84bc72"/>
          <p:cNvSpPr/>
          <p:nvPr/>
        </p:nvSpPr>
        <p:spPr>
          <a:xfrm>
            <a:off x="1714500" y="31412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Desenvolvimento com dados e evidências</a:t>
            </a:r>
            <a:endParaRPr lang="en-US" sz="1264" dirty="0"/>
          </a:p>
        </p:txBody>
      </p:sp>
      <p:sp>
        <p:nvSpPr>
          <p:cNvPr id="8" name="b7277602-a47b-4047-a01d-5241939bc92a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bbde39df-8bc5-4a22-b279-ac4cea44ac46"/>
          <p:cNvSpPr/>
          <p:nvPr/>
        </p:nvSpPr>
        <p:spPr>
          <a:xfrm>
            <a:off x="7292340" y="15187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e6481125-95d9-4605-8b0d-d6815c98b838"/>
          <p:cNvSpPr/>
          <p:nvPr/>
        </p:nvSpPr>
        <p:spPr>
          <a:xfrm>
            <a:off x="7292340" y="22617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70bd1544-d785-4303-9e2e-f74480353128"/>
          <p:cNvSpPr/>
          <p:nvPr/>
        </p:nvSpPr>
        <p:spPr>
          <a:xfrm>
            <a:off x="7292340" y="30046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c2dd11f9-9f93-4386-81a0-c056ecd6407b"/>
          <p:cNvSpPr/>
          <p:nvPr/>
        </p:nvSpPr>
        <p:spPr>
          <a:xfrm>
            <a:off x="7292340" y="37476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web1" descr="/home/forge/chalkie-production-workers-3/releases/78875040/backend/storage/app/render-specs/6227853d-6c39-4310-8f74-8df21d0a559a/img_ede1427ed28cf6fd69b841ad0b18487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2KQJ9Vc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lS72rBo"/>
          <p:cNvSpPr/>
          <p:nvPr/>
        </p:nvSpPr>
        <p:spPr>
          <a:xfrm>
            <a:off x="1668780" y="1752528"/>
            <a:ext cx="581787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Pesquisa Online e Navegadores</a:t>
            </a:r>
            <a:endParaRPr lang="en-US" sz="2246" dirty="0"/>
          </a:p>
        </p:txBody>
      </p:sp>
      <p:sp>
        <p:nvSpPr>
          <p:cNvPr id="5" name="TgUvGzvM"/>
          <p:cNvSpPr/>
          <p:nvPr/>
        </p:nvSpPr>
        <p:spPr>
          <a:xfrm>
            <a:off x="274320" y="2519050"/>
            <a:ext cx="85953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alimentar slides com fatos verídicos, você precisa dominar o acesso à internet e saber filtrar fontes confiáveis.</a:t>
            </a:r>
            <a:endParaRPr lang="en-US" sz="126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PSL5kbk"/>
          <p:cNvSpPr/>
          <p:nvPr/>
        </p:nvSpPr>
        <p:spPr>
          <a:xfrm>
            <a:off x="274320" y="700968"/>
            <a:ext cx="484632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um Navegador Web?</a:t>
            </a:r>
            <a:endParaRPr lang="en-US" sz="2246" dirty="0"/>
          </a:p>
        </p:txBody>
      </p:sp>
      <p:sp>
        <p:nvSpPr>
          <p:cNvPr id="3" name="cHmQ3hef"/>
          <p:cNvSpPr/>
          <p:nvPr/>
        </p:nvSpPr>
        <p:spPr>
          <a:xfrm>
            <a:off x="274320" y="1947550"/>
            <a:ext cx="4846320" cy="23888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navegador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(browser) é o aplicativo que traduz códigos de páginas web (como HTML, CSS e scripts) em páginas visíveis com textos, botões e vídeos.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Ele estabelece a ponte segura entre o seu computador pessoal e os servidores de internet espalhados pelo mundo.</a:t>
            </a:r>
            <a:endParaRPr lang="en-US" sz="1264" dirty="0"/>
          </a:p>
        </p:txBody>
      </p:sp>
      <p:pic>
        <p:nvPicPr>
          <p:cNvPr id="4" name="medbrw1" descr="/home/forge/chalkie-production-workers-3/releases/78875040/backend/storage/app/render-specs/6227853d-6c39-4310-8f74-8df21d0a559a/img_369decdc991d935187a958d2cf256b6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ugbHXiS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Principais Navegadores do Mercado</a:t>
            </a:r>
            <a:endParaRPr lang="en-US" sz="2246" dirty="0"/>
          </a:p>
        </p:txBody>
      </p:sp>
      <p:pic>
        <p:nvPicPr>
          <p:cNvPr id="3" name="medchr1" descr="/home/forge/chalkie-production-workers-3/releases/78875040/backend/storage/app/render-specs/6227853d-6c39-4310-8f74-8df21d0a559a/img_a01bbd5dca24346dfa442e61a9b5303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811780" cy="1954530"/>
          </a:xfrm>
          <a:prstGeom prst="roundRect">
            <a:avLst>
              <a:gd name="adj" fmla="val 7018"/>
            </a:avLst>
          </a:prstGeom>
        </p:spPr>
      </p:pic>
      <p:sp>
        <p:nvSpPr>
          <p:cNvPr id="4" name="aopdRSTk"/>
          <p:cNvSpPr/>
          <p:nvPr/>
        </p:nvSpPr>
        <p:spPr>
          <a:xfrm>
            <a:off x="274320" y="2940265"/>
            <a:ext cx="2811780" cy="1703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Google Chrome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Altamente veloz, com ampla biblioteca de extensões e sincronização direta da conta Google.</a:t>
            </a:r>
            <a:endParaRPr lang="en-US" sz="1615" dirty="0"/>
          </a:p>
        </p:txBody>
      </p:sp>
      <p:pic>
        <p:nvPicPr>
          <p:cNvPr id="5" name="medffx1" descr="/home/forge/chalkie-production-workers-3/releases/78875040/backend/storage/app/render-specs/6227853d-6c39-4310-8f74-8df21d0a559a/img_213a5c26e4c18364898d21433bd02d8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10" y="925830"/>
            <a:ext cx="2811780" cy="1954530"/>
          </a:xfrm>
          <a:prstGeom prst="roundRect">
            <a:avLst>
              <a:gd name="adj" fmla="val 7018"/>
            </a:avLst>
          </a:prstGeom>
        </p:spPr>
      </p:pic>
      <p:sp>
        <p:nvSpPr>
          <p:cNvPr id="6" name="1KFRmYax"/>
          <p:cNvSpPr/>
          <p:nvPr/>
        </p:nvSpPr>
        <p:spPr>
          <a:xfrm>
            <a:off x="3166110" y="2940265"/>
            <a:ext cx="2811780" cy="1703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Mozilla Firefox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Software livre e de código aberto com forte ênfase na privacidade de navegação dos usuários.</a:t>
            </a:r>
            <a:endParaRPr lang="en-US" sz="1615" dirty="0"/>
          </a:p>
        </p:txBody>
      </p:sp>
      <p:pic>
        <p:nvPicPr>
          <p:cNvPr id="7" name="mededg1" descr="/home/forge/chalkie-production-workers-3/releases/78875040/backend/storage/app/render-specs/6227853d-6c39-4310-8f74-8df21d0a559a/img_3ae19d92fa984c4eb3c94a99c9add69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925830"/>
            <a:ext cx="2811780" cy="1954530"/>
          </a:xfrm>
          <a:prstGeom prst="roundRect">
            <a:avLst>
              <a:gd name="adj" fmla="val 7018"/>
            </a:avLst>
          </a:prstGeom>
        </p:spPr>
      </p:pic>
      <p:sp>
        <p:nvSpPr>
          <p:cNvPr id="8" name="8sAP5XOW"/>
          <p:cNvSpPr/>
          <p:nvPr/>
        </p:nvSpPr>
        <p:spPr>
          <a:xfrm>
            <a:off x="6069330" y="2940265"/>
            <a:ext cx="2811780" cy="1703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Microsoft Edge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Nativo no Windows, baseado no motor Chromium e integrado a ferramentas de leitura de PDF.</a:t>
            </a:r>
            <a:endParaRPr lang="en-US" sz="161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LPzJAJg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Anatomia da Janela do Navegador</a:t>
            </a:r>
            <a:endParaRPr lang="en-US" sz="2246" dirty="0"/>
          </a:p>
        </p:txBody>
      </p:sp>
      <p:pic>
        <p:nvPicPr>
          <p:cNvPr id="3" name="meddia1" descr="/home/forge/chalkie-production-workers-3/releases/78875040/backend/storage/app/render-specs/6227853d-6c39-4310-8f74-8df21d0a559a/img_4c95973837c2c89ace07c4ebf4f25c9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8595360" cy="3086100"/>
          </a:xfrm>
          <a:prstGeom prst="roundRect">
            <a:avLst>
              <a:gd name="adj" fmla="val 4444"/>
            </a:avLst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QzncmPA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URL versus Mecanismo de Busca</a:t>
            </a:r>
            <a:endParaRPr lang="en-US" sz="2246" dirty="0"/>
          </a:p>
        </p:txBody>
      </p:sp>
      <p:sp>
        <p:nvSpPr>
          <p:cNvPr id="3" name="sqybB2sP"/>
          <p:cNvSpPr/>
          <p:nvPr/>
        </p:nvSpPr>
        <p:spPr>
          <a:xfrm>
            <a:off x="274320" y="1018647"/>
            <a:ext cx="17145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14300" tIns="45720" rIns="114300" bIns="45720" rtlCol="0" anchor="ctr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 CHAVE</a:t>
            </a:r>
            <a:endParaRPr lang="en-US" sz="842" dirty="0"/>
          </a:p>
        </p:txBody>
      </p:sp>
      <p:sp>
        <p:nvSpPr>
          <p:cNvPr id="4" name="HzS9fX6J"/>
          <p:cNvSpPr/>
          <p:nvPr/>
        </p:nvSpPr>
        <p:spPr>
          <a:xfrm>
            <a:off x="274320" y="1465893"/>
            <a:ext cx="4114800" cy="3406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Destinos Exatos e Varreduras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URL (Endereço Web):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o caminho único e direto para um site específico, como https://www.ibge.gov.br. Se você sabe o endereço, digita direto na barra.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Mecanismo de Busca: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Plataformas como Google, Bing ou DuckDuckGo que indexam bilhões de páginas e respondem a termos de consulta quando você desconhece a página final.</a:t>
            </a:r>
            <a:endParaRPr lang="en-US" sz="1685" dirty="0"/>
          </a:p>
        </p:txBody>
      </p:sp>
      <p:pic>
        <p:nvPicPr>
          <p:cNvPr id="5" name="medurl1" descr="/home/forge/chalkie-production-workers-3/releases/78875040/backend/storage/app/render-specs/6227853d-6c39-4310-8f74-8df21d0a559a/img_3165378b276979c3dd0394444ce3a0f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114800" cy="3086100"/>
          </a:xfrm>
          <a:prstGeom prst="roundRect">
            <a:avLst>
              <a:gd name="adj" fmla="val 4444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c14ec44-7743-4d1c-bbe3-52793737b943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Conceitos de Navegação</a:t>
            </a:r>
            <a:endParaRPr lang="en-US" sz="2246" dirty="0"/>
          </a:p>
        </p:txBody>
      </p:sp>
      <p:sp>
        <p:nvSpPr>
          <p:cNvPr id="3" name="b37c9a60-c59c-408e-9535-7a00e34ec0d9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22f585c9-d19c-49d7-855c-c9b6888cd00c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URL</a:t>
            </a:r>
            <a:endParaRPr lang="en-US" sz="1404" dirty="0"/>
          </a:p>
        </p:txBody>
      </p:sp>
      <p:sp>
        <p:nvSpPr>
          <p:cNvPr id="5" name="98260409-b1de-4bdf-ad43-0d82f5e8b1f6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Mecanismo de Busca</a:t>
            </a:r>
            <a:endParaRPr lang="en-US" sz="1404" dirty="0"/>
          </a:p>
        </p:txBody>
      </p:sp>
      <p:sp>
        <p:nvSpPr>
          <p:cNvPr id="6" name="b4a3a7cb-2ff3-413a-83bf-36f05ec222e1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Navegador</a:t>
            </a:r>
            <a:endParaRPr lang="en-US" sz="1404" dirty="0"/>
          </a:p>
        </p:txBody>
      </p:sp>
      <p:sp>
        <p:nvSpPr>
          <p:cNvPr id="7" name="0f7c3b87-7f32-425f-b1a7-cb6cc0618202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Aba</a:t>
            </a:r>
            <a:endParaRPr lang="en-US" sz="1404" dirty="0"/>
          </a:p>
        </p:txBody>
      </p:sp>
      <p:sp>
        <p:nvSpPr>
          <p:cNvPr id="8" name="32d5a9b4-1105-4220-b30d-9b5e585bc714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Divisão interna da janela que permite manter vários sites abertos simultaneamente.</a:t>
            </a:r>
            <a:endParaRPr lang="en-US" sz="1264" dirty="0"/>
          </a:p>
        </p:txBody>
      </p:sp>
      <p:sp>
        <p:nvSpPr>
          <p:cNvPr id="9" name="e817546e-2dc0-4e94-9da1-5b9693bcff14"/>
          <p:cNvSpPr/>
          <p:nvPr/>
        </p:nvSpPr>
        <p:spPr>
          <a:xfrm>
            <a:off x="3829050" y="22268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Endereço digital exclusivo de um site ou recurso na internet.</a:t>
            </a:r>
            <a:endParaRPr lang="en-US" sz="1264" dirty="0"/>
          </a:p>
        </p:txBody>
      </p:sp>
      <p:sp>
        <p:nvSpPr>
          <p:cNvPr id="10" name="09980c27-cab5-4ed1-9d8d-519b86dec9d5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Serviço online que indexa páginas e localiza respostas a partir de termos.</a:t>
            </a:r>
            <a:endParaRPr lang="en-US" sz="1264" dirty="0"/>
          </a:p>
        </p:txBody>
      </p:sp>
      <p:sp>
        <p:nvSpPr>
          <p:cNvPr id="11" name="f0a393ee-3bea-401d-9520-0f96b7efa2ee"/>
          <p:cNvSpPr/>
          <p:nvPr/>
        </p:nvSpPr>
        <p:spPr>
          <a:xfrm>
            <a:off x="3829050" y="40556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Programa de computador usado para abrir e visualizar páginas da web.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c14ec44-7743-4d1c-bbe3-52793737b943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Conceitos de Navegação</a:t>
            </a:r>
            <a:endParaRPr lang="en-US" sz="2246" dirty="0"/>
          </a:p>
        </p:txBody>
      </p:sp>
      <p:sp>
        <p:nvSpPr>
          <p:cNvPr id="3" name="b37c9a60-c59c-408e-9535-7a00e34ec0d9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22f585c9-d19c-49d7-855c-c9b6888cd00c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URL</a:t>
            </a:r>
            <a:endParaRPr lang="en-US" sz="1404" dirty="0"/>
          </a:p>
        </p:txBody>
      </p:sp>
      <p:sp>
        <p:nvSpPr>
          <p:cNvPr id="5" name="98260409-b1de-4bdf-ad43-0d82f5e8b1f6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Mecanismo de Busca</a:t>
            </a:r>
            <a:endParaRPr lang="en-US" sz="1404" dirty="0"/>
          </a:p>
        </p:txBody>
      </p:sp>
      <p:sp>
        <p:nvSpPr>
          <p:cNvPr id="6" name="b4a3a7cb-2ff3-413a-83bf-36f05ec222e1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Navegador</a:t>
            </a:r>
            <a:endParaRPr lang="en-US" sz="1404" dirty="0"/>
          </a:p>
        </p:txBody>
      </p:sp>
      <p:sp>
        <p:nvSpPr>
          <p:cNvPr id="7" name="0f7c3b87-7f32-425f-b1a7-cb6cc0618202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Aba</a:t>
            </a:r>
            <a:endParaRPr lang="en-US" sz="1404" dirty="0"/>
          </a:p>
        </p:txBody>
      </p:sp>
      <p:sp>
        <p:nvSpPr>
          <p:cNvPr id="8" name="32d5a9b4-1105-4220-b30d-9b5e585bc714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Divisão interna da janela que permite manter vários sites abertos simultaneamente.</a:t>
            </a:r>
            <a:endParaRPr lang="en-US" sz="1264" dirty="0"/>
          </a:p>
        </p:txBody>
      </p:sp>
      <p:sp>
        <p:nvSpPr>
          <p:cNvPr id="9" name="e817546e-2dc0-4e94-9da1-5b9693bcff14"/>
          <p:cNvSpPr/>
          <p:nvPr/>
        </p:nvSpPr>
        <p:spPr>
          <a:xfrm>
            <a:off x="3829050" y="22268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Endereço digital exclusivo de um site ou recurso na internet.</a:t>
            </a:r>
            <a:endParaRPr lang="en-US" sz="1264" dirty="0"/>
          </a:p>
        </p:txBody>
      </p:sp>
      <p:sp>
        <p:nvSpPr>
          <p:cNvPr id="10" name="09980c27-cab5-4ed1-9d8d-519b86dec9d5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Serviço online que indexa páginas e localiza respostas a partir de termos.</a:t>
            </a:r>
            <a:endParaRPr lang="en-US" sz="1264" dirty="0"/>
          </a:p>
        </p:txBody>
      </p:sp>
      <p:sp>
        <p:nvSpPr>
          <p:cNvPr id="11" name="f0a393ee-3bea-401d-9520-0f96b7efa2ee"/>
          <p:cNvSpPr/>
          <p:nvPr/>
        </p:nvSpPr>
        <p:spPr>
          <a:xfrm>
            <a:off x="3829050" y="40556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Programa de computador usado para abrir e visualizar páginas da web.</a:t>
            </a:r>
            <a:endParaRPr lang="en-US" sz="1264" dirty="0"/>
          </a:p>
        </p:txBody>
      </p:sp>
      <p:sp>
        <p:nvSpPr>
          <p:cNvPr id="12" name="7e06cd2c-61e4-42e7-baae-abda92f7b5a8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connector-7586c933-4076-49c2-90a2-77c26f62074d-0"/>
          <p:cNvSpPr/>
          <p:nvPr/>
        </p:nvSpPr>
        <p:spPr>
          <a:xfrm>
            <a:off x="2571750" y="1623060"/>
            <a:ext cx="994410" cy="952754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4" name="connector-7586c933-4076-49c2-90a2-77c26f62074d-1"/>
          <p:cNvSpPr/>
          <p:nvPr/>
        </p:nvSpPr>
        <p:spPr>
          <a:xfrm>
            <a:off x="2571750" y="2537460"/>
            <a:ext cx="994410" cy="952754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5" name="connector-7586c933-4076-49c2-90a2-77c26f62074d-2"/>
          <p:cNvSpPr/>
          <p:nvPr/>
        </p:nvSpPr>
        <p:spPr>
          <a:xfrm>
            <a:off x="2571750" y="3451860"/>
            <a:ext cx="994410" cy="952754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6" name="connector-7586c933-4076-49c2-90a2-77c26f62074d-3"/>
          <p:cNvSpPr/>
          <p:nvPr/>
        </p:nvSpPr>
        <p:spPr>
          <a:xfrm flipV="1">
            <a:off x="2571750" y="1661414"/>
            <a:ext cx="994410" cy="2704846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7" name="1f81f29f-f30d-4550-b23b-30f936cb72f7"/>
          <p:cNvSpPr/>
          <p:nvPr/>
        </p:nvSpPr>
        <p:spPr>
          <a:xfrm>
            <a:off x="3394710" y="24029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</a:t>
            </a:r>
            <a:endParaRPr lang="en-US" sz="913" dirty="0"/>
          </a:p>
        </p:txBody>
      </p:sp>
      <p:sp>
        <p:nvSpPr>
          <p:cNvPr id="18" name="0086cd7d-1618-4e44-bffc-41e3ee504afe"/>
          <p:cNvSpPr/>
          <p:nvPr/>
        </p:nvSpPr>
        <p:spPr>
          <a:xfrm>
            <a:off x="3394710" y="33173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</a:t>
            </a:r>
            <a:endParaRPr lang="en-US" sz="913" dirty="0"/>
          </a:p>
        </p:txBody>
      </p:sp>
      <p:sp>
        <p:nvSpPr>
          <p:cNvPr id="19" name="f288dd89-684d-4088-96c4-3eeee0694999"/>
          <p:cNvSpPr/>
          <p:nvPr/>
        </p:nvSpPr>
        <p:spPr>
          <a:xfrm>
            <a:off x="3394710" y="42317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</a:t>
            </a:r>
            <a:endParaRPr lang="en-US" sz="913" dirty="0"/>
          </a:p>
        </p:txBody>
      </p:sp>
      <p:sp>
        <p:nvSpPr>
          <p:cNvPr id="20" name="336cedad-e913-47f6-87a6-200904548eaf"/>
          <p:cNvSpPr/>
          <p:nvPr/>
        </p:nvSpPr>
        <p:spPr>
          <a:xfrm>
            <a:off x="3394710" y="14885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</a:t>
            </a:r>
            <a:endParaRPr lang="en-US" sz="91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jiBIvLC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Estratégias de Busca Eficiente</a:t>
            </a:r>
            <a:endParaRPr lang="en-US" sz="2246" dirty="0"/>
          </a:p>
        </p:txBody>
      </p:sp>
      <p:sp>
        <p:nvSpPr>
          <p:cNvPr id="3" name="nzzWC02O"/>
          <p:cNvSpPr/>
          <p:nvPr/>
        </p:nvSpPr>
        <p:spPr>
          <a:xfrm>
            <a:off x="274320" y="928585"/>
            <a:ext cx="4503420" cy="26174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Palavras-Chave Estruturadas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pesquisar fazendo perguntas longas e conversacionais como "o que eu faço para saber sobre a mata atlântica".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termos nucleares objetivos: substantivos, conceitos científicos, datas e locais precisos, como bioma mata atlantica caracteristicas desmatamento.</a:t>
            </a:r>
            <a:endParaRPr lang="en-US" sz="1615" dirty="0"/>
          </a:p>
        </p:txBody>
      </p:sp>
      <p:sp>
        <p:nvSpPr>
          <p:cNvPr id="4" name="AMGBwDR0"/>
          <p:cNvSpPr/>
          <p:nvPr/>
        </p:nvSpPr>
        <p:spPr>
          <a:xfrm>
            <a:off x="274320" y="3623310"/>
            <a:ext cx="4503420" cy="1303020"/>
          </a:xfrm>
          <a:prstGeom prst="roundRect">
            <a:avLst>
              <a:gd name="adj" fmla="val 7018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5" name="jt3BJLMI"/>
          <p:cNvSpPr/>
          <p:nvPr/>
        </p:nvSpPr>
        <p:spPr>
          <a:xfrm>
            <a:off x="400050" y="3778084"/>
            <a:ext cx="320040" cy="4686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7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⚠️</a:t>
            </a:r>
            <a:endParaRPr lang="en-US" sz="1615" dirty="0"/>
          </a:p>
        </p:txBody>
      </p:sp>
      <p:sp>
        <p:nvSpPr>
          <p:cNvPr id="6" name="lICKNmRB"/>
          <p:cNvSpPr/>
          <p:nvPr/>
        </p:nvSpPr>
        <p:spPr>
          <a:xfrm>
            <a:off x="765810" y="3747226"/>
            <a:ext cx="3886200" cy="10515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Cuidado</a:t>
            </a:r>
            <a:endParaRPr lang="en-US" sz="1123" dirty="0"/>
          </a:p>
          <a:p>
            <a:pPr algn="l" indent="0" marL="0">
              <a:lnSpc>
                <a:spcPts val="1897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Palavras genéricas demais geram milhões de resultados irrelevantes e comerciais.</a:t>
            </a:r>
            <a:endParaRPr lang="en-US" sz="1123" dirty="0"/>
          </a:p>
        </p:txBody>
      </p:sp>
      <p:pic>
        <p:nvPicPr>
          <p:cNvPr id="7" name="medkey1" descr="/home/forge/chalkie-production-workers-3/releases/78875040/backend/storage/app/render-specs/6227853d-6c39-4310-8f74-8df21d0a559a/img_fcfaa05949e06c3be131d23325fd655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925830"/>
            <a:ext cx="3909060" cy="342900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fTICr25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Operadores de Busca Essenciais</a:t>
            </a:r>
            <a:endParaRPr lang="en-US" sz="2246" dirty="0"/>
          </a:p>
        </p:txBody>
      </p:sp>
      <p:pic>
        <p:nvPicPr>
          <p:cNvPr id="3" name="medop1" descr="/home/forge/chalkie-production-workers-3/releases/78875040/backend/storage/app/render-specs/6227853d-6c39-4310-8f74-8df21d0a559a/img_be7989b4b4d64272f0002de27ca9a2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9ObhR1ED"/>
          <p:cNvSpPr/>
          <p:nvPr/>
        </p:nvSpPr>
        <p:spPr>
          <a:xfrm>
            <a:off x="274320" y="3664041"/>
            <a:ext cx="274320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Aspas duplas (" ")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Localizam a frase exata na mesma ordem de palavras. Ex: "energia solar no Brasil".</a:t>
            </a:r>
            <a:endParaRPr lang="en-US" sz="1123" dirty="0"/>
          </a:p>
        </p:txBody>
      </p:sp>
      <p:pic>
        <p:nvPicPr>
          <p:cNvPr id="5" name="medop2" descr="/home/forge/chalkie-production-workers-3/releases/78875040/backend/storage/app/render-specs/6227853d-6c39-4310-8f74-8df21d0a559a/img_60347505224b61c4dd5901556a0a054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3726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GgOI4nPY"/>
          <p:cNvSpPr/>
          <p:nvPr/>
        </p:nvSpPr>
        <p:spPr>
          <a:xfrm>
            <a:off x="3200400" y="3092541"/>
            <a:ext cx="2743200" cy="1440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Sinal de menos (-)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Exclui termos indesejados da pesquisa. Ex: onca -carro para achar o animal e não o veículo.</a:t>
            </a:r>
            <a:endParaRPr lang="en-US" sz="1123" dirty="0"/>
          </a:p>
        </p:txBody>
      </p:sp>
      <p:pic>
        <p:nvPicPr>
          <p:cNvPr id="7" name="medop3" descr="/home/forge/chalkie-production-workers-3/releases/78875040/backend/storage/app/render-specs/6227853d-6c39-4310-8f74-8df21d0a559a/img_32b7e884a959ce6612510da3dc18527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8" name="9WrTOwF6"/>
          <p:cNvSpPr/>
          <p:nvPr/>
        </p:nvSpPr>
        <p:spPr>
          <a:xfrm>
            <a:off x="6126480" y="3664041"/>
            <a:ext cx="274320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Operador site: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Restringe a busca a domínios confiáveis. Ex: site:gov.br vacinacao ou site:edu.</a:t>
            </a:r>
            <a:endParaRPr lang="en-US" sz="112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lXJksz3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Filtros de Formato e Tempo</a:t>
            </a:r>
            <a:endParaRPr lang="en-US" sz="2246" dirty="0"/>
          </a:p>
        </p:txBody>
      </p:sp>
      <p:pic>
        <p:nvPicPr>
          <p:cNvPr id="3" name="medfil1" descr="/home/forge/chalkie-production-workers-3/releases/78875040/backend/storage/app/render-specs/6227853d-6c39-4310-8f74-8df21d0a559a/img_61cff900561aecc3e8fd98b18d7f34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4wv6ponp"/>
          <p:cNvSpPr/>
          <p:nvPr/>
        </p:nvSpPr>
        <p:spPr>
          <a:xfrm>
            <a:off x="274320" y="3043233"/>
            <a:ext cx="425196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de Arquivo (filetype:)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filetype:pdf para encontrar relatórios oficiais e artigos científicos formatados para leitura acadêmica.</a:t>
            </a:r>
            <a:endParaRPr lang="en-US" sz="1685" dirty="0"/>
          </a:p>
        </p:txBody>
      </p:sp>
      <p:pic>
        <p:nvPicPr>
          <p:cNvPr id="5" name="medfil2" descr="/home/forge/chalkie-production-workers-3/releases/78875040/backend/storage/app/render-specs/6227853d-6c39-4310-8f74-8df21d0a559a/img_e443b8d424924b06b5521696b130782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QcZtt3FD"/>
          <p:cNvSpPr/>
          <p:nvPr/>
        </p:nvSpPr>
        <p:spPr>
          <a:xfrm>
            <a:off x="4617720" y="3043233"/>
            <a:ext cx="4251960" cy="1783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Recorte Temporal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Restrinja os resultados nas "Ferramentas" para o último ano ou último mês para obter dados atualizados de tecnologia.</a:t>
            </a:r>
            <a:endParaRPr lang="en-US" sz="168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35d0725-6dd7-4bb9-9089-c14cc8e5edee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Aplicando Operadores</a:t>
            </a:r>
            <a:endParaRPr lang="en-US" sz="2246" dirty="0"/>
          </a:p>
        </p:txBody>
      </p:sp>
      <p:sp>
        <p:nvSpPr>
          <p:cNvPr id="3" name="467cab4a-6e92-4065-b12b-f0f7c843cee4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pesquisa encontra estritamente documentos em formato PDF dentro de sites governamentais brasileiros sobre robótica?</a:t>
            </a:r>
            <a:endParaRPr lang="en-US" sz="1264" dirty="0"/>
          </a:p>
        </p:txBody>
      </p:sp>
      <p:sp>
        <p:nvSpPr>
          <p:cNvPr id="4" name="7372ff9d-48fb-437d-8d1c-6c66b8084f03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006c7be9-7e6c-40e7-ac5a-21e24506cac0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site:com robotica filetype:doc</a:t>
            </a:r>
            <a:endParaRPr lang="en-US" sz="1264" dirty="0"/>
          </a:p>
        </p:txBody>
      </p:sp>
      <p:sp>
        <p:nvSpPr>
          <p:cNvPr id="6" name="4ef00466-6583-45ce-a833-4dfff257e5ca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6fbede8a-17d4-41ca-a76e-397c914d4c26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"robotica governamental em pdf"</a:t>
            </a:r>
            <a:endParaRPr lang="en-US" sz="1264" dirty="0"/>
          </a:p>
        </p:txBody>
      </p:sp>
      <p:sp>
        <p:nvSpPr>
          <p:cNvPr id="8" name="74f56452-8737-44ba-bfa2-ff5b2000d290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6206ed3-232a-491a-b707-c67226e89b3a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robotica + google + pdf</a:t>
            </a:r>
            <a:endParaRPr lang="en-US" sz="1264" dirty="0"/>
          </a:p>
        </p:txBody>
      </p:sp>
      <p:sp>
        <p:nvSpPr>
          <p:cNvPr id="10" name="6e13ef58-cace-4b57-aabd-1856dbfd57ec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2829cfb4-ed2f-4a26-b43c-ec6aa09c2125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robotica site:gov.br filetype:pdf</a:t>
            </a:r>
            <a:endParaRPr lang="en-US" sz="126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35d0725-6dd7-4bb9-9089-c14cc8e5edee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Aplicando Operadores</a:t>
            </a:r>
            <a:endParaRPr lang="en-US" sz="2246" dirty="0"/>
          </a:p>
        </p:txBody>
      </p:sp>
      <p:sp>
        <p:nvSpPr>
          <p:cNvPr id="3" name="467cab4a-6e92-4065-b12b-f0f7c843cee4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pesquisa encontra estritamente documentos em formato PDF dentro de sites governamentais brasileiros sobre robótica?</a:t>
            </a:r>
            <a:endParaRPr lang="en-US" sz="1264" dirty="0"/>
          </a:p>
        </p:txBody>
      </p:sp>
      <p:sp>
        <p:nvSpPr>
          <p:cNvPr id="4" name="7372ff9d-48fb-437d-8d1c-6c66b8084f03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006c7be9-7e6c-40e7-ac5a-21e24506cac0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site:com robotica filetype:doc</a:t>
            </a:r>
            <a:endParaRPr lang="en-US" sz="1264" dirty="0"/>
          </a:p>
        </p:txBody>
      </p:sp>
      <p:sp>
        <p:nvSpPr>
          <p:cNvPr id="6" name="4ef00466-6583-45ce-a833-4dfff257e5ca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6fbede8a-17d4-41ca-a76e-397c914d4c26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"robotica governamental em pdf"</a:t>
            </a:r>
            <a:endParaRPr lang="en-US" sz="1264" dirty="0"/>
          </a:p>
        </p:txBody>
      </p:sp>
      <p:sp>
        <p:nvSpPr>
          <p:cNvPr id="8" name="74f56452-8737-44ba-bfa2-ff5b2000d290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6206ed3-232a-491a-b707-c67226e89b3a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robotica + google + pdf</a:t>
            </a:r>
            <a:endParaRPr lang="en-US" sz="1264" dirty="0"/>
          </a:p>
        </p:txBody>
      </p:sp>
      <p:sp>
        <p:nvSpPr>
          <p:cNvPr id="10" name="6e13ef58-cace-4b57-aabd-1856dbfd57ec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2829cfb4-ed2f-4a26-b43c-ec6aa09c2125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robotica site:gov.br filetype:pdf</a:t>
            </a:r>
            <a:endParaRPr lang="en-US" sz="1264" dirty="0"/>
          </a:p>
        </p:txBody>
      </p:sp>
      <p:sp>
        <p:nvSpPr>
          <p:cNvPr id="12" name="eab79476-237c-4109-80b6-b68289566c05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3724a935-0427-4eee-8bfe-287736412fea"/>
          <p:cNvSpPr/>
          <p:nvPr/>
        </p:nvSpPr>
        <p:spPr>
          <a:xfrm>
            <a:off x="8721090" y="40905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YH7TuGJ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Avaliação da Credibilidade de Fontes</a:t>
            </a:r>
            <a:endParaRPr lang="en-US" sz="2246" dirty="0"/>
          </a:p>
        </p:txBody>
      </p:sp>
      <p:sp>
        <p:nvSpPr>
          <p:cNvPr id="3" name="o0oyL4Ku"/>
          <p:cNvSpPr/>
          <p:nvPr/>
        </p:nvSpPr>
        <p:spPr>
          <a:xfrm>
            <a:off x="274320" y="1018647"/>
            <a:ext cx="17145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14300" tIns="45720" rIns="114300" bIns="45720" rtlCol="0" anchor="ctr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 CHAVE</a:t>
            </a:r>
            <a:endParaRPr lang="en-US" sz="842" dirty="0"/>
          </a:p>
        </p:txBody>
      </p:sp>
      <p:sp>
        <p:nvSpPr>
          <p:cNvPr id="4" name="3kqBSxO8"/>
          <p:cNvSpPr/>
          <p:nvPr/>
        </p:nvSpPr>
        <p:spPr>
          <a:xfrm>
            <a:off x="274320" y="1465893"/>
            <a:ext cx="4114800" cy="3406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Nem Tudo na Web é Fato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Qualquer pessoa pode criar uma página na internet e publicar conteúdos inverídicos. Em trabalhos do 8º ano, a precisão das fontes sustenta a nota e a integridade da apresentação.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Avaliar uma fonte requer espírito crítico: investigar quem produziu a informação, sua formação, objetivos e vínculos institucionais.</a:t>
            </a:r>
            <a:endParaRPr lang="en-US" sz="1685" dirty="0"/>
          </a:p>
        </p:txBody>
      </p:sp>
      <p:pic>
        <p:nvPicPr>
          <p:cNvPr id="5" name="medeva1" descr="/home/forge/chalkie-production-workers-3/releases/78875040/backend/storage/app/render-specs/6227853d-6c39-4310-8f74-8df21d0a559a/img_9d5f049fb951a05df0050f1a5753ef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114800" cy="3086100"/>
          </a:xfrm>
          <a:prstGeom prst="roundRect">
            <a:avLst>
              <a:gd name="adj" fmla="val 4444"/>
            </a:avLst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k7jkimA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Método dos Quatro Pilares</a:t>
            </a:r>
            <a:endParaRPr lang="en-US" sz="2246" dirty="0"/>
          </a:p>
        </p:txBody>
      </p:sp>
      <p:sp>
        <p:nvSpPr>
          <p:cNvPr id="3" name="lzDIWif7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name="adj" fmla="val 710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medpil1" descr="/home/forge/chalkie-production-workers-3/releases/78875040/backend/storage/app/render-specs/6227853d-6c39-4310-8f74-8df21d0a559a/img_4b18c1c13c4fb0da88308880592f61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62990"/>
            <a:ext cx="548640" cy="548640"/>
          </a:xfrm>
          <a:prstGeom prst="rect">
            <a:avLst/>
          </a:prstGeom>
        </p:spPr>
      </p:pic>
      <p:sp>
        <p:nvSpPr>
          <p:cNvPr id="5" name="nArHMQy9"/>
          <p:cNvSpPr/>
          <p:nvPr/>
        </p:nvSpPr>
        <p:spPr>
          <a:xfrm>
            <a:off x="1005840" y="1065745"/>
            <a:ext cx="338328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Autoridade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Quem escreveu? É um especialista, pesquisador ou instituição científica reconhecida?</a:t>
            </a:r>
            <a:endParaRPr lang="en-US" sz="1615" dirty="0"/>
          </a:p>
        </p:txBody>
      </p:sp>
      <p:sp>
        <p:nvSpPr>
          <p:cNvPr id="6" name="n1uXszog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name="adj" fmla="val 710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medpil2" descr="/home/forge/chalkie-production-workers-3/releases/78875040/backend/storage/app/render-specs/6227853d-6c39-4310-8f74-8df21d0a559a/img_dd2714631831950bea6baf7a2dbd35d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62990"/>
            <a:ext cx="548640" cy="548640"/>
          </a:xfrm>
          <a:prstGeom prst="rect">
            <a:avLst/>
          </a:prstGeom>
        </p:spPr>
      </p:pic>
      <p:sp>
        <p:nvSpPr>
          <p:cNvPr id="8" name="C0GFL1ga"/>
          <p:cNvSpPr/>
          <p:nvPr/>
        </p:nvSpPr>
        <p:spPr>
          <a:xfrm>
            <a:off x="5349240" y="1065745"/>
            <a:ext cx="338328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Exatidão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texto cita referências, bibliografia e dados mensuráveis que você pode conferir?</a:t>
            </a:r>
            <a:endParaRPr lang="en-US" sz="1615" dirty="0"/>
          </a:p>
        </p:txBody>
      </p:sp>
      <p:sp>
        <p:nvSpPr>
          <p:cNvPr id="9" name="PymvGH2J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name="adj" fmla="val 710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medpil3" descr="/home/forge/chalkie-production-workers-3/releases/78875040/backend/storage/app/render-specs/6227853d-6c39-4310-8f74-8df21d0a559a/img_ad732f8ce82d7bf55ce161cf8534068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86100"/>
            <a:ext cx="548640" cy="548640"/>
          </a:xfrm>
          <a:prstGeom prst="rect">
            <a:avLst/>
          </a:prstGeom>
        </p:spPr>
      </p:pic>
      <p:sp>
        <p:nvSpPr>
          <p:cNvPr id="11" name="ltrJlnJo"/>
          <p:cNvSpPr/>
          <p:nvPr/>
        </p:nvSpPr>
        <p:spPr>
          <a:xfrm>
            <a:off x="1005840" y="3088855"/>
            <a:ext cx="338328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Atualidade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página possui data de publicação visível? As informações ainda refletem a realidade?</a:t>
            </a:r>
            <a:endParaRPr lang="en-US" sz="1615" dirty="0"/>
          </a:p>
        </p:txBody>
      </p:sp>
      <p:sp>
        <p:nvSpPr>
          <p:cNvPr id="12" name="skiBpiDX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name="adj" fmla="val 710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medpil4" descr="/home/forge/chalkie-production-workers-3/releases/78875040/backend/storage/app/render-specs/6227853d-6c39-4310-8f74-8df21d0a559a/img_3e18bbf2446b1eecafdd615742aed27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086100"/>
            <a:ext cx="548640" cy="548640"/>
          </a:xfrm>
          <a:prstGeom prst="rect">
            <a:avLst/>
          </a:prstGeom>
        </p:spPr>
      </p:pic>
      <p:sp>
        <p:nvSpPr>
          <p:cNvPr id="14" name="lAqj6qG8"/>
          <p:cNvSpPr/>
          <p:nvPr/>
        </p:nvSpPr>
        <p:spPr>
          <a:xfrm>
            <a:off x="5349240" y="3088855"/>
            <a:ext cx="338328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8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Objetividade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artigo é educativo e informativo ou tenta apenas vender produtos e induzir opiniões?</a:t>
            </a:r>
            <a:endParaRPr lang="en-US" sz="161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uRmY2o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Sinais de Alerta em Páginas Web</a:t>
            </a:r>
            <a:endParaRPr lang="en-US" sz="2246" dirty="0"/>
          </a:p>
        </p:txBody>
      </p:sp>
      <p:pic>
        <p:nvPicPr>
          <p:cNvPr id="3" name="medale1" descr="/home/forge/chalkie-production-workers-3/releases/78875040/backend/storage/app/render-specs/6227853d-6c39-4310-8f74-8df21d0a559a/img_3041f97be020afabea79dd56fcd55b6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420624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9dDGe7aV"/>
          <p:cNvSpPr/>
          <p:nvPr/>
        </p:nvSpPr>
        <p:spPr>
          <a:xfrm>
            <a:off x="274320" y="3191823"/>
            <a:ext cx="420624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Títulos Sensacionalistas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Chamadas com exclamações excessivas, promessas milagrosas e manchetes apelativas (clickbait).</a:t>
            </a:r>
            <a:endParaRPr lang="en-US" sz="1685" dirty="0"/>
          </a:p>
        </p:txBody>
      </p:sp>
      <p:pic>
        <p:nvPicPr>
          <p:cNvPr id="5" name="medale2" descr="/home/forge/chalkie-production-workers-3/releases/78875040/backend/storage/app/render-specs/6227853d-6c39-4310-8f74-8df21d0a559a/img_abd2cbc15f281e30d293fca17fd1e0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17270"/>
            <a:ext cx="420624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w2iC0G6q"/>
          <p:cNvSpPr/>
          <p:nvPr/>
        </p:nvSpPr>
        <p:spPr>
          <a:xfrm>
            <a:off x="4663440" y="3191823"/>
            <a:ext cx="4206240" cy="14973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Excesso de Anúncios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Portais onde propagandas cobrem o conteúdo textual e não há seção de contato ou autoria identificável.</a:t>
            </a:r>
            <a:endParaRPr lang="en-US" sz="168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Cx05kw8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Organização de Favoritos e Pastas</a:t>
            </a:r>
            <a:endParaRPr lang="en-US" sz="2246" dirty="0"/>
          </a:p>
        </p:txBody>
      </p:sp>
      <p:sp>
        <p:nvSpPr>
          <p:cNvPr id="3" name="XEKQ87sb"/>
          <p:cNvSpPr/>
          <p:nvPr/>
        </p:nvSpPr>
        <p:spPr>
          <a:xfrm>
            <a:off x="274320" y="1020123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Armazenando Achados Importantes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Durante uma pesquisa, é comum abrir dezenas de páginas. Salvar links na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 de Favoritos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(Ctrl + D) impede a perda de artigos essenciais.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pastas temáticas na barra, como "Ciências - 8º Ano" ou "Trabalho de História", mantendo os links catalogados por disciplina.</a:t>
            </a:r>
            <a:endParaRPr lang="en-US" sz="1685" dirty="0"/>
          </a:p>
        </p:txBody>
      </p:sp>
      <p:pic>
        <p:nvPicPr>
          <p:cNvPr id="4" name="medfav1" descr="/home/forge/chalkie-production-workers-3/releases/78875040/backend/storage/app/render-specs/6227853d-6c39-4310-8f74-8df21d0a559a/img_06034e84672997fde13af1e1fa6267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086100"/>
          </a:xfrm>
          <a:prstGeom prst="roundRect">
            <a:avLst>
              <a:gd name="adj" fmla="val 4444"/>
            </a:avLst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dO5IJRL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Histórico de Navegação e Atalhos</a:t>
            </a:r>
            <a:endParaRPr lang="en-US" sz="2246" dirty="0"/>
          </a:p>
        </p:txBody>
      </p:sp>
      <p:sp>
        <p:nvSpPr>
          <p:cNvPr id="3" name="AwQR7mGl"/>
          <p:cNvSpPr/>
          <p:nvPr/>
        </p:nvSpPr>
        <p:spPr>
          <a:xfrm>
            <a:off x="274320" y="1020123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Recuperando Abas Fechadas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Histórico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(Ctrl + H) registra cronologicamente todas as páginas acessadas. Ele é fundamental para resgatar uma fonte consultada dias atrás.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você fechou uma aba por engano, utilize o atalho de ouro: Ctrl + Shift + T. Ele reabre imediatamente a última aba encerrada.</a:t>
            </a:r>
            <a:endParaRPr lang="en-US" sz="1685" dirty="0"/>
          </a:p>
        </p:txBody>
      </p:sp>
      <p:pic>
        <p:nvPicPr>
          <p:cNvPr id="4" name="medhis1" descr="/home/forge/chalkie-production-workers-3/releases/78875040/backend/storage/app/render-specs/6227853d-6c39-4310-8f74-8df21d0a559a/img_ad43e6c9e928b64e3b336d41f77913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086100"/>
          </a:xfrm>
          <a:prstGeom prst="roundRect">
            <a:avLst>
              <a:gd name="adj" fmla="val 4444"/>
            </a:avLst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zbBZamP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Gerenciamento Seguro de Downloads</a:t>
            </a:r>
            <a:endParaRPr lang="en-US" sz="2246" dirty="0"/>
          </a:p>
        </p:txBody>
      </p:sp>
      <p:sp>
        <p:nvSpPr>
          <p:cNvPr id="3" name="TsljhEwj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p84rDJRd"/>
          <p:cNvSpPr/>
          <p:nvPr/>
        </p:nvSpPr>
        <p:spPr>
          <a:xfrm>
            <a:off x="468630" y="1588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5" name="nxnXFuEJ"/>
          <p:cNvSpPr/>
          <p:nvPr/>
        </p:nvSpPr>
        <p:spPr>
          <a:xfrm>
            <a:off x="1108710" y="138748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Painel de Downloads (Ctrl + J):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Monitore o progresso de arquivos baixados e veja sua pasta de destino.</a:t>
            </a:r>
            <a:endParaRPr lang="en-US" sz="1264" dirty="0"/>
          </a:p>
        </p:txBody>
      </p:sp>
      <p:sp>
        <p:nvSpPr>
          <p:cNvPr id="6" name="ELRfkam4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2JQY9e5q"/>
          <p:cNvSpPr/>
          <p:nvPr/>
        </p:nvSpPr>
        <p:spPr>
          <a:xfrm>
            <a:off x="468630" y="274307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8" name="qQOjOQpT"/>
          <p:cNvSpPr/>
          <p:nvPr/>
        </p:nvSpPr>
        <p:spPr>
          <a:xfrm>
            <a:off x="1108710" y="254191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Extensão: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Jamais execute extensões desconhecidas como .exe baixadas de sites não oficiais.</a:t>
            </a:r>
            <a:endParaRPr lang="en-US" sz="1264" dirty="0"/>
          </a:p>
        </p:txBody>
      </p:sp>
      <p:sp>
        <p:nvSpPr>
          <p:cNvPr id="9" name="ByF7xnhX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0" name="JBkUyOtL"/>
          <p:cNvSpPr/>
          <p:nvPr/>
        </p:nvSpPr>
        <p:spPr>
          <a:xfrm>
            <a:off x="468630" y="38975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1" name="ObeE2rO9"/>
          <p:cNvSpPr/>
          <p:nvPr/>
        </p:nvSpPr>
        <p:spPr>
          <a:xfrm>
            <a:off x="1108710" y="369634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Renomeação Organizada: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Salve imagens e PDFs com nomes descritivos em vez de códigos padrão como download(1).pdf.</a:t>
            </a:r>
            <a:endParaRPr lang="en-US" sz="126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24a67f-58cb-460e-9d67-8d72dca674e7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 ou Falso: Fontes</a:t>
            </a:r>
            <a:endParaRPr lang="en-US" sz="2246" dirty="0"/>
          </a:p>
        </p:txBody>
      </p:sp>
      <p:sp>
        <p:nvSpPr>
          <p:cNvPr id="3" name="8a4dd5c3-01e7-4310-b0a2-7693665ee5e9"/>
          <p:cNvSpPr/>
          <p:nvPr/>
        </p:nvSpPr>
        <p:spPr>
          <a:xfrm>
            <a:off x="822960" y="1141037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  <a:effectLst>
            <a:outerShdw sx="100000" sy="100000" kx="0" ky="0" algn="bl" rotWithShape="0" blurRad="0" dist="129286" dir="2700000">
              <a:srgbClr val="000000">
                <a:alpha val="100000"/>
              </a:srgbClr>
            </a:outerShdw>
          </a:effectLst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Qualquer informação encontrada nos primeiros resultados de um buscador é garantidamente verdadeira e não precisa de confirmação.</a:t>
            </a:r>
            <a:endParaRPr lang="en-US" sz="1264" dirty="0"/>
          </a:p>
        </p:txBody>
      </p:sp>
      <p:sp>
        <p:nvSpPr>
          <p:cNvPr id="4" name="ed26a4bb-54ea-44e7-9640-86afd32433cd"/>
          <p:cNvSpPr/>
          <p:nvPr/>
        </p:nvSpPr>
        <p:spPr>
          <a:xfrm>
            <a:off x="2571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5" name="0737e0bd-8944-428d-af88-4c079330b4bd"/>
          <p:cNvSpPr/>
          <p:nvPr/>
        </p:nvSpPr>
        <p:spPr>
          <a:xfrm>
            <a:off x="4857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6" name="2a300f81-227c-48a2-90f7-d9838883e65b"/>
          <p:cNvSpPr/>
          <p:nvPr/>
        </p:nvSpPr>
        <p:spPr>
          <a:xfrm>
            <a:off x="2571750" y="3712787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24a67f-58cb-460e-9d67-8d72dca674e7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 ou Falso: Fontes</a:t>
            </a:r>
            <a:endParaRPr lang="en-US" sz="2246" dirty="0"/>
          </a:p>
        </p:txBody>
      </p:sp>
      <p:sp>
        <p:nvSpPr>
          <p:cNvPr id="3" name="8a4dd5c3-01e7-4310-b0a2-7693665ee5e9"/>
          <p:cNvSpPr/>
          <p:nvPr/>
        </p:nvSpPr>
        <p:spPr>
          <a:xfrm>
            <a:off x="822960" y="1141037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  <a:effectLst>
            <a:outerShdw sx="100000" sy="100000" kx="0" ky="0" algn="bl" rotWithShape="0" blurRad="0" dist="129286" dir="2700000">
              <a:srgbClr val="000000">
                <a:alpha val="100000"/>
              </a:srgbClr>
            </a:outerShdw>
          </a:effectLst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Qualquer informação encontrada nos primeiros resultados de um buscador é garantidamente verdadeira e não precisa de confirmação.</a:t>
            </a:r>
            <a:endParaRPr lang="en-US" sz="1264" dirty="0"/>
          </a:p>
        </p:txBody>
      </p:sp>
      <p:sp>
        <p:nvSpPr>
          <p:cNvPr id="4" name="ed26a4bb-54ea-44e7-9640-86afd32433cd"/>
          <p:cNvSpPr/>
          <p:nvPr/>
        </p:nvSpPr>
        <p:spPr>
          <a:xfrm>
            <a:off x="2571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5" name="0737e0bd-8944-428d-af88-4c079330b4bd"/>
          <p:cNvSpPr/>
          <p:nvPr/>
        </p:nvSpPr>
        <p:spPr>
          <a:xfrm>
            <a:off x="4857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6" name="220d450f-8891-433d-a676-1b5a98ce1036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7" name="20370492-98a2-451a-b63e-e841eb46c5b8"/>
          <p:cNvSpPr/>
          <p:nvPr/>
        </p:nvSpPr>
        <p:spPr>
          <a:xfrm>
            <a:off x="457200" y="3655786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</a:ln>
        </p:spPr>
        <p:txBody>
          <a:bodyPr wrap="square" lIns="125730" tIns="125730" rIns="125730" bIns="12573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🔑 </a:t>
            </a: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Algoritmos de busca classificam páginas por popularidade e palavras-chave, não garantindo veracidade absoluta nem ausência de interesses comerciais.</a:t>
            </a:r>
            <a:endParaRPr lang="en-US" sz="1123" dirty="0"/>
          </a:p>
        </p:txBody>
      </p:sp>
      <p:sp>
        <p:nvSpPr>
          <p:cNvPr id="8" name="b7810fab-0cb1-4440-94d6-cb2a964fee44"/>
          <p:cNvSpPr/>
          <p:nvPr/>
        </p:nvSpPr>
        <p:spPr>
          <a:xfrm>
            <a:off x="6435090" y="24903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5NtWR8Y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Ética e Direitos Autorais</a:t>
            </a:r>
            <a:endParaRPr lang="en-US" sz="2246" dirty="0"/>
          </a:p>
        </p:txBody>
      </p:sp>
      <p:sp>
        <p:nvSpPr>
          <p:cNvPr id="3" name="qikGRkL2"/>
          <p:cNvSpPr/>
          <p:nvPr/>
        </p:nvSpPr>
        <p:spPr>
          <a:xfrm>
            <a:off x="274320" y="1020123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Citando Fontes e Imagens Corretamente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Copiar textos e fotos da internet sem creditar os autores configura plágio acadêmico. Em uma apresentação, cite sempre a fonte no rodapé do slide ou numa tela final de referências.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Utilize bancos de imagens sob licença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Creative Commons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ou domínio público para ilustrar seus trabalhos com total respaldo ético.</a:t>
            </a:r>
            <a:endParaRPr lang="en-US" sz="1685" dirty="0"/>
          </a:p>
        </p:txBody>
      </p:sp>
      <p:pic>
        <p:nvPicPr>
          <p:cNvPr id="4" name="medeti1" descr="/home/forge/chalkie-production-workers-3/releases/78875040/backend/storage/app/render-specs/6227853d-6c39-4310-8f74-8df21d0a559a/img_b20fa80311f8d183a3342ef368772ec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086100"/>
          </a:xfrm>
          <a:prstGeom prst="roundRect">
            <a:avLst>
              <a:gd name="adj" fmla="val 4444"/>
            </a:avLst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LkCjrQ9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Etapas do Trabalho Digital</a:t>
            </a:r>
            <a:endParaRPr lang="en-US" sz="2246" dirty="0"/>
          </a:p>
        </p:txBody>
      </p:sp>
      <p:sp>
        <p:nvSpPr>
          <p:cNvPr id="3" name="fVHZLFTs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7EB5A6"/>
          </a:solidFill>
          <a:ln/>
        </p:spPr>
      </p:sp>
      <p:sp>
        <p:nvSpPr>
          <p:cNvPr id="4" name="Oo9hwqJR"/>
          <p:cNvSpPr/>
          <p:nvPr/>
        </p:nvSpPr>
        <p:spPr>
          <a:xfrm>
            <a:off x="13258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qxrJGLRK"/>
          <p:cNvSpPr/>
          <p:nvPr/>
        </p:nvSpPr>
        <p:spPr>
          <a:xfrm>
            <a:off x="33832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n8BOzBGY"/>
          <p:cNvSpPr/>
          <p:nvPr/>
        </p:nvSpPr>
        <p:spPr>
          <a:xfrm>
            <a:off x="54406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7" name="hFpVkb7B"/>
          <p:cNvSpPr/>
          <p:nvPr/>
        </p:nvSpPr>
        <p:spPr>
          <a:xfrm>
            <a:off x="74980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zM4OoYnH"/>
          <p:cNvSpPr/>
          <p:nvPr/>
        </p:nvSpPr>
        <p:spPr>
          <a:xfrm>
            <a:off x="514350" y="3159130"/>
            <a:ext cx="1943100" cy="1143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1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Busca focada com operadores</a:t>
            </a:r>
            <a:endParaRPr lang="en-US" sz="1264" dirty="0"/>
          </a:p>
        </p:txBody>
      </p:sp>
      <p:sp>
        <p:nvSpPr>
          <p:cNvPr id="9" name="79BNnj4W"/>
          <p:cNvSpPr/>
          <p:nvPr/>
        </p:nvSpPr>
        <p:spPr>
          <a:xfrm>
            <a:off x="2571750" y="1581790"/>
            <a:ext cx="1943100" cy="1143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2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Checagem crítica de autoria</a:t>
            </a:r>
            <a:endParaRPr lang="en-US" sz="1264" dirty="0"/>
          </a:p>
        </p:txBody>
      </p:sp>
      <p:sp>
        <p:nvSpPr>
          <p:cNvPr id="10" name="37dEadxr"/>
          <p:cNvSpPr/>
          <p:nvPr/>
        </p:nvSpPr>
        <p:spPr>
          <a:xfrm>
            <a:off x="4629150" y="3159130"/>
            <a:ext cx="1943100" cy="1143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3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Criação e layout de slides</a:t>
            </a:r>
            <a:endParaRPr lang="en-US" sz="1264" dirty="0"/>
          </a:p>
        </p:txBody>
      </p:sp>
      <p:sp>
        <p:nvSpPr>
          <p:cNvPr id="11" name="gwMDtdip"/>
          <p:cNvSpPr/>
          <p:nvPr/>
        </p:nvSpPr>
        <p:spPr>
          <a:xfrm>
            <a:off x="6686550" y="1581790"/>
            <a:ext cx="1943100" cy="1143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4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Ensaio e apresentação final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4516ba0-07eb-4def-ac4c-a5d2357c6f31" descr="/home/forge/chalkie-production-workers-3/releases/78875040/backend/storage/app/render-specs/6227853d-6c39-4310-8f74-8df21d0a559a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</p:spPr>
      </p:pic>
      <p:pic>
        <p:nvPicPr>
          <p:cNvPr id="3" name="20dc6d90-5cf9-4b06-8e68-4a26e5203081" descr="/home/forge/chalkie-production-workers-3/releases/78875040/backend/storage/app/render-specs/6227853d-6c39-4310-8f74-8df21d0a559a/img_11b22771eafff7414faa517f5220384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ect">
            <a:avLst/>
          </a:prstGeom>
        </p:spPr>
      </p:pic>
      <p:sp>
        <p:nvSpPr>
          <p:cNvPr id="4" name="8a1849a4-b6c3-4c2c-8cf1-ba3f5f845b8f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 em Turma</a:t>
            </a:r>
            <a:endParaRPr lang="en-US" sz="2246" dirty="0"/>
          </a:p>
        </p:txBody>
      </p:sp>
      <p:sp>
        <p:nvSpPr>
          <p:cNvPr id="5" name="e4ee0a4b-644a-4a74-b2d0-9f7807d888e3"/>
          <p:cNvSpPr/>
          <p:nvPr/>
        </p:nvSpPr>
        <p:spPr>
          <a:xfrm>
            <a:off x="4297680" y="1826837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Verifique a fonte e busque o autor antes de usar a notícia.</a:t>
            </a:r>
            <a:endParaRPr lang="en-US" sz="126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4516ba0-07eb-4def-ac4c-a5d2357c6f31" descr="/home/forge/chalkie-production-workers-3/releases/78875040/backend/storage/app/render-specs/6227853d-6c39-4310-8f74-8df21d0a559a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</p:spPr>
      </p:pic>
      <p:sp>
        <p:nvSpPr>
          <p:cNvPr id="3" name="8a1849a4-b6c3-4c2c-8cf1-ba3f5f845b8f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 em Turma</a:t>
            </a:r>
            <a:endParaRPr lang="en-US" sz="2246" dirty="0"/>
          </a:p>
        </p:txBody>
      </p:sp>
      <p:sp>
        <p:nvSpPr>
          <p:cNvPr id="4" name="0881f662-9888-4ab3-97bb-951a21dfce0a"/>
          <p:cNvSpPr/>
          <p:nvPr/>
        </p:nvSpPr>
        <p:spPr>
          <a:xfrm>
            <a:off x="982980" y="1655387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Faço busca reversa ou pesquiso o tema em portais científicos.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Verifico se existem estudos originais que sustentem as afirmações.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 informação não for confirmada por fontes, descarto o boato.</a:t>
            </a:r>
            <a:endParaRPr lang="en-US" sz="1264" dirty="0"/>
          </a:p>
        </p:txBody>
      </p:sp>
      <p:sp>
        <p:nvSpPr>
          <p:cNvPr id="5" name="3e2457cc-a623-44ee-8284-12b9d2e7de1f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2dbf4c6-0ce6-4569-8fe9-b5831c78975c" descr="/home/forge/chalkie-production-workers-3/releases/78875040/backend/storage/app/render-specs/6227853d-6c39-4310-8f74-8df21d0a559a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ect">
            <a:avLst/>
          </a:prstGeom>
        </p:spPr>
      </p:pic>
      <p:sp>
        <p:nvSpPr>
          <p:cNvPr id="3" name="42f448b5-2bca-42e2-96b7-b0d655bc69b8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Check Your Understanding</a:t>
            </a:r>
            <a:endParaRPr lang="en-US" sz="2246" dirty="0"/>
          </a:p>
        </p:txBody>
      </p:sp>
      <p:sp>
        <p:nvSpPr>
          <p:cNvPr id="4" name="f36be9b2-6067-4fc0-bef3-9e1b1089bbd6"/>
          <p:cNvSpPr/>
          <p:nvPr/>
        </p:nvSpPr>
        <p:spPr>
          <a:xfrm>
            <a:off x="285750" y="1141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operador de busca deve ser usado para encontrar uma frase exatamente como escrita?</a:t>
            </a:r>
            <a:endParaRPr lang="en-US" sz="1264" dirty="0"/>
          </a:p>
        </p:txBody>
      </p:sp>
      <p:sp>
        <p:nvSpPr>
          <p:cNvPr id="5" name="7d901377-0afc-456e-a37b-5d0b0ef852f7"/>
          <p:cNvSpPr/>
          <p:nvPr/>
        </p:nvSpPr>
        <p:spPr>
          <a:xfrm>
            <a:off x="285750" y="2284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atalho do teclado pode ser utilizado para reabrir imediatamente a última aba fechada no navegador?</a:t>
            </a:r>
            <a:endParaRPr lang="en-US" sz="1264" dirty="0"/>
          </a:p>
        </p:txBody>
      </p:sp>
      <p:sp>
        <p:nvSpPr>
          <p:cNvPr id="6" name="0316bf61-4f84-4e88-b209-9856efa88444"/>
          <p:cNvSpPr/>
          <p:nvPr/>
        </p:nvSpPr>
        <p:spPr>
          <a:xfrm>
            <a:off x="285750" y="3427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devemos priorizar slides com menos texto e mais elementos visuais em uma apresentação oral?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2f448b5-2bca-42e2-96b7-b0d655bc69b8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Check Your Understanding</a:t>
            </a:r>
            <a:endParaRPr lang="en-US" sz="2246" dirty="0"/>
          </a:p>
        </p:txBody>
      </p:sp>
      <p:sp>
        <p:nvSpPr>
          <p:cNvPr id="3" name="907d3a49-3c64-45cc-8928-5715b66de3c1"/>
          <p:cNvSpPr/>
          <p:nvPr/>
        </p:nvSpPr>
        <p:spPr>
          <a:xfrm>
            <a:off x="285750" y="1141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Aspas duplas (" ").</a:t>
            </a:r>
            <a:endParaRPr lang="en-US" sz="1264" dirty="0"/>
          </a:p>
        </p:txBody>
      </p:sp>
      <p:sp>
        <p:nvSpPr>
          <p:cNvPr id="4" name="d4ddb739-f1b4-4544-94d1-c63dda4821a8"/>
          <p:cNvSpPr/>
          <p:nvPr/>
        </p:nvSpPr>
        <p:spPr>
          <a:xfrm>
            <a:off x="285750" y="2284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Shift + T.</a:t>
            </a:r>
            <a:endParaRPr lang="en-US" sz="1264" dirty="0"/>
          </a:p>
        </p:txBody>
      </p:sp>
      <p:sp>
        <p:nvSpPr>
          <p:cNvPr id="5" name="7b3eb045-eee5-44d5-befa-7ed46047f38b"/>
          <p:cNvSpPr/>
          <p:nvPr/>
        </p:nvSpPr>
        <p:spPr>
          <a:xfrm>
            <a:off x="285750" y="3427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que o público preste atenção na explicação do apresentador sem se cansar lendo parágrafos longos na tela.</a:t>
            </a:r>
            <a:endParaRPr lang="en-US" sz="1264" dirty="0"/>
          </a:p>
        </p:txBody>
      </p:sp>
      <p:sp>
        <p:nvSpPr>
          <p:cNvPr id="6" name="4ff95c3d-7d23-48ed-932d-f7350ccba3ec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B35pGVA"/>
          <p:cNvSpPr/>
          <p:nvPr/>
        </p:nvSpPr>
        <p:spPr>
          <a:xfrm>
            <a:off x="274320" y="780978"/>
            <a:ext cx="484632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Rumo aos Algoritmos!</a:t>
            </a:r>
            <a:endParaRPr lang="en-US" sz="2246" dirty="0"/>
          </a:p>
        </p:txBody>
      </p:sp>
      <p:sp>
        <p:nvSpPr>
          <p:cNvPr id="3" name="Xg1Ogb3K"/>
          <p:cNvSpPr/>
          <p:nvPr/>
        </p:nvSpPr>
        <p:spPr>
          <a:xfrm>
            <a:off x="274320" y="1593220"/>
            <a:ext cx="4846320" cy="2674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 você aprendeu a estruturar apresentações no Google Slides e PowerPoint, pesquisar com operadores e validar a credibilidade de fontes na web.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nossa próxima e última aula da série, daremos o primeiro passo no mundo da lógica computacional: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Introdução aos Algoritmos e Pensamento Computacional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pic>
        <p:nvPicPr>
          <p:cNvPr id="4" name="medcls1" descr="/home/forge/chalkie-production-workers-3/releases/78875040/backend/storage/app/render-specs/6227853d-6c39-4310-8f74-8df21d0a559a/img_efcc927846c6f2fbcfc0f6a0c7e892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Ferramentas de Apresentação e Pesquisa Online</dc:title>
  <dc:subject>PptxGenJS Presentation</dc:subject>
  <dc:creator>PptxGenJS</dc:creator>
  <cp:lastModifiedBy>PptxGenJS</cp:lastModifiedBy>
  <cp:revision>1</cp:revision>
  <dcterms:created xsi:type="dcterms:W3CDTF">2026-09-29T11:08:13Z</dcterms:created>
  <dcterms:modified xsi:type="dcterms:W3CDTF">2026-09-29T11:08:13Z</dcterms:modified>
</cp:coreProperties>
</file>