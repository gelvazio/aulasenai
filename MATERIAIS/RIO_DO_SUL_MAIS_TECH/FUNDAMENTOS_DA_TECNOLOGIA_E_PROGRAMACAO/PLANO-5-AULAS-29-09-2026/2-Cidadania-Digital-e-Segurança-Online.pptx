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Dyslexie"/>
      <p:regular r:id="rId49"/>
      <p:bold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oLRsWHL"/>
          <p:cNvSpPr/>
          <p:nvPr/>
        </p:nvSpPr>
        <p:spPr>
          <a:xfrm>
            <a:off x="274320" y="278550"/>
            <a:ext cx="4023360" cy="45948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Cidadania Digital e Segurança Online</a:t>
            </a:r>
            <a:endParaRPr lang="en-US" sz="2527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Navegando com responsabilidade, ética e proteção na internet</a:t>
            </a:r>
            <a:endParaRPr lang="en-US" sz="2527" dirty="0"/>
          </a:p>
        </p:txBody>
      </p:sp>
      <p:pic>
        <p:nvPicPr>
          <p:cNvPr id="3" name="medcov2" descr="/home/forge/chalkie-production-workers-3/releases/78875040/backend/storage/app/render-specs/ee3821df-fac1-4bd4-8248-7453e936f51f/img_c0b9f7e965cfc15ea48ca11bbec768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"/>
            <a:ext cx="4297680" cy="4594860"/>
          </a:xfrm>
          <a:prstGeom prst="roundRect">
            <a:avLst>
              <a:gd name="adj" fmla="val 3191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CoYGUK8"/>
          <p:cNvSpPr/>
          <p:nvPr/>
        </p:nvSpPr>
        <p:spPr>
          <a:xfrm>
            <a:off x="274320" y="186618"/>
            <a:ext cx="859536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Recap: Introdução à Tecnologia e Dispositivos Digitais</a:t>
            </a:r>
            <a:endParaRPr lang="en-US" sz="2246" dirty="0"/>
          </a:p>
        </p:txBody>
      </p:sp>
      <p:sp>
        <p:nvSpPr>
          <p:cNvPr id="3" name="Jfph7hWw"/>
          <p:cNvSpPr/>
          <p:nvPr/>
        </p:nvSpPr>
        <p:spPr>
          <a:xfrm>
            <a:off x="274320" y="1361547"/>
            <a:ext cx="9601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square" lIns="114300" tIns="45720" rIns="114300" bIns="45720" rtlCol="0" anchor="ctr"/>
          <a:lstStyle/>
          <a:p>
            <a:pPr algn="ctr" indent="0" marL="0">
              <a:lnSpc>
                <a:spcPts val="129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842" b="1" spc="54" kern="0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</a:t>
            </a:r>
            <a:endParaRPr lang="en-US" sz="842" dirty="0"/>
          </a:p>
        </p:txBody>
      </p:sp>
      <p:sp>
        <p:nvSpPr>
          <p:cNvPr id="4" name="EUyPd0vm"/>
          <p:cNvSpPr/>
          <p:nvPr/>
        </p:nvSpPr>
        <p:spPr>
          <a:xfrm>
            <a:off x="274320" y="1697036"/>
            <a:ext cx="4983480" cy="31546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Tecnologia envolve ferramentas criadas para solucionar problemas e transformar a sociedade humana.</a:t>
            </a:r>
            <a:endParaRPr lang="en-US" sz="1193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Computadores operam pela união entre </a:t>
            </a: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(peças físicas) e </a:t>
            </a:r>
            <a:r>
              <a:rPr lang="en-US" sz="119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</a:t>
            </a: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(programas e dados).</a:t>
            </a:r>
            <a:endParaRPr lang="en-US" sz="1193" dirty="0"/>
          </a:p>
          <a:p>
            <a:pPr algn="l" marL="228600" indent="-68580">
              <a:lnSpc>
                <a:spcPts val="2142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9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Dispositivos conectam-se em rede via protocolos de internet para trocar pacotes de informação.</a:t>
            </a:r>
            <a:endParaRPr lang="en-US" sz="1193" dirty="0"/>
          </a:p>
          <a:p>
            <a:pPr algn="l" indent="0" marL="0">
              <a:lnSpc>
                <a:spcPts val="214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193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dispositivo móvel você mais utilizou para acessar a internet nesta semana?</a:t>
            </a:r>
            <a:endParaRPr lang="en-US" sz="1193" dirty="0"/>
          </a:p>
        </p:txBody>
      </p:sp>
      <p:pic>
        <p:nvPicPr>
          <p:cNvPr id="5" name="medrec2" descr="/home/forge/chalkie-production-workers-3/releases/78875040/backend/storage/app/render-specs/ee3821df-fac1-4bd4-8248-7453e936f51f/img_4bfc8f5d7250606e39f79a205c492eb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14500"/>
            <a:ext cx="3474720" cy="2606040"/>
          </a:xfrm>
          <a:prstGeom prst="roundRect">
            <a:avLst>
              <a:gd name="adj" fmla="val 5263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3270ba4-c9f6-4d9c-b242-63aedd65918d" descr="/home/forge/chalkie-production-workers-3/releases/78875040/backend/storage/app/render-specs/ee3821df-fac1-4bd4-8248-7453e936f51f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ect">
            <a:avLst/>
          </a:prstGeom>
        </p:spPr>
      </p:pic>
      <p:sp>
        <p:nvSpPr>
          <p:cNvPr id="3" name="9e9cdee7-b7c3-4cd5-9b27-bc46cca6cdab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Hardware e Software</a:t>
            </a:r>
            <a:endParaRPr lang="en-US" sz="2246" dirty="0"/>
          </a:p>
        </p:txBody>
      </p:sp>
      <p:sp>
        <p:nvSpPr>
          <p:cNvPr id="4" name="639fa7fe-2510-4db8-8565-12113668c464"/>
          <p:cNvSpPr/>
          <p:nvPr/>
        </p:nvSpPr>
        <p:spPr>
          <a:xfrm>
            <a:off x="285750" y="1141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teclado físico e a memória RAM de um computador são exemplos de qual categoria?</a:t>
            </a:r>
            <a:endParaRPr lang="en-US" sz="1264" dirty="0"/>
          </a:p>
        </p:txBody>
      </p:sp>
      <p:sp>
        <p:nvSpPr>
          <p:cNvPr id="5" name="0a6570ef-8cb4-4e73-adaa-1c4eb696bee6"/>
          <p:cNvSpPr/>
          <p:nvPr/>
        </p:nvSpPr>
        <p:spPr>
          <a:xfrm>
            <a:off x="285750" y="2284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navegador de internet e o sistema operacional Android são classificados como qual elemento?</a:t>
            </a:r>
            <a:endParaRPr lang="en-US" sz="1264" dirty="0"/>
          </a:p>
        </p:txBody>
      </p:sp>
      <p:sp>
        <p:nvSpPr>
          <p:cNvPr id="6" name="f7fe4aa5-0a89-4b6a-80af-d2291ee7ced4"/>
          <p:cNvSpPr/>
          <p:nvPr/>
        </p:nvSpPr>
        <p:spPr>
          <a:xfrm>
            <a:off x="285750" y="3427037"/>
            <a:ext cx="8572500" cy="10401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componente de hardware é responsável por executar as instruções dos programas?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e9cdee7-b7c3-4cd5-9b27-bc46cca6cdab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Hardware e Software</a:t>
            </a:r>
            <a:endParaRPr lang="en-US" sz="2246" dirty="0"/>
          </a:p>
        </p:txBody>
      </p:sp>
      <p:sp>
        <p:nvSpPr>
          <p:cNvPr id="3" name="82d3b9d5-9ec4-4dd9-bd2e-3e7c3554d4d1"/>
          <p:cNvSpPr/>
          <p:nvPr/>
        </p:nvSpPr>
        <p:spPr>
          <a:xfrm>
            <a:off x="285750" y="1141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Hardware</a:t>
            </a:r>
            <a:endParaRPr lang="en-US" sz="1264" dirty="0"/>
          </a:p>
        </p:txBody>
      </p:sp>
      <p:sp>
        <p:nvSpPr>
          <p:cNvPr id="4" name="5739c95d-398d-4266-8a94-6e0dbaae76fa"/>
          <p:cNvSpPr/>
          <p:nvPr/>
        </p:nvSpPr>
        <p:spPr>
          <a:xfrm>
            <a:off x="285750" y="2284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Software</a:t>
            </a:r>
            <a:endParaRPr lang="en-US" sz="1264" dirty="0"/>
          </a:p>
        </p:txBody>
      </p:sp>
      <p:sp>
        <p:nvSpPr>
          <p:cNvPr id="5" name="0ca18584-7a55-464a-b896-4662141f2fef"/>
          <p:cNvSpPr/>
          <p:nvPr/>
        </p:nvSpPr>
        <p:spPr>
          <a:xfrm>
            <a:off x="285750" y="3427037"/>
            <a:ext cx="8572500" cy="78524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CPU (Processador)</a:t>
            </a:r>
            <a:endParaRPr lang="en-US" sz="1264" dirty="0"/>
          </a:p>
        </p:txBody>
      </p:sp>
      <p:sp>
        <p:nvSpPr>
          <p:cNvPr id="6" name="627c97f7-ceb1-4115-914d-e51c0adfb736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hook1" descr="/home/forge/chalkie-production-workers-3/releases/78875040/backend/storage/app/render-specs/ee3821df-fac1-4bd4-8248-7453e936f51f/img_cd6a0df19d478c6164c2d446bbe3f9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171700"/>
          </a:xfrm>
          <a:prstGeom prst="rect">
            <a:avLst/>
          </a:prstGeom>
        </p:spPr>
      </p:pic>
      <p:sp>
        <p:nvSpPr>
          <p:cNvPr id="3" name="VZw83kdr"/>
          <p:cNvSpPr/>
          <p:nvPr/>
        </p:nvSpPr>
        <p:spPr>
          <a:xfrm>
            <a:off x="274320" y="244975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você deixa para trás na rede?</a:t>
            </a:r>
            <a:endParaRPr lang="en-US" sz="2246" dirty="0"/>
          </a:p>
        </p:txBody>
      </p:sp>
      <p:sp>
        <p:nvSpPr>
          <p:cNvPr id="4" name="aL7IrbfH"/>
          <p:cNvSpPr/>
          <p:nvPr/>
        </p:nvSpPr>
        <p:spPr>
          <a:xfrm>
            <a:off x="274320" y="3262000"/>
            <a:ext cx="8595360" cy="10515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 clique, curtida, mensagem compartilhada e busca no Google constrói um rastro indelével sobre quem você é. No mundo virtual, tudo o que fazemos produz consequências reais para nós mesmos e para os outros.</a:t>
            </a:r>
            <a:endParaRPr lang="en-US" sz="126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yqlKDcm"/>
          <p:cNvSpPr/>
          <p:nvPr/>
        </p:nvSpPr>
        <p:spPr>
          <a:xfrm>
            <a:off x="274320" y="186618"/>
            <a:ext cx="480060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Learning Objectives</a:t>
            </a:r>
            <a:endParaRPr lang="en-US" sz="2246" dirty="0"/>
          </a:p>
        </p:txBody>
      </p:sp>
      <p:sp>
        <p:nvSpPr>
          <p:cNvPr id="3" name="sy5FaNnL"/>
          <p:cNvSpPr/>
          <p:nvPr/>
        </p:nvSpPr>
        <p:spPr>
          <a:xfrm>
            <a:off x="274320" y="1014662"/>
            <a:ext cx="4800600" cy="34404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Objectives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Diferenciar direitos e deveres na internet, aplicando princípios éticos e de netiqueta em interações online.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estratégias para reconhecer desinformação e prevenir práticas de cyberbullying, sabendo como agir.</a:t>
            </a:r>
            <a:endParaRPr lang="en-US" sz="1685" dirty="0"/>
          </a:p>
          <a:p>
            <a:pPr algn="l" marL="228600" indent="-68580">
              <a:lnSpc>
                <a:spcPts val="2268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senhas robustas e utilizar mecanismos de defesa como antivírus e firewalls para proteger dados pessoais.</a:t>
            </a:r>
            <a:endParaRPr lang="en-US" sz="1685" dirty="0"/>
          </a:p>
        </p:txBody>
      </p:sp>
      <p:pic>
        <p:nvPicPr>
          <p:cNvPr id="4" name="medobj1" descr="/home/forge/chalkie-production-workers-3/releases/78875040/backend/storage/app/render-specs/ee3821df-fac1-4bd4-8248-7453e936f51f/img_6ee1b9535aaea2ff9e879e8b3a0776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"/>
            <a:ext cx="3429000" cy="388620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TgPmnp1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Key Vocabulary</a:t>
            </a:r>
            <a:endParaRPr lang="en-US" sz="2246" dirty="0"/>
          </a:p>
        </p:txBody>
      </p:sp>
      <p:pic>
        <p:nvPicPr>
          <p:cNvPr id="3" name="medvoc1" descr="/home/forge/chalkie-production-workers-3/releases/78875040/backend/storage/app/render-specs/ee3821df-fac1-4bd4-8248-7453e936f51f/img_1564ee37123a7cb7c6f61c50e9b42d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LZioBH8h"/>
          <p:cNvSpPr/>
          <p:nvPr/>
        </p:nvSpPr>
        <p:spPr>
          <a:xfrm>
            <a:off x="274320" y="345830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Privacidade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Direito de controlar seus próprios dados pessoais e sua circulação.</a:t>
            </a:r>
            <a:endParaRPr lang="en-US" sz="1123" dirty="0"/>
          </a:p>
        </p:txBody>
      </p:sp>
      <p:pic>
        <p:nvPicPr>
          <p:cNvPr id="5" name="medvoc2" descr="/home/forge/chalkie-production-workers-3/releases/78875040/backend/storage/app/render-specs/ee3821df-fac1-4bd4-8248-7453e936f51f/img_547e63073e0b9cf5783121c80e7875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KJAAncX6"/>
          <p:cNvSpPr/>
          <p:nvPr/>
        </p:nvSpPr>
        <p:spPr>
          <a:xfrm>
            <a:off x="2468880" y="30811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Cyberbullying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Assédio, humilhação e agressão repetida em meios virtuais.</a:t>
            </a:r>
            <a:endParaRPr lang="en-US" sz="1123" dirty="0"/>
          </a:p>
        </p:txBody>
      </p:sp>
      <p:pic>
        <p:nvPicPr>
          <p:cNvPr id="7" name="medvoc3" descr="/home/forge/chalkie-production-workers-3/releases/78875040/backend/storage/app/render-specs/ee3821df-fac1-4bd4-8248-7453e936f51f/img_2f5ff745ff08f013a8be73f4ac8b37d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973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40mMEMgv"/>
          <p:cNvSpPr/>
          <p:nvPr/>
        </p:nvSpPr>
        <p:spPr>
          <a:xfrm>
            <a:off x="4663440" y="3458301"/>
            <a:ext cx="2011680" cy="14401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Desinformação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Conteúdos falsos ou distorcidos criados para enganar e manipular.</a:t>
            </a:r>
            <a:endParaRPr lang="en-US" sz="1123" dirty="0"/>
          </a:p>
        </p:txBody>
      </p:sp>
      <p:pic>
        <p:nvPicPr>
          <p:cNvPr id="9" name="medvoc4" descr="/home/forge/chalkie-production-workers-3/releases/78875040/backend/storage/app/render-specs/ee3821df-fac1-4bd4-8248-7453e936f51f/img_04b5ad1cc044671d7dc8dfaad5b92c7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92583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C5XwqIYE"/>
          <p:cNvSpPr/>
          <p:nvPr/>
        </p:nvSpPr>
        <p:spPr>
          <a:xfrm>
            <a:off x="6858000" y="3081111"/>
            <a:ext cx="2011680" cy="11887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Ética</a:t>
            </a: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Princípios morais que orientam atitudes justas e respeitosas na rede.</a:t>
            </a:r>
            <a:endParaRPr lang="en-US" sz="11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XoHPUh9"/>
          <p:cNvSpPr/>
          <p:nvPr/>
        </p:nvSpPr>
        <p:spPr>
          <a:xfrm>
            <a:off x="274320" y="186618"/>
            <a:ext cx="27432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é Cidadania Digital?</a:t>
            </a:r>
            <a:endParaRPr lang="en-US" sz="2246" dirty="0"/>
          </a:p>
        </p:txBody>
      </p:sp>
      <p:sp>
        <p:nvSpPr>
          <p:cNvPr id="3" name="fq46UqFg"/>
          <p:cNvSpPr/>
          <p:nvPr/>
        </p:nvSpPr>
        <p:spPr>
          <a:xfrm>
            <a:off x="274320" y="1804126"/>
            <a:ext cx="2743200" cy="422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Nossa vida conectada</a:t>
            </a:r>
            <a:endParaRPr lang="en-US" sz="1123" dirty="0"/>
          </a:p>
        </p:txBody>
      </p:sp>
      <p:pic>
        <p:nvPicPr>
          <p:cNvPr id="4" name="medcid1" descr="/home/forge/chalkie-production-workers-3/releases/78875040/backend/storage/app/render-specs/ee3821df-fac1-4bd4-8248-7453e936f51f/img_8125e2971ef5407c67a3211ceb85faf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20290"/>
            <a:ext cx="2286000" cy="1828800"/>
          </a:xfrm>
          <a:prstGeom prst="rect">
            <a:avLst/>
          </a:prstGeom>
        </p:spPr>
      </p:pic>
      <p:sp>
        <p:nvSpPr>
          <p:cNvPr id="5" name="NcnwL6He"/>
          <p:cNvSpPr/>
          <p:nvPr/>
        </p:nvSpPr>
        <p:spPr>
          <a:xfrm>
            <a:off x="3291840" y="164470"/>
            <a:ext cx="5577840" cy="2388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Assim como na nossa cidade exercemos cidadania respeitando leis e pessoas, na internet assumimos o papel de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cidadãos digitais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Ser um cidadão digital responsável significa navegar com consciência crítica, respeitar direitos humanos, proteger sua integridade e construir espaços coletivos saudáveis na web.</a:t>
            </a:r>
            <a:endParaRPr lang="en-US" sz="1264" dirty="0"/>
          </a:p>
        </p:txBody>
      </p:sp>
      <p:sp>
        <p:nvSpPr>
          <p:cNvPr id="6" name="IH4JIqPC"/>
          <p:cNvSpPr/>
          <p:nvPr/>
        </p:nvSpPr>
        <p:spPr>
          <a:xfrm>
            <a:off x="3291840" y="2754630"/>
            <a:ext cx="5577840" cy="1337310"/>
          </a:xfrm>
          <a:prstGeom prst="roundRect">
            <a:avLst>
              <a:gd name="adj" fmla="val 6838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znSFQvCK"/>
          <p:cNvSpPr/>
          <p:nvPr/>
        </p:nvSpPr>
        <p:spPr>
          <a:xfrm>
            <a:off x="3417570" y="291064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📌</a:t>
            </a:r>
            <a:endParaRPr lang="en-US" sz="1685" dirty="0"/>
          </a:p>
        </p:txBody>
      </p:sp>
      <p:sp>
        <p:nvSpPr>
          <p:cNvPr id="8" name="Lb9KCTsA"/>
          <p:cNvSpPr/>
          <p:nvPr/>
        </p:nvSpPr>
        <p:spPr>
          <a:xfrm>
            <a:off x="3829050" y="2878546"/>
            <a:ext cx="491490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Cidadania digital é o conjunto de direitos, deveres e práticas éticas no ambiente online.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xIWQXI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Direitos e Deveres Online</a:t>
            </a:r>
            <a:endParaRPr lang="en-US" sz="2246" dirty="0"/>
          </a:p>
        </p:txBody>
      </p:sp>
      <p:pic>
        <p:nvPicPr>
          <p:cNvPr id="3" name="meddir1" descr="/home/forge/chalkie-production-workers-3/releases/78875040/backend/storage/app/render-specs/ee3821df-fac1-4bd4-8248-7453e936f51f/img_837f1bdc5b85ee3cc64928db93ea6c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4" name="OKu24IP9"/>
          <p:cNvSpPr/>
          <p:nvPr/>
        </p:nvSpPr>
        <p:spPr>
          <a:xfrm>
            <a:off x="274320" y="2832181"/>
            <a:ext cx="4251960" cy="17373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Direitos Digitais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Acesso à informação livre e confiável.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 integral da privacidade e dados.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Segurança contra fraudes, golpes e violência.</a:t>
            </a:r>
            <a:endParaRPr lang="en-US" sz="1544" dirty="0"/>
          </a:p>
        </p:txBody>
      </p:sp>
      <p:pic>
        <p:nvPicPr>
          <p:cNvPr id="5" name="meddev1" descr="/home/forge/chalkie-production-workers-3/releases/78875040/backend/storage/app/render-specs/ee3821df-fac1-4bd4-8248-7453e936f51f/img_064cd539c8632a8a38298b617d117a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6" name="AH18v2cp"/>
          <p:cNvSpPr/>
          <p:nvPr/>
        </p:nvSpPr>
        <p:spPr>
          <a:xfrm>
            <a:off x="4617720" y="2832181"/>
            <a:ext cx="425196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Deveres Digitais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Respeitar a autoria e os direitos autorais.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Não propagar mentiras ou ódio contra outros.</a:t>
            </a:r>
            <a:endParaRPr lang="en-US" sz="1544" dirty="0"/>
          </a:p>
          <a:p>
            <a:pPr algn="l" marL="228600" indent="-68580">
              <a:lnSpc>
                <a:spcPts val="2016"/>
              </a:lnSpc>
              <a:spcBef>
                <a:spcPts val="225"/>
              </a:spcBef>
              <a:spcAft>
                <a:spcPts val="225"/>
              </a:spcAft>
              <a:buSzPct val="100000"/>
              <a:buFontTx/>
              <a:buChar char="•"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Reportar abusos e manter atitudes empáticas.</a:t>
            </a:r>
            <a:endParaRPr lang="en-US" sz="15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UhgXlAW"/>
          <p:cNvSpPr/>
          <p:nvPr/>
        </p:nvSpPr>
        <p:spPr>
          <a:xfrm>
            <a:off x="274320" y="426648"/>
            <a:ext cx="484632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Pegada Digital: Seu Rastro Eterno</a:t>
            </a:r>
            <a:endParaRPr lang="en-US" sz="2246" dirty="0"/>
          </a:p>
        </p:txBody>
      </p:sp>
      <p:sp>
        <p:nvSpPr>
          <p:cNvPr id="3" name="BMbqfX7f"/>
          <p:cNvSpPr/>
          <p:nvPr/>
        </p:nvSpPr>
        <p:spPr>
          <a:xfrm>
            <a:off x="274320" y="1673230"/>
            <a:ext cx="4846320" cy="2937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pegada digital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o conjunto de dados deixados para trás quando usamos a internet. Ela é composta tanto por rastros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(fotos postadas, comentários feitos) quanto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passivos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(endereços IP, histórico de navegação e cookies).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Uma vez na rede, apagar completamente esses registros é quase impossível, pois cópias e backups podem ser feitos instantaneamente.</a:t>
            </a:r>
            <a:endParaRPr lang="en-US" sz="1264" dirty="0"/>
          </a:p>
        </p:txBody>
      </p:sp>
      <p:pic>
        <p:nvPicPr>
          <p:cNvPr id="4" name="medpeg1" descr="/home/forge/chalkie-production-workers-3/releases/78875040/backend/storage/app/render-specs/ee3821df-fac1-4bd4-8248-7453e936f51f/img_ae1e9e139d94a03ddb539f058ea24f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YkUASTR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Tipos de Rastros na Internet</a:t>
            </a:r>
            <a:endParaRPr lang="en-US" sz="2246" dirty="0"/>
          </a:p>
        </p:txBody>
      </p:sp>
      <p:pic>
        <p:nvPicPr>
          <p:cNvPr id="3" name="medrast1" descr="/home/forge/chalkie-production-workers-3/releases/78875040/backend/storage/app/render-specs/ee3821df-fac1-4bd4-8248-7453e936f51f/img_cf6bdf3b7b2d0ac71c757285168cd4c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CXQTdrUM"/>
          <p:cNvSpPr/>
          <p:nvPr/>
        </p:nvSpPr>
        <p:spPr>
          <a:xfrm>
            <a:off x="274320" y="3037772"/>
            <a:ext cx="425196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Rastros Ativos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Informações que você compartilha de forma consciente e intencional, como postagens em redes sociais, mensagens em fóruns e preenchimento de cadastros.</a:t>
            </a:r>
            <a:endParaRPr lang="en-US" sz="1685" dirty="0"/>
          </a:p>
        </p:txBody>
      </p:sp>
      <p:pic>
        <p:nvPicPr>
          <p:cNvPr id="5" name="medrast2" descr="/home/forge/chalkie-production-workers-3/releases/78875040/backend/storage/app/render-specs/ee3821df-fac1-4bd4-8248-7453e936f51f/img_2292331984520d77a4a4fcb654f5067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p98elFeC"/>
          <p:cNvSpPr/>
          <p:nvPr/>
        </p:nvSpPr>
        <p:spPr>
          <a:xfrm>
            <a:off x="4617720" y="3037772"/>
            <a:ext cx="425196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Rastros Passivos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coletados em segundo plano sem ação direta consciente: sua localização via GPS, tempo gasto visualizando uma imagem e sites visitados recentemente.</a:t>
            </a:r>
            <a:endParaRPr lang="en-US" sz="16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0f1675-f795-49cf-8444-602656dbb86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a Pegada Digital</a:t>
            </a:r>
            <a:endParaRPr lang="en-US" sz="2246" dirty="0"/>
          </a:p>
        </p:txBody>
      </p:sp>
      <p:sp>
        <p:nvSpPr>
          <p:cNvPr id="3" name="5b7a2339-5e4d-4758-ae6c-6139778c29f3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das seguintes situações representa um exemplo clássico de rastro digital passivo?</a:t>
            </a:r>
            <a:endParaRPr lang="en-US" sz="1264" dirty="0"/>
          </a:p>
        </p:txBody>
      </p:sp>
      <p:sp>
        <p:nvSpPr>
          <p:cNvPr id="4" name="958830cf-572f-4da6-91db-ab80e6eae80f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4461f00-8ac0-48a4-a7fb-11b09df5eb08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publicação de um vídeo comemorando seu aniversário no feed do Instagram</a:t>
            </a:r>
            <a:endParaRPr lang="en-US" sz="1264" dirty="0"/>
          </a:p>
        </p:txBody>
      </p:sp>
      <p:sp>
        <p:nvSpPr>
          <p:cNvPr id="6" name="1156deaf-9f51-4cb2-955a-1b3abe50161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418f06c7-b442-43ec-9363-2cf30c5cee4e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digitação de um comentário em um vídeo educativo da internet</a:t>
            </a:r>
            <a:endParaRPr lang="en-US" sz="1264" dirty="0"/>
          </a:p>
        </p:txBody>
      </p:sp>
      <p:sp>
        <p:nvSpPr>
          <p:cNvPr id="8" name="da60eca9-a839-4e43-9c14-31fc99ad12b3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b301b86-6994-476c-94b9-ac602c82ec5b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envio voluntário de uma mensagem no grupo de estudos da escola</a:t>
            </a:r>
            <a:endParaRPr lang="en-US" sz="1264" dirty="0"/>
          </a:p>
        </p:txBody>
      </p:sp>
      <p:sp>
        <p:nvSpPr>
          <p:cNvPr id="10" name="9fa06b54-8ca9-4e0b-8088-65c8eacda10d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7718fb4-1418-4b24-ba45-4da4544eb4c4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geolocalização e o endereço IP registrados automaticamente ao abrir um aplicativo</a:t>
            </a:r>
            <a:endParaRPr lang="en-US" sz="126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10f1675-f795-49cf-8444-602656dbb862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a Pegada Digital</a:t>
            </a:r>
            <a:endParaRPr lang="en-US" sz="2246" dirty="0"/>
          </a:p>
        </p:txBody>
      </p:sp>
      <p:sp>
        <p:nvSpPr>
          <p:cNvPr id="3" name="5b7a2339-5e4d-4758-ae6c-6139778c29f3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das seguintes situações representa um exemplo clássico de rastro digital passivo?</a:t>
            </a:r>
            <a:endParaRPr lang="en-US" sz="1264" dirty="0"/>
          </a:p>
        </p:txBody>
      </p:sp>
      <p:sp>
        <p:nvSpPr>
          <p:cNvPr id="4" name="958830cf-572f-4da6-91db-ab80e6eae80f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4461f00-8ac0-48a4-a7fb-11b09df5eb08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publicação de um vídeo comemorando seu aniversário no feed do Instagram</a:t>
            </a:r>
            <a:endParaRPr lang="en-US" sz="1264" dirty="0"/>
          </a:p>
        </p:txBody>
      </p:sp>
      <p:sp>
        <p:nvSpPr>
          <p:cNvPr id="6" name="1156deaf-9f51-4cb2-955a-1b3abe50161f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418f06c7-b442-43ec-9363-2cf30c5cee4e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digitação de um comentário em um vídeo educativo da internet</a:t>
            </a:r>
            <a:endParaRPr lang="en-US" sz="1264" dirty="0"/>
          </a:p>
        </p:txBody>
      </p:sp>
      <p:sp>
        <p:nvSpPr>
          <p:cNvPr id="8" name="da60eca9-a839-4e43-9c14-31fc99ad12b3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fb301b86-6994-476c-94b9-ac602c82ec5b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envio voluntário de uma mensagem no grupo de estudos da escola</a:t>
            </a:r>
            <a:endParaRPr lang="en-US" sz="1264" dirty="0"/>
          </a:p>
        </p:txBody>
      </p:sp>
      <p:sp>
        <p:nvSpPr>
          <p:cNvPr id="10" name="9fa06b54-8ca9-4e0b-8088-65c8eacda10d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7718fb4-1418-4b24-ba45-4da4544eb4c4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geolocalização e o endereço IP registrados automaticamente ao abrir um aplicativo</a:t>
            </a:r>
            <a:endParaRPr lang="en-US" sz="1264" dirty="0"/>
          </a:p>
        </p:txBody>
      </p:sp>
      <p:sp>
        <p:nvSpPr>
          <p:cNvPr id="12" name="dd618490-c676-47eb-a06f-f46416535baa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383f1752-2692-43ee-8f72-e938953283b0"/>
          <p:cNvSpPr/>
          <p:nvPr/>
        </p:nvSpPr>
        <p:spPr>
          <a:xfrm>
            <a:off x="8721090" y="40905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NSA0rNf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Protegendo a Privacidade e a LGPD</a:t>
            </a:r>
            <a:endParaRPr lang="en-US" sz="2246" dirty="0"/>
          </a:p>
        </p:txBody>
      </p:sp>
      <p:sp>
        <p:nvSpPr>
          <p:cNvPr id="3" name="3DpSdNBo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lei protege seus dados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Brasil,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LGPD (Lei Geral de Proteção de Dados)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estabelece que empresas e sites precisam de consentimento explícito para coletar informações pessoais como CPF, nome completo, biometria e fotos.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exponha dados sensíveis em redes abertas, perfis públicos ou bate-papos de jogos online com desconhecidos.</a:t>
            </a:r>
            <a:endParaRPr lang="en-US" sz="1685" dirty="0"/>
          </a:p>
        </p:txBody>
      </p:sp>
      <p:pic>
        <p:nvPicPr>
          <p:cNvPr id="4" name="medlgpd1" descr="/home/forge/chalkie-production-workers-3/releases/78875040/backend/storage/app/render-specs/ee3821df-fac1-4bd4-8248-7453e936f51f/img_dcd2f81d130e0aa93af1c173853fd4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yoF547l"/>
          <p:cNvSpPr/>
          <p:nvPr/>
        </p:nvSpPr>
        <p:spPr>
          <a:xfrm>
            <a:off x="274320" y="182880"/>
            <a:ext cx="4206240" cy="2251710"/>
          </a:xfrm>
          <a:prstGeom prst="roundRect">
            <a:avLst>
              <a:gd name="adj" fmla="val 609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3" name="medquad1" descr="/home/forge/chalkie-production-workers-3/releases/78875040/backend/storage/app/render-specs/ee3821df-fac1-4bd4-8248-7453e936f51f/img_38503fc3b25f568f050e605c3dc4b3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331470"/>
            <a:ext cx="548640" cy="548640"/>
          </a:xfrm>
          <a:prstGeom prst="rect">
            <a:avLst/>
          </a:prstGeom>
        </p:spPr>
      </p:pic>
      <p:sp>
        <p:nvSpPr>
          <p:cNvPr id="4" name="7EnlX5sf"/>
          <p:cNvSpPr/>
          <p:nvPr/>
        </p:nvSpPr>
        <p:spPr>
          <a:xfrm>
            <a:off x="1062990" y="32886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Geolocalização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marcar a escola ou sua residência em postagens em tempo real.</a:t>
            </a:r>
            <a:endParaRPr lang="en-US" sz="1685" dirty="0"/>
          </a:p>
        </p:txBody>
      </p:sp>
      <p:sp>
        <p:nvSpPr>
          <p:cNvPr id="5" name="rYEImrqd"/>
          <p:cNvSpPr/>
          <p:nvPr/>
        </p:nvSpPr>
        <p:spPr>
          <a:xfrm>
            <a:off x="4663440" y="182880"/>
            <a:ext cx="4206240" cy="2251710"/>
          </a:xfrm>
          <a:prstGeom prst="roundRect">
            <a:avLst>
              <a:gd name="adj" fmla="val 609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6" name="medquad2" descr="/home/forge/chalkie-production-workers-3/releases/78875040/backend/storage/app/render-specs/ee3821df-fac1-4bd4-8248-7453e936f51f/img_958f17bd6bc21fb69be6e8a5169776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331470"/>
            <a:ext cx="548640" cy="548640"/>
          </a:xfrm>
          <a:prstGeom prst="rect">
            <a:avLst/>
          </a:prstGeom>
        </p:spPr>
      </p:pic>
      <p:sp>
        <p:nvSpPr>
          <p:cNvPr id="7" name="qRd9LfGn"/>
          <p:cNvSpPr/>
          <p:nvPr/>
        </p:nvSpPr>
        <p:spPr>
          <a:xfrm>
            <a:off x="5452110" y="32886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Perfis Fechados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Mantenha perfis restritos apenas a amigos e familiares conhecidos.</a:t>
            </a:r>
            <a:endParaRPr lang="en-US" sz="1685" dirty="0"/>
          </a:p>
        </p:txBody>
      </p:sp>
      <p:sp>
        <p:nvSpPr>
          <p:cNvPr id="8" name="RZ2x8FmW"/>
          <p:cNvSpPr/>
          <p:nvPr/>
        </p:nvSpPr>
        <p:spPr>
          <a:xfrm>
            <a:off x="274320" y="2617470"/>
            <a:ext cx="4206240" cy="2251710"/>
          </a:xfrm>
          <a:prstGeom prst="roundRect">
            <a:avLst>
              <a:gd name="adj" fmla="val 609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9" name="medquad3" descr="/home/forge/chalkie-production-workers-3/releases/78875040/backend/storage/app/render-specs/ee3821df-fac1-4bd4-8248-7453e936f51f/img_8a09baef47f1ace216238d1c955d4e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2766060"/>
            <a:ext cx="548640" cy="548640"/>
          </a:xfrm>
          <a:prstGeom prst="rect">
            <a:avLst/>
          </a:prstGeom>
        </p:spPr>
      </p:pic>
      <p:sp>
        <p:nvSpPr>
          <p:cNvPr id="10" name="Zbed5Jpm"/>
          <p:cNvSpPr/>
          <p:nvPr/>
        </p:nvSpPr>
        <p:spPr>
          <a:xfrm>
            <a:off x="1062990" y="27634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Fotos de Terceiros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Peça autorização antes de postar imagens que mostrem colegas.</a:t>
            </a:r>
            <a:endParaRPr lang="en-US" sz="1685" dirty="0"/>
          </a:p>
        </p:txBody>
      </p:sp>
      <p:sp>
        <p:nvSpPr>
          <p:cNvPr id="11" name="rE315fvU"/>
          <p:cNvSpPr/>
          <p:nvPr/>
        </p:nvSpPr>
        <p:spPr>
          <a:xfrm>
            <a:off x="4663440" y="2617470"/>
            <a:ext cx="4206240" cy="2251710"/>
          </a:xfrm>
          <a:prstGeom prst="roundRect">
            <a:avLst>
              <a:gd name="adj" fmla="val 6091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2" name="medquad4" descr="/home/forge/chalkie-production-workers-3/releases/78875040/backend/storage/app/render-specs/ee3821df-fac1-4bd4-8248-7453e936f51f/img_a00c607b89d3144086905177a1c4f7c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2766060"/>
            <a:ext cx="548640" cy="548640"/>
          </a:xfrm>
          <a:prstGeom prst="rect">
            <a:avLst/>
          </a:prstGeom>
        </p:spPr>
      </p:pic>
      <p:sp>
        <p:nvSpPr>
          <p:cNvPr id="13" name="IJ3aDqCJ"/>
          <p:cNvSpPr/>
          <p:nvPr/>
        </p:nvSpPr>
        <p:spPr>
          <a:xfrm>
            <a:off x="5452110" y="27634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Autenticação 2FA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Ative a verificação em duas etapas em todos os seus e-mails e redes.</a:t>
            </a:r>
            <a:endParaRPr lang="en-US" sz="16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yPjLX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Anatomia de uma Senha Robusta</a:t>
            </a:r>
            <a:endParaRPr lang="en-US" sz="2246" dirty="0"/>
          </a:p>
        </p:txBody>
      </p:sp>
      <p:pic>
        <p:nvPicPr>
          <p:cNvPr id="3" name="medpw1" descr="/home/forge/chalkie-production-workers-3/releases/78875040/backend/storage/app/render-specs/ee3821df-fac1-4bd4-8248-7453e936f51f/img_cb1bb4768c85d7058c5b3992a2e6a3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x5cHitju"/>
          <p:cNvSpPr/>
          <p:nvPr/>
        </p:nvSpPr>
        <p:spPr>
          <a:xfrm>
            <a:off x="18288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b02ZPN0G"/>
          <p:cNvSpPr/>
          <p:nvPr/>
        </p:nvSpPr>
        <p:spPr>
          <a:xfrm>
            <a:off x="274320" y="3625671"/>
            <a:ext cx="2743200" cy="1245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Comprimento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12 ou mais caracteres para bloquear ataques diretos.</a:t>
            </a:r>
            <a:endParaRPr lang="en-US" sz="1404" dirty="0"/>
          </a:p>
        </p:txBody>
      </p:sp>
      <p:pic>
        <p:nvPicPr>
          <p:cNvPr id="6" name="medpw2" descr="/home/forge/chalkie-production-workers-3/releases/78875040/backend/storage/app/render-specs/ee3821df-fac1-4bd4-8248-7453e936f51f/img_6b17be6e4319383e49eb08699053c2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7" name="FMctT9t7"/>
          <p:cNvSpPr/>
          <p:nvPr/>
        </p:nvSpPr>
        <p:spPr>
          <a:xfrm>
            <a:off x="310896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8" name="6pOWa2Hb"/>
          <p:cNvSpPr/>
          <p:nvPr/>
        </p:nvSpPr>
        <p:spPr>
          <a:xfrm>
            <a:off x="3200400" y="3625671"/>
            <a:ext cx="2743200" cy="1245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Complexidade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Combine letras maiúsculas, minúsculas, números e símbolos.</a:t>
            </a:r>
            <a:endParaRPr lang="en-US" sz="1404" dirty="0"/>
          </a:p>
        </p:txBody>
      </p:sp>
      <p:pic>
        <p:nvPicPr>
          <p:cNvPr id="9" name="medpw3" descr="/home/forge/chalkie-production-workers-3/releases/78875040/backend/storage/app/render-specs/ee3821df-fac1-4bd4-8248-7453e936f51f/img_64a482f6010b71e4f96a9702a99bc4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925830"/>
            <a:ext cx="27432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10" name="3IImAMCW"/>
          <p:cNvSpPr/>
          <p:nvPr/>
        </p:nvSpPr>
        <p:spPr>
          <a:xfrm>
            <a:off x="6035040" y="3097530"/>
            <a:ext cx="2926080" cy="400050"/>
          </a:xfrm>
          <a:prstGeom prst="chevron">
            <a:avLst/>
          </a:prstGeom>
          <a:solidFill>
            <a:srgbClr val="262B47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11" name="77umbw5P"/>
          <p:cNvSpPr/>
          <p:nvPr/>
        </p:nvSpPr>
        <p:spPr>
          <a:xfrm>
            <a:off x="6126480" y="3625671"/>
            <a:ext cx="2743200" cy="10058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Exclusividade</a:t>
            </a:r>
            <a:endParaRPr lang="en-US" sz="1404" dirty="0"/>
          </a:p>
          <a:p>
            <a:pPr algn="l" indent="0" marL="0">
              <a:lnSpc>
                <a:spcPts val="1872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códigos únicos para cada conta ou serviço online.</a:t>
            </a:r>
            <a:endParaRPr lang="en-US" sz="140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Wh1ImU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Força de Senhas</a:t>
            </a:r>
            <a:endParaRPr lang="en-US" sz="2246" dirty="0"/>
          </a:p>
        </p:txBody>
      </p:sp>
      <p:sp>
        <p:nvSpPr>
          <p:cNvPr id="3" name="koxmt8Jn"/>
          <p:cNvSpPr/>
          <p:nvPr/>
        </p:nvSpPr>
        <p:spPr>
          <a:xfrm>
            <a:off x="274320" y="1014662"/>
            <a:ext cx="420624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</a:ln>
        </p:spPr>
        <p:txBody>
          <a:bodyPr wrap="square" lIns="148590" tIns="148590" rIns="148590" bIns="14859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FF6B6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❌ Senha Frágil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brasil2023 ou 123456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Palavras de dicionário, sequências óbvias e datas de aniversário são quebradas por programas em menos de 1 segundo.</a:t>
            </a:r>
            <a:endParaRPr lang="en-US" sz="1685" dirty="0"/>
          </a:p>
        </p:txBody>
      </p:sp>
      <p:sp>
        <p:nvSpPr>
          <p:cNvPr id="4" name="bTRbVgpt"/>
          <p:cNvSpPr/>
          <p:nvPr/>
        </p:nvSpPr>
        <p:spPr>
          <a:xfrm>
            <a:off x="4663440" y="1014662"/>
            <a:ext cx="4206240" cy="2331720"/>
          </a:xfrm>
          <a:prstGeom prst="roundRect">
            <a:avLst>
              <a:gd name="adj" fmla="val 5882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</a:ln>
        </p:spPr>
        <p:txBody>
          <a:bodyPr wrap="square" lIns="148590" tIns="148590" rIns="148590" bIns="14859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 Senha Forte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#Chuva!Cafe*8791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Combina uma frase longa, caracteres aleatórios e símbolos, exigindo séculos para qualquer computador tentar descobrir.</a:t>
            </a:r>
            <a:endParaRPr lang="en-US" sz="1685" dirty="0"/>
          </a:p>
        </p:txBody>
      </p:sp>
      <p:sp>
        <p:nvSpPr>
          <p:cNvPr id="5" name="2CShIyDE"/>
          <p:cNvSpPr/>
          <p:nvPr/>
        </p:nvSpPr>
        <p:spPr>
          <a:xfrm>
            <a:off x="274320" y="3531870"/>
            <a:ext cx="8595360" cy="1337310"/>
          </a:xfrm>
          <a:prstGeom prst="roundRect">
            <a:avLst>
              <a:gd name="adj" fmla="val 6838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baYAkJWC"/>
          <p:cNvSpPr/>
          <p:nvPr/>
        </p:nvSpPr>
        <p:spPr>
          <a:xfrm>
            <a:off x="400050" y="3687885"/>
            <a:ext cx="320040" cy="480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1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⚠️</a:t>
            </a:r>
            <a:endParaRPr lang="en-US" sz="1685" dirty="0"/>
          </a:p>
        </p:txBody>
      </p:sp>
      <p:sp>
        <p:nvSpPr>
          <p:cNvPr id="7" name="lCP5oUkb"/>
          <p:cNvSpPr/>
          <p:nvPr/>
        </p:nvSpPr>
        <p:spPr>
          <a:xfrm>
            <a:off x="811530" y="3655786"/>
            <a:ext cx="793242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Jamais anote suas senhas em papéis colados no monitor ou blocos de notas públicos.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ltAngQ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Antivírus e Firewall: Defesa Digital</a:t>
            </a:r>
            <a:endParaRPr lang="en-US" sz="2246" dirty="0"/>
          </a:p>
        </p:txBody>
      </p:sp>
      <p:pic>
        <p:nvPicPr>
          <p:cNvPr id="3" name="meddiag1" descr="/home/forge/chalkie-production-workers-3/releases/78875040/backend/storage/app/render-specs/ee3821df-fac1-4bd4-8248-7453e936f51f/img_ef8174e155f1b563444cc85a27e197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17270"/>
            <a:ext cx="8595360" cy="3086100"/>
          </a:xfrm>
          <a:prstGeom prst="roundRect">
            <a:avLst>
              <a:gd name="adj" fmla="val 4444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QoHeV9i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do Firewall e do Antivírus</a:t>
            </a:r>
            <a:endParaRPr lang="en-US" sz="2246" dirty="0"/>
          </a:p>
        </p:txBody>
      </p:sp>
      <p:pic>
        <p:nvPicPr>
          <p:cNvPr id="3" name="meddef1" descr="/home/forge/chalkie-production-workers-3/releases/78875040/backend/storage/app/render-specs/ee3821df-fac1-4bd4-8248-7453e936f51f/img_f7e08778b87a2137a560c3d5c15136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2Y4a2Ncm"/>
          <p:cNvSpPr/>
          <p:nvPr/>
        </p:nvSpPr>
        <p:spPr>
          <a:xfrm>
            <a:off x="274320" y="3037772"/>
            <a:ext cx="425196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Firewall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Atua como o porteiro do sistema: inspeciona o tráfego da rede e impede acessos não autorizados de fora para dentro do seu computador.</a:t>
            </a:r>
            <a:endParaRPr lang="en-US" sz="1685" dirty="0"/>
          </a:p>
        </p:txBody>
      </p:sp>
      <p:pic>
        <p:nvPicPr>
          <p:cNvPr id="5" name="meddef2" descr="/home/forge/chalkie-production-workers-3/releases/78875040/backend/storage/app/render-specs/ee3821df-fac1-4bd4-8248-7453e936f51f/img_eee45c01d1976dc022c70a8863bc16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KX4dTbuT"/>
          <p:cNvSpPr/>
          <p:nvPr/>
        </p:nvSpPr>
        <p:spPr>
          <a:xfrm>
            <a:off x="4617720" y="3037772"/>
            <a:ext cx="425196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Antivírus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Atua como o médico interno: faz varreduras em busca de malwares e arquivos corrompidos, eliminando ameaças que já entraram.</a:t>
            </a:r>
            <a:endParaRPr lang="en-US" sz="168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b8c2baf-aaa0-40d0-b9ec-aa40fdf66ee9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Práticas de Segurança</a:t>
            </a:r>
            <a:endParaRPr lang="en-US" sz="2246" dirty="0"/>
          </a:p>
        </p:txBody>
      </p:sp>
      <p:sp>
        <p:nvSpPr>
          <p:cNvPr id="3" name="bbaa6fad-5b8b-4f65-94be-e183e1b220be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das seguintes afirmações sobre senhas e segurança digital são verdadeiras? (Mais de uma está correta)</a:t>
            </a:r>
            <a:endParaRPr lang="en-US" sz="1264" dirty="0"/>
          </a:p>
        </p:txBody>
      </p:sp>
      <p:sp>
        <p:nvSpPr>
          <p:cNvPr id="4" name="a4270e68-3389-4f27-af9d-fa09d78c0729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2637674-83de-4557-8f0e-a84286e4ed31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Salvar senhas em folhas soltas ou arquivos sem senha no computador é uma prática recomendada pelos especialistas.</a:t>
            </a:r>
            <a:endParaRPr lang="en-US" sz="1264" dirty="0"/>
          </a:p>
        </p:txBody>
      </p:sp>
      <p:sp>
        <p:nvSpPr>
          <p:cNvPr id="6" name="7f38f010-60df-49bb-8a3a-9a4411a84c23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f44f299-7e38-4688-9ab1-03ae6d5d14f7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ativação da autenticação em dois fatores (2FA) impede o acesso indevido mesmo se descobrirem sua senha.</a:t>
            </a:r>
            <a:endParaRPr lang="en-US" sz="1264" dirty="0"/>
          </a:p>
        </p:txBody>
      </p:sp>
      <p:sp>
        <p:nvSpPr>
          <p:cNvPr id="8" name="edd05cc2-6c3e-46f4-a867-1f7d6a09c02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c3af6d4-8427-4800-8b8b-c88b2a88b42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Usar uma frase longa misturando números e símbolos torna a senha mais difícil de ser violada.</a:t>
            </a:r>
            <a:endParaRPr lang="en-US" sz="1264" dirty="0"/>
          </a:p>
        </p:txBody>
      </p:sp>
      <p:sp>
        <p:nvSpPr>
          <p:cNvPr id="10" name="f086ed1c-12eb-4459-8c2b-f56861c6f1f0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845e2ca-c740-4bdc-82ea-9d4e61f0b70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firewall tem como objetivo principal limpar vírus que já estejam gravados e escondidos no disco rígido.</a:t>
            </a:r>
            <a:endParaRPr lang="en-US" sz="12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b8c2baf-aaa0-40d0-b9ec-aa40fdf66ee9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Práticas de Segurança</a:t>
            </a:r>
            <a:endParaRPr lang="en-US" sz="2246" dirty="0"/>
          </a:p>
        </p:txBody>
      </p:sp>
      <p:sp>
        <p:nvSpPr>
          <p:cNvPr id="3" name="bbaa6fad-5b8b-4f65-94be-e183e1b220be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Quais das seguintes afirmações sobre senhas e segurança digital são verdadeiras? (Mais de uma está correta)</a:t>
            </a:r>
            <a:endParaRPr lang="en-US" sz="1264" dirty="0"/>
          </a:p>
        </p:txBody>
      </p:sp>
      <p:sp>
        <p:nvSpPr>
          <p:cNvPr id="4" name="a4270e68-3389-4f27-af9d-fa09d78c0729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b2637674-83de-4557-8f0e-a84286e4ed31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Salvar senhas em folhas soltas ou arquivos sem senha no computador é uma prática recomendada pelos especialistas.</a:t>
            </a:r>
            <a:endParaRPr lang="en-US" sz="1264" dirty="0"/>
          </a:p>
        </p:txBody>
      </p:sp>
      <p:sp>
        <p:nvSpPr>
          <p:cNvPr id="6" name="7f38f010-60df-49bb-8a3a-9a4411a84c23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7f44f299-7e38-4688-9ab1-03ae6d5d14f7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ativação da autenticação em dois fatores (2FA) impede o acesso indevido mesmo se descobrirem sua senha.</a:t>
            </a:r>
            <a:endParaRPr lang="en-US" sz="1264" dirty="0"/>
          </a:p>
        </p:txBody>
      </p:sp>
      <p:sp>
        <p:nvSpPr>
          <p:cNvPr id="8" name="edd05cc2-6c3e-46f4-a867-1f7d6a09c027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ac3af6d4-8427-4800-8b8b-c88b2a88b422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Usar uma frase longa misturando números e símbolos torna a senha mais difícil de ser violada.</a:t>
            </a:r>
            <a:endParaRPr lang="en-US" sz="1264" dirty="0"/>
          </a:p>
        </p:txBody>
      </p:sp>
      <p:sp>
        <p:nvSpPr>
          <p:cNvPr id="10" name="f086ed1c-12eb-4459-8c2b-f56861c6f1f0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845e2ca-c740-4bdc-82ea-9d4e61f0b705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firewall tem como objetivo principal limpar vírus que já estejam gravados e escondidos no disco rígido.</a:t>
            </a:r>
            <a:endParaRPr lang="en-US" sz="1264" dirty="0"/>
          </a:p>
        </p:txBody>
      </p:sp>
      <p:sp>
        <p:nvSpPr>
          <p:cNvPr id="12" name="b889fa69-5c87-4f16-9f7d-b36e321859e5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402ece17-791d-4b76-a35d-fd26284c1268"/>
          <p:cNvSpPr/>
          <p:nvPr/>
        </p:nvSpPr>
        <p:spPr>
          <a:xfrm>
            <a:off x="8721090" y="23760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  <p:sp>
        <p:nvSpPr>
          <p:cNvPr id="14" name="a2514e3f-647a-4379-b5ed-9a398a24ded8"/>
          <p:cNvSpPr/>
          <p:nvPr/>
        </p:nvSpPr>
        <p:spPr>
          <a:xfrm>
            <a:off x="8721090" y="32332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9GjpQMh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Fenômeno das Fake News</a:t>
            </a:r>
            <a:endParaRPr lang="en-US" sz="2246" dirty="0"/>
          </a:p>
        </p:txBody>
      </p:sp>
      <p:sp>
        <p:nvSpPr>
          <p:cNvPr id="3" name="pRum7FkY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indústria da desinformação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Fake news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são notícias falsas ou deliberadamente distorcidas, criadas com manchetes sensacionalistas para atrair cliques rápidos (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clickbait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), gerar receita publicitária ou manipular a opinião pública.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Nas redes sociais, boatos viajam com velocidade assustadora porque apelam para emoções fortes como medo, revolta ou curiosidade.</a:t>
            </a:r>
            <a:endParaRPr lang="en-US" sz="1685" dirty="0"/>
          </a:p>
        </p:txBody>
      </p:sp>
      <p:pic>
        <p:nvPicPr>
          <p:cNvPr id="4" name="medfn1" descr="/home/forge/chalkie-production-workers-3/releases/78875040/backend/storage/app/render-specs/ee3821df-fac1-4bd4-8248-7453e936f51f/img_bea7bfbe15364eaea0c36ddbd666fa5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VeZYUeV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Identificar Desinformação</a:t>
            </a:r>
            <a:endParaRPr lang="en-US" sz="2246" dirty="0"/>
          </a:p>
        </p:txBody>
      </p:sp>
      <p:pic>
        <p:nvPicPr>
          <p:cNvPr id="3" name="medid1" descr="/home/forge/chalkie-production-workers-3/releases/78875040/backend/storage/app/render-specs/ee3821df-fac1-4bd4-8248-7453e936f51f/img_0d9915a6668c018bc6d7dbda97f3eb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4" name="yXPTOxV2"/>
          <p:cNvSpPr/>
          <p:nvPr/>
        </p:nvSpPr>
        <p:spPr>
          <a:xfrm>
            <a:off x="274320" y="3204850"/>
            <a:ext cx="2011680" cy="1623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Fonte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Verifique se o site é conhecido ou se imita endereços oficiais.</a:t>
            </a:r>
            <a:endParaRPr lang="en-US" sz="1264" dirty="0"/>
          </a:p>
        </p:txBody>
      </p:sp>
      <p:pic>
        <p:nvPicPr>
          <p:cNvPr id="5" name="medid2" descr="/home/forge/chalkie-production-workers-3/releases/78875040/backend/storage/app/render-specs/ee3821df-fac1-4bd4-8248-7453e936f51f/img_7870a7b12b1a9a4b770d6e25af492e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5156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6" name="ZhrDUUgP"/>
          <p:cNvSpPr/>
          <p:nvPr/>
        </p:nvSpPr>
        <p:spPr>
          <a:xfrm>
            <a:off x="2468880" y="3204850"/>
            <a:ext cx="2011680" cy="1623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Autor e Data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Descubra quem assina a matéria e quando foi publicada.</a:t>
            </a:r>
            <a:endParaRPr lang="en-US" sz="1264" dirty="0"/>
          </a:p>
        </p:txBody>
      </p:sp>
      <p:pic>
        <p:nvPicPr>
          <p:cNvPr id="7" name="medid3" descr="/home/forge/chalkie-production-workers-3/releases/78875040/backend/storage/app/render-specs/ee3821df-fac1-4bd4-8248-7453e936f51f/img_f8acc90a612c85efeec14e86f4cdd3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5156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8" name="NGILBS1b"/>
          <p:cNvSpPr/>
          <p:nvPr/>
        </p:nvSpPr>
        <p:spPr>
          <a:xfrm>
            <a:off x="4663440" y="3204850"/>
            <a:ext cx="2011680" cy="1623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Checagem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Pesquise a mesma notícia em veículos de imprensa profissionais.</a:t>
            </a:r>
            <a:endParaRPr lang="en-US" sz="1264" dirty="0"/>
          </a:p>
        </p:txBody>
      </p:sp>
      <p:pic>
        <p:nvPicPr>
          <p:cNvPr id="9" name="medid4" descr="/home/forge/chalkie-production-workers-3/releases/78875040/backend/storage/app/render-specs/ee3821df-fac1-4bd4-8248-7453e936f51f/img_5f81db74ad617e0bda060f2619e251d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51560"/>
            <a:ext cx="2011680" cy="2057400"/>
          </a:xfrm>
          <a:prstGeom prst="roundRect">
            <a:avLst>
              <a:gd name="adj" fmla="val 6818"/>
            </a:avLst>
          </a:prstGeom>
        </p:spPr>
      </p:pic>
      <p:sp>
        <p:nvSpPr>
          <p:cNvPr id="10" name="TPBOuidE"/>
          <p:cNvSpPr/>
          <p:nvPr/>
        </p:nvSpPr>
        <p:spPr>
          <a:xfrm>
            <a:off x="6858000" y="3204850"/>
            <a:ext cx="2011680" cy="1623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Pause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Na dúvida sobre a veracidade, nunca repasse nem compartilhe.</a:t>
            </a:r>
            <a:endParaRPr lang="en-US" sz="126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KmGCF88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Agências de Checagem no Brasil</a:t>
            </a:r>
            <a:endParaRPr lang="en-US" sz="2246" dirty="0"/>
          </a:p>
        </p:txBody>
      </p:sp>
      <p:sp>
        <p:nvSpPr>
          <p:cNvPr id="3" name="CwosoMTs"/>
          <p:cNvSpPr/>
          <p:nvPr/>
        </p:nvSpPr>
        <p:spPr>
          <a:xfrm>
            <a:off x="274320" y="1014662"/>
            <a:ext cx="443484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Profissionais da verdade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 Brasil, iniciativas especializadas como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Aos Fatos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Lupa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o consórcio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Fato ou Fake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trabalham diariamente investigando boatos virais para atestar sua veracidade.</a:t>
            </a:r>
            <a:endParaRPr lang="en-US" sz="1685" dirty="0"/>
          </a:p>
        </p:txBody>
      </p:sp>
      <p:sp>
        <p:nvSpPr>
          <p:cNvPr id="4" name="lIzX4dzC-bar"/>
          <p:cNvSpPr/>
          <p:nvPr/>
        </p:nvSpPr>
        <p:spPr>
          <a:xfrm>
            <a:off x="274320" y="3040380"/>
            <a:ext cx="45720" cy="108585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5" name="lIzX4dzC"/>
          <p:cNvSpPr/>
          <p:nvPr/>
        </p:nvSpPr>
        <p:spPr>
          <a:xfrm>
            <a:off x="548640" y="3021970"/>
            <a:ext cx="4160520" cy="1085850"/>
          </a:xfrm>
          <a:prstGeom prst="rect">
            <a:avLst/>
          </a:prstGeom>
          <a:noFill/>
          <a:ln/>
        </p:spPr>
        <p:txBody>
          <a:bodyPr wrap="square" lIns="0" tIns="45720" rIns="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“A desinformação prospera quando compartilhamos por impulso sem conferir.”</a:t>
            </a:r>
            <a:endParaRPr lang="en-US" sz="1264" dirty="0"/>
          </a:p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Princípio das Agências de Fact-Checking</a:t>
            </a:r>
            <a:endParaRPr lang="en-US" sz="1264" dirty="0"/>
          </a:p>
        </p:txBody>
      </p:sp>
      <p:pic>
        <p:nvPicPr>
          <p:cNvPr id="6" name="medche1" descr="/home/forge/chalkie-production-workers-3/releases/78875040/backend/storage/app/render-specs/ee3821df-fac1-4bd4-8248-7453e936f51f/img_5755468e52f31afc1b35c1874a2a4b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17270"/>
            <a:ext cx="3886200" cy="274320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9e154e-9126-44ad-abcf-7ddcea76c684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 ou Falso: Fake News</a:t>
            </a:r>
            <a:endParaRPr lang="en-US" sz="2246" dirty="0"/>
          </a:p>
        </p:txBody>
      </p:sp>
      <p:sp>
        <p:nvSpPr>
          <p:cNvPr id="3" name="1c7f0be0-7893-4ef3-87bd-698e82838770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mensagem chocante for compartilhada por um amigo próximo no WhatsApp, podemos confiar imediatamente e repassar.</a:t>
            </a:r>
            <a:endParaRPr lang="en-US" sz="1264" dirty="0"/>
          </a:p>
        </p:txBody>
      </p:sp>
      <p:sp>
        <p:nvSpPr>
          <p:cNvPr id="4" name="d8e84bb5-c5c2-42af-987c-7570d4b4db3f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5260ce44-5b83-41fc-8899-ba27e3008efa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783344d7-4f17-4120-baea-76e3f9a2a85e"/>
          <p:cNvSpPr/>
          <p:nvPr/>
        </p:nvSpPr>
        <p:spPr>
          <a:xfrm>
            <a:off x="2571750" y="3712787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59e154e-9126-44ad-abcf-7ddcea76c684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 ou Falso: Fake News</a:t>
            </a:r>
            <a:endParaRPr lang="en-US" sz="2246" dirty="0"/>
          </a:p>
        </p:txBody>
      </p:sp>
      <p:sp>
        <p:nvSpPr>
          <p:cNvPr id="3" name="1c7f0be0-7893-4ef3-87bd-698e82838770"/>
          <p:cNvSpPr/>
          <p:nvPr/>
        </p:nvSpPr>
        <p:spPr>
          <a:xfrm>
            <a:off x="822960" y="1141037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  <a:effectLst>
            <a:outerShdw sx="100000" sy="100000" kx="0" ky="0" algn="bl" rotWithShape="0" blurRad="0" dist="129286" dir="2700000">
              <a:srgbClr val="000000">
                <a:alpha val="100000"/>
              </a:srgbClr>
            </a:outerShdw>
          </a:effectLst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mensagem chocante for compartilhada por um amigo próximo no WhatsApp, podemos confiar imediatamente e repassar.</a:t>
            </a:r>
            <a:endParaRPr lang="en-US" sz="1264" dirty="0"/>
          </a:p>
        </p:txBody>
      </p:sp>
      <p:sp>
        <p:nvSpPr>
          <p:cNvPr id="4" name="d8e84bb5-c5c2-42af-987c-7570d4b4db3f"/>
          <p:cNvSpPr/>
          <p:nvPr/>
        </p:nvSpPr>
        <p:spPr>
          <a:xfrm>
            <a:off x="2571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5" name="5260ce44-5b83-41fc-8899-ba27e3008efa"/>
          <p:cNvSpPr/>
          <p:nvPr/>
        </p:nvSpPr>
        <p:spPr>
          <a:xfrm>
            <a:off x="4857750" y="262598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6" name="0b060433-4999-47c3-92c8-0a382c8738e2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7" name="823269d5-683a-426c-bdd7-e611693b9e6f"/>
          <p:cNvSpPr/>
          <p:nvPr/>
        </p:nvSpPr>
        <p:spPr>
          <a:xfrm>
            <a:off x="457200" y="3655786"/>
            <a:ext cx="8229600" cy="1028700"/>
          </a:xfrm>
          <a:prstGeom prst="roundRect">
            <a:avLst>
              <a:gd name="adj" fmla="val 8889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</a:ln>
        </p:spPr>
        <p:txBody>
          <a:bodyPr wrap="square" lIns="125730" tIns="125730" rIns="125730" bIns="12573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🔑 </a:t>
            </a: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Amigos também podem ser enganados por boatos; é indispensável checar a fonte primária antes de repassar.</a:t>
            </a:r>
            <a:endParaRPr lang="en-US" sz="1123" dirty="0"/>
          </a:p>
        </p:txBody>
      </p:sp>
      <p:sp>
        <p:nvSpPr>
          <p:cNvPr id="8" name="c268770c-4a4b-4f4c-82fe-7845b399740d"/>
          <p:cNvSpPr/>
          <p:nvPr/>
        </p:nvSpPr>
        <p:spPr>
          <a:xfrm>
            <a:off x="6435090" y="249033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HlVOeIy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Cyberbullying: Agressão Digital</a:t>
            </a:r>
            <a:endParaRPr lang="en-US" sz="2246" dirty="0"/>
          </a:p>
        </p:txBody>
      </p:sp>
      <p:sp>
        <p:nvSpPr>
          <p:cNvPr id="3" name="LoCdcjuB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FF6B6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que caracteriza o cyberbullying?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Trata-se do uso da tecnologia para intimidar, difamar, ridicularizar, assediar ou excluir intencionalmente uma pessoa de forma repetitiva.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trás de telas e apelidos fictícios, agressores acreditam estarem anônimos, mas qualquer dispositivo conectado pode ser rastreado e responsabilizado pela lei.</a:t>
            </a:r>
            <a:endParaRPr lang="en-US" sz="1685" dirty="0"/>
          </a:p>
        </p:txBody>
      </p:sp>
      <p:pic>
        <p:nvPicPr>
          <p:cNvPr id="4" name="medcb1" descr="/home/forge/chalkie-production-workers-3/releases/78875040/backend/storage/app/render-specs/ee3821df-fac1-4bd4-8248-7453e936f51f/img_b3de8fd33f4b76d11dafb614d3d9a9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Q4mry4z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Impactos e Como Buscar Ajuda</a:t>
            </a:r>
            <a:endParaRPr lang="en-US" sz="2246" dirty="0"/>
          </a:p>
        </p:txBody>
      </p:sp>
      <p:pic>
        <p:nvPicPr>
          <p:cNvPr id="3" name="medimp1" descr="/home/forge/chalkie-production-workers-3/releases/78875040/backend/storage/app/render-specs/ee3821df-fac1-4bd4-8248-7453e936f51f/img_71d1909624017caf2dd79875b3c88a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rvzVsl7c"/>
          <p:cNvSpPr/>
          <p:nvPr/>
        </p:nvSpPr>
        <p:spPr>
          <a:xfrm>
            <a:off x="274320" y="3037772"/>
            <a:ext cx="4251960" cy="1840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Impactos Emocionais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vítima pode sofrer com ansiedade crônica, isolamento social, queda no rendimento escolar e problemas psicológicos graves.</a:t>
            </a:r>
            <a:endParaRPr lang="en-US" sz="1685" dirty="0"/>
          </a:p>
        </p:txBody>
      </p:sp>
      <p:pic>
        <p:nvPicPr>
          <p:cNvPr id="5" name="medimp2" descr="/home/forge/chalkie-production-workers-3/releases/78875040/backend/storage/app/render-specs/ee3821df-fac1-4bd4-8248-7453e936f51f/img_b57ec05f28ce63470514c981c5a4aca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925830"/>
            <a:ext cx="425196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6" name="FLt0TLTx"/>
          <p:cNvSpPr/>
          <p:nvPr/>
        </p:nvSpPr>
        <p:spPr>
          <a:xfrm>
            <a:off x="4617720" y="3037772"/>
            <a:ext cx="425196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Passos de Ação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Não revide: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salve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prints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completos com datas e nomes, bloqueie os agressores e comunique imediatamente pais e a escola.</a:t>
            </a:r>
            <a:endParaRPr lang="en-US" sz="168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0SSEi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Canais de Denúncia no Brasil</a:t>
            </a:r>
            <a:endParaRPr lang="en-US" sz="2246" dirty="0"/>
          </a:p>
        </p:txBody>
      </p:sp>
      <p:sp>
        <p:nvSpPr>
          <p:cNvPr id="3" name="9QAFz8rx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SnK8MYn7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XiIVBrCn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SaferNet Brasil: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Plataforma não governamental que acolhe denúncias anônimas de crimes cibernéticos e oferece apoio psicológico.</a:t>
            </a:r>
            <a:endParaRPr lang="en-US" sz="1264" dirty="0"/>
          </a:p>
        </p:txBody>
      </p:sp>
      <p:sp>
        <p:nvSpPr>
          <p:cNvPr id="6" name="bozapRjh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ZJT3NrbP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GfjXgOVR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Disque 100: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Canal do Ministério dos Direitos Humanos para denunciar qualquer violação contra crianças e adolescentes.</a:t>
            </a:r>
            <a:endParaRPr lang="en-US" sz="1264" dirty="0"/>
          </a:p>
        </p:txBody>
      </p:sp>
      <p:sp>
        <p:nvSpPr>
          <p:cNvPr id="9" name="PnlvtS8L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aD0LAdIV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mZpg7DeD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Delegacias de Crimes Virtuais: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Unidades da Polícia Civil especializadas em rastrear criminosos cibernéticos e aplicar penalidades legais.</a:t>
            </a:r>
            <a:endParaRPr lang="en-US" sz="126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QjsKawu"/>
          <p:cNvSpPr/>
          <p:nvPr/>
        </p:nvSpPr>
        <p:spPr>
          <a:xfrm>
            <a:off x="274320" y="575238"/>
            <a:ext cx="4846320" cy="10858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Netiqueta: O Bom Senso Online</a:t>
            </a:r>
            <a:endParaRPr lang="en-US" sz="2246" dirty="0"/>
          </a:p>
        </p:txBody>
      </p:sp>
      <p:sp>
        <p:nvSpPr>
          <p:cNvPr id="3" name="R5tksvw7"/>
          <p:cNvSpPr/>
          <p:nvPr/>
        </p:nvSpPr>
        <p:spPr>
          <a:xfrm>
            <a:off x="274320" y="1821820"/>
            <a:ext cx="4846320" cy="2651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Netiqueta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é a fusão de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network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(rede) com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etiqueta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Refere-se às boas maneiras e normas de convivência social estabelecidas para o meio digital.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Escrever tudo em letras maiúsculas (CAPS LOCK), por exemplo, equivale 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GRITAR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as outras pessoas. A empatia é a regra de ouro.</a:t>
            </a:r>
            <a:endParaRPr lang="en-US" sz="1264" dirty="0"/>
          </a:p>
        </p:txBody>
      </p:sp>
      <p:pic>
        <p:nvPicPr>
          <p:cNvPr id="4" name="mednet1" descr="/home/forge/chalkie-production-workers-3/releases/78875040/backend/storage/app/render-specs/ee3821df-fac1-4bd4-8248-7453e936f51f/img_a21abbbfb4cb0de713ef844160c6de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LVzqyi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Regras Fundamentais da Netiqueta</a:t>
            </a:r>
            <a:endParaRPr lang="en-US" sz="2246" dirty="0"/>
          </a:p>
        </p:txBody>
      </p:sp>
      <p:sp>
        <p:nvSpPr>
          <p:cNvPr id="3" name="Q101kdVY"/>
          <p:cNvSpPr/>
          <p:nvPr/>
        </p:nvSpPr>
        <p:spPr>
          <a:xfrm>
            <a:off x="27432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4" name="medrul1" descr="/home/forge/chalkie-production-workers-3/releases/78875040/backend/storage/app/render-specs/ee3821df-fac1-4bd4-8248-7453e936f51f/img_8894a813895d3946b14a6eeaaa1edaa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" y="1165860"/>
            <a:ext cx="548640" cy="548640"/>
          </a:xfrm>
          <a:prstGeom prst="rect">
            <a:avLst/>
          </a:prstGeom>
        </p:spPr>
      </p:pic>
      <p:sp>
        <p:nvSpPr>
          <p:cNvPr id="5" name="z2zjb69c"/>
          <p:cNvSpPr/>
          <p:nvPr/>
        </p:nvSpPr>
        <p:spPr>
          <a:xfrm>
            <a:off x="106299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 do Humano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Nunca escreva online o que você não teria coragem de dizer olhando nos olhos.</a:t>
            </a:r>
            <a:endParaRPr lang="en-US" sz="1685" dirty="0"/>
          </a:p>
        </p:txBody>
      </p:sp>
      <p:sp>
        <p:nvSpPr>
          <p:cNvPr id="6" name="fkB1mfOu"/>
          <p:cNvSpPr/>
          <p:nvPr/>
        </p:nvSpPr>
        <p:spPr>
          <a:xfrm>
            <a:off x="4663440" y="101727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7" name="medrul2" descr="/home/forge/chalkie-production-workers-3/releases/78875040/backend/storage/app/render-specs/ee3821df-fac1-4bd4-8248-7453e936f51f/img_8b756b2dcfc7971d77ec473ef8a6375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30" y="1165860"/>
            <a:ext cx="548640" cy="548640"/>
          </a:xfrm>
          <a:prstGeom prst="rect">
            <a:avLst/>
          </a:prstGeom>
        </p:spPr>
      </p:pic>
      <p:sp>
        <p:nvSpPr>
          <p:cNvPr id="8" name="LTQzfQVe"/>
          <p:cNvSpPr/>
          <p:nvPr/>
        </p:nvSpPr>
        <p:spPr>
          <a:xfrm>
            <a:off x="5452110" y="116325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Respeite o Tempo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encaminhar correntes gigantes, spams desnecessários e áudios intermináveis.</a:t>
            </a:r>
            <a:endParaRPr lang="en-US" sz="1685" dirty="0"/>
          </a:p>
        </p:txBody>
      </p:sp>
      <p:sp>
        <p:nvSpPr>
          <p:cNvPr id="9" name="XTWDpER8"/>
          <p:cNvSpPr/>
          <p:nvPr/>
        </p:nvSpPr>
        <p:spPr>
          <a:xfrm>
            <a:off x="27432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0" name="medrul3" descr="/home/forge/chalkie-production-workers-3/releases/78875040/backend/storage/app/render-specs/ee3821df-fac1-4bd4-8248-7453e936f51f/img_628a41edf516e81d77ef7759a80e428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" y="3200400"/>
            <a:ext cx="548640" cy="548640"/>
          </a:xfrm>
          <a:prstGeom prst="rect">
            <a:avLst/>
          </a:prstGeom>
        </p:spPr>
      </p:pic>
      <p:sp>
        <p:nvSpPr>
          <p:cNvPr id="11" name="8pn2yNyT"/>
          <p:cNvSpPr/>
          <p:nvPr/>
        </p:nvSpPr>
        <p:spPr>
          <a:xfrm>
            <a:off x="106299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Controle o Tom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postar ou responder a comentários no calor da raiva; espere a calma voltar.</a:t>
            </a:r>
            <a:endParaRPr lang="en-US" sz="1685" dirty="0"/>
          </a:p>
        </p:txBody>
      </p:sp>
      <p:sp>
        <p:nvSpPr>
          <p:cNvPr id="12" name="5lsdRpoZ"/>
          <p:cNvSpPr/>
          <p:nvPr/>
        </p:nvSpPr>
        <p:spPr>
          <a:xfrm>
            <a:off x="4663440" y="3051810"/>
            <a:ext cx="4206240" cy="1851660"/>
          </a:xfrm>
          <a:prstGeom prst="roundRect">
            <a:avLst>
              <a:gd name="adj" fmla="val 7407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54566A"/>
            </a:solidFill>
            <a:prstDash val="solid"/>
          </a:ln>
        </p:spPr>
      </p:sp>
      <p:pic>
        <p:nvPicPr>
          <p:cNvPr id="13" name="medrul4" descr="/home/forge/chalkie-production-workers-3/releases/78875040/backend/storage/app/render-specs/ee3821df-fac1-4bd4-8248-7453e936f51f/img_44cc4a31243b7da41caa22d7edbf9aa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3200400"/>
            <a:ext cx="548640" cy="548640"/>
          </a:xfrm>
          <a:prstGeom prst="rect">
            <a:avLst/>
          </a:prstGeom>
        </p:spPr>
      </p:pic>
      <p:sp>
        <p:nvSpPr>
          <p:cNvPr id="14" name="Fupw9Z7b"/>
          <p:cNvSpPr/>
          <p:nvPr/>
        </p:nvSpPr>
        <p:spPr>
          <a:xfrm>
            <a:off x="5452110" y="3197792"/>
            <a:ext cx="3268980" cy="15544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Tolere Erros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Seja paciente com quem está começando a aprender a usar plataformas digitais.</a:t>
            </a:r>
            <a:endParaRPr lang="en-US" sz="168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hz2NW7M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Direitos Autorais e Plágio Digital</a:t>
            </a:r>
            <a:endParaRPr lang="en-US" sz="2246" dirty="0"/>
          </a:p>
        </p:txBody>
      </p:sp>
      <p:sp>
        <p:nvSpPr>
          <p:cNvPr id="3" name="mVnYCeQ0"/>
          <p:cNvSpPr/>
          <p:nvPr/>
        </p:nvSpPr>
        <p:spPr>
          <a:xfrm>
            <a:off x="274320" y="1014662"/>
            <a:ext cx="4114800" cy="3851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67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685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internet não é terra sem dono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Copiar textos, fotos, ilustrações ou músicas da internet e afirmar que foram criados por você é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plágio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constitui violação de direitos autorais protegida por lei.</a:t>
            </a:r>
            <a:endParaRPr lang="en-US" sz="1685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Sempre cite os autores originais em trabalhos escolares e dê preferência a bancos de mídias com licenças livres e abertas (como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Creative Commons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).</a:t>
            </a:r>
            <a:endParaRPr lang="en-US" sz="1685" dirty="0"/>
          </a:p>
        </p:txBody>
      </p:sp>
      <p:pic>
        <p:nvPicPr>
          <p:cNvPr id="4" name="medcopy1" descr="/home/forge/chalkie-production-workers-3/releases/78875040/backend/storage/app/render-specs/ee3821df-fac1-4bd4-8248-7453e936f51f/img_d03b3d635d5138717cce4b5fdd94da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17270"/>
            <a:ext cx="4114800" cy="3611880"/>
          </a:xfrm>
          <a:prstGeom prst="roundRect">
            <a:avLst>
              <a:gd name="adj" fmla="val 3797"/>
            </a:avLst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VM9idwz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Tipos de Licença e Uso de Mídias</a:t>
            </a:r>
            <a:endParaRPr lang="en-US" sz="2246" dirty="0"/>
          </a:p>
        </p:txBody>
      </p:sp>
      <p:pic>
        <p:nvPicPr>
          <p:cNvPr id="3" name="medlic1" descr="/home/forge/chalkie-production-workers-3/releases/78875040/backend/storage/app/render-specs/ee3821df-fac1-4bd4-8248-7453e936f51f/img_10749fd9530183244ad01d8f1e2f5e6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4" name="fLirpK4K"/>
          <p:cNvSpPr/>
          <p:nvPr/>
        </p:nvSpPr>
        <p:spPr>
          <a:xfrm>
            <a:off x="274320" y="2832181"/>
            <a:ext cx="28117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Todos os Direitos Reservados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precisa de autorização expressa do criador para copiar, reproduzir ou republicar o material.</a:t>
            </a:r>
            <a:endParaRPr lang="en-US" sz="1544" dirty="0"/>
          </a:p>
        </p:txBody>
      </p:sp>
      <p:pic>
        <p:nvPicPr>
          <p:cNvPr id="5" name="medlic2" descr="/home/forge/chalkie-production-workers-3/releases/78875040/backend/storage/app/render-specs/ee3821df-fac1-4bd4-8248-7453e936f51f/img_e65ea69b31d8800694a8c6d6370d26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1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6" name="VghBQvfm"/>
          <p:cNvSpPr/>
          <p:nvPr/>
        </p:nvSpPr>
        <p:spPr>
          <a:xfrm>
            <a:off x="3166110" y="2832181"/>
            <a:ext cx="28117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Creative Commons (CC)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autor permite o uso gratuito e compartilhamento da sua obra, desde que sejam atribuídos os devidos créditos.</a:t>
            </a:r>
            <a:endParaRPr lang="en-US" sz="1544" dirty="0"/>
          </a:p>
        </p:txBody>
      </p:sp>
      <p:pic>
        <p:nvPicPr>
          <p:cNvPr id="7" name="medlic3" descr="/home/forge/chalkie-production-workers-3/releases/78875040/backend/storage/app/render-specs/ee3821df-fac1-4bd4-8248-7453e936f51f/img_36b5c17ef5877c645c94869d447d7cf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30" y="925830"/>
            <a:ext cx="2811780" cy="1851660"/>
          </a:xfrm>
          <a:prstGeom prst="roundRect">
            <a:avLst>
              <a:gd name="adj" fmla="val 7407"/>
            </a:avLst>
          </a:prstGeom>
        </p:spPr>
      </p:pic>
      <p:sp>
        <p:nvSpPr>
          <p:cNvPr id="8" name="1n104t7Q"/>
          <p:cNvSpPr/>
          <p:nvPr/>
        </p:nvSpPr>
        <p:spPr>
          <a:xfrm>
            <a:off x="6069330" y="2832181"/>
            <a:ext cx="2811780" cy="18859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Domínio Público</a:t>
            </a:r>
            <a:endParaRPr lang="en-US" sz="1544" dirty="0"/>
          </a:p>
          <a:p>
            <a:pPr algn="l" indent="0" marL="0">
              <a:lnSpc>
                <a:spcPts val="201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Obras cujo tempo legal de exclusividade expirou e agora podem ser utilizadas livremente por toda a sociedade.</a:t>
            </a:r>
            <a:endParaRPr lang="en-US" sz="154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3a4711-2206-42f6-a63a-3fa28029b36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Correspondência de Conceitos</a:t>
            </a:r>
            <a:endParaRPr lang="en-US" sz="2246" dirty="0"/>
          </a:p>
        </p:txBody>
      </p:sp>
      <p:sp>
        <p:nvSpPr>
          <p:cNvPr id="3" name="fa561998-810e-484c-8289-8d5a4ca32932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d4ea520-8ad7-4e58-a158-73292081c8e5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Netiqueta</a:t>
            </a:r>
            <a:endParaRPr lang="en-US" sz="1404" dirty="0"/>
          </a:p>
        </p:txBody>
      </p:sp>
      <p:sp>
        <p:nvSpPr>
          <p:cNvPr id="5" name="7bc87684-f252-4d22-a7c0-f08a42241e0f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Firewall</a:t>
            </a:r>
            <a:endParaRPr lang="en-US" sz="1404" dirty="0"/>
          </a:p>
        </p:txBody>
      </p:sp>
      <p:sp>
        <p:nvSpPr>
          <p:cNvPr id="6" name="17776c9a-5774-448c-a8f5-84c6fbf3603c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Pegada Digital</a:t>
            </a:r>
            <a:endParaRPr lang="en-US" sz="1404" dirty="0"/>
          </a:p>
        </p:txBody>
      </p:sp>
      <p:sp>
        <p:nvSpPr>
          <p:cNvPr id="7" name="5965e84e-3032-403f-ae52-d8adfea5280a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Creative Commons</a:t>
            </a:r>
            <a:endParaRPr lang="en-US" sz="1404" dirty="0"/>
          </a:p>
        </p:txBody>
      </p:sp>
      <p:sp>
        <p:nvSpPr>
          <p:cNvPr id="8" name="de6ab5be-ac76-4176-bded-698af550f511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Licenças que permitem uso e compartilhamento de obras mediante citação de autoria.</a:t>
            </a:r>
            <a:endParaRPr lang="en-US" sz="1264" dirty="0"/>
          </a:p>
        </p:txBody>
      </p:sp>
      <p:sp>
        <p:nvSpPr>
          <p:cNvPr id="9" name="58187206-f7c7-4d69-ab2f-cc39d31d414c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Rastro de informações deixado na internet por meio de atividades ativas ou passivas.</a:t>
            </a:r>
            <a:endParaRPr lang="en-US" sz="1264" dirty="0"/>
          </a:p>
        </p:txBody>
      </p:sp>
      <p:sp>
        <p:nvSpPr>
          <p:cNvPr id="10" name="e38ec9f4-8da0-47d0-a3ce-f7d9de9ad970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de segurança que monitora o tráfego de dados entre a rede e seu computador.</a:t>
            </a:r>
            <a:endParaRPr lang="en-US" sz="1264" dirty="0"/>
          </a:p>
        </p:txBody>
      </p:sp>
      <p:sp>
        <p:nvSpPr>
          <p:cNvPr id="11" name="19d20b88-6df8-4ec7-90db-425af79723c3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 de regras de convivência ética e respeitosa em ambientes virtuais.</a:t>
            </a:r>
            <a:endParaRPr lang="en-US" sz="126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33a4711-2206-42f6-a63a-3fa28029b368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Correspondência de Conceitos</a:t>
            </a:r>
            <a:endParaRPr lang="en-US" sz="2246" dirty="0"/>
          </a:p>
        </p:txBody>
      </p:sp>
      <p:sp>
        <p:nvSpPr>
          <p:cNvPr id="3" name="fa561998-810e-484c-8289-8d5a4ca32932"/>
          <p:cNvSpPr/>
          <p:nvPr/>
        </p:nvSpPr>
        <p:spPr>
          <a:xfrm>
            <a:off x="285750" y="741136"/>
            <a:ext cx="8572500" cy="38747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Relacione as palavras com as definições</a:t>
            </a:r>
            <a:endParaRPr lang="en-US" sz="1123" dirty="0"/>
          </a:p>
        </p:txBody>
      </p:sp>
      <p:sp>
        <p:nvSpPr>
          <p:cNvPr id="4" name="2d4ea520-8ad7-4e58-a158-73292081c8e5"/>
          <p:cNvSpPr/>
          <p:nvPr/>
        </p:nvSpPr>
        <p:spPr>
          <a:xfrm>
            <a:off x="285750" y="13122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09E9E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Netiqueta</a:t>
            </a:r>
            <a:endParaRPr lang="en-US" sz="1404" dirty="0"/>
          </a:p>
        </p:txBody>
      </p:sp>
      <p:sp>
        <p:nvSpPr>
          <p:cNvPr id="5" name="7bc87684-f252-4d22-a7c0-f08a42241e0f"/>
          <p:cNvSpPr/>
          <p:nvPr/>
        </p:nvSpPr>
        <p:spPr>
          <a:xfrm>
            <a:off x="285750" y="22266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90368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Firewall</a:t>
            </a:r>
            <a:endParaRPr lang="en-US" sz="1404" dirty="0"/>
          </a:p>
        </p:txBody>
      </p:sp>
      <p:sp>
        <p:nvSpPr>
          <p:cNvPr id="6" name="17776c9a-5774-448c-a8f5-84c6fbf3603c"/>
          <p:cNvSpPr/>
          <p:nvPr/>
        </p:nvSpPr>
        <p:spPr>
          <a:xfrm>
            <a:off x="285750" y="31410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D68C45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Pegada Digital</a:t>
            </a:r>
            <a:endParaRPr lang="en-US" sz="1404" dirty="0"/>
          </a:p>
        </p:txBody>
      </p:sp>
      <p:sp>
        <p:nvSpPr>
          <p:cNvPr id="7" name="5965e84e-3032-403f-ae52-d8adfea5280a"/>
          <p:cNvSpPr/>
          <p:nvPr/>
        </p:nvSpPr>
        <p:spPr>
          <a:xfrm>
            <a:off x="285750" y="4055439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4579A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232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40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Creative Commons</a:t>
            </a:r>
            <a:endParaRPr lang="en-US" sz="1404" dirty="0"/>
          </a:p>
        </p:txBody>
      </p:sp>
      <p:sp>
        <p:nvSpPr>
          <p:cNvPr id="8" name="de6ab5be-ac76-4176-bded-698af550f511"/>
          <p:cNvSpPr/>
          <p:nvPr/>
        </p:nvSpPr>
        <p:spPr>
          <a:xfrm>
            <a:off x="3829050" y="13124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Licenças que permitem uso e compartilhamento de obras mediante citação de autoria.</a:t>
            </a:r>
            <a:endParaRPr lang="en-US" sz="1264" dirty="0"/>
          </a:p>
        </p:txBody>
      </p:sp>
      <p:sp>
        <p:nvSpPr>
          <p:cNvPr id="9" name="58187206-f7c7-4d69-ab2f-cc39d31d414c"/>
          <p:cNvSpPr/>
          <p:nvPr/>
        </p:nvSpPr>
        <p:spPr>
          <a:xfrm>
            <a:off x="3829050" y="22268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Rastro de informações deixado na internet por meio de atividades ativas ou passivas.</a:t>
            </a:r>
            <a:endParaRPr lang="en-US" sz="1264" dirty="0"/>
          </a:p>
        </p:txBody>
      </p:sp>
      <p:sp>
        <p:nvSpPr>
          <p:cNvPr id="10" name="e38ec9f4-8da0-47d0-a3ce-f7d9de9ad970"/>
          <p:cNvSpPr/>
          <p:nvPr/>
        </p:nvSpPr>
        <p:spPr>
          <a:xfrm>
            <a:off x="3829050" y="31412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Filtro de segurança que monitora o tráfego de dados entre a rede e seu computador.</a:t>
            </a:r>
            <a:endParaRPr lang="en-US" sz="1264" dirty="0"/>
          </a:p>
        </p:txBody>
      </p:sp>
      <p:sp>
        <p:nvSpPr>
          <p:cNvPr id="11" name="19d20b88-6df8-4ec7-90db-425af79723c3"/>
          <p:cNvSpPr/>
          <p:nvPr/>
        </p:nvSpPr>
        <p:spPr>
          <a:xfrm>
            <a:off x="3829050" y="4055687"/>
            <a:ext cx="5143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Conjunto de regras de convivência ética e respeitosa em ambientes virtuais.</a:t>
            </a:r>
            <a:endParaRPr lang="en-US" sz="1264" dirty="0"/>
          </a:p>
        </p:txBody>
      </p:sp>
      <p:sp>
        <p:nvSpPr>
          <p:cNvPr id="12" name="e3fadbfe-ed7d-40c4-ad30-2ebf93b541e5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connector-0a08cc4d-032a-410e-bb35-31b308e98515-0"/>
          <p:cNvSpPr/>
          <p:nvPr/>
        </p:nvSpPr>
        <p:spPr>
          <a:xfrm>
            <a:off x="2571750" y="1623060"/>
            <a:ext cx="994410" cy="2781554"/>
          </a:xfrm>
          <a:prstGeom prst="line">
            <a:avLst/>
          </a:prstGeom>
          <a:noFill/>
          <a:ln w="28575">
            <a:solidFill>
              <a:srgbClr val="409E9E"/>
            </a:solidFill>
            <a:prstDash val="solid"/>
          </a:ln>
        </p:spPr>
      </p:sp>
      <p:sp>
        <p:nvSpPr>
          <p:cNvPr id="14" name="connector-0a08cc4d-032a-410e-bb35-31b308e98515-1"/>
          <p:cNvSpPr/>
          <p:nvPr/>
        </p:nvSpPr>
        <p:spPr>
          <a:xfrm>
            <a:off x="2571750" y="2537460"/>
            <a:ext cx="994410" cy="952754"/>
          </a:xfrm>
          <a:prstGeom prst="line">
            <a:avLst/>
          </a:prstGeom>
          <a:noFill/>
          <a:ln w="28575">
            <a:solidFill>
              <a:srgbClr val="D90368"/>
            </a:solidFill>
            <a:prstDash val="solid"/>
          </a:ln>
        </p:spPr>
      </p:sp>
      <p:sp>
        <p:nvSpPr>
          <p:cNvPr id="15" name="connector-0a08cc4d-032a-410e-bb35-31b308e98515-2"/>
          <p:cNvSpPr/>
          <p:nvPr/>
        </p:nvSpPr>
        <p:spPr>
          <a:xfrm flipV="1">
            <a:off x="2571750" y="2575814"/>
            <a:ext cx="994410" cy="876046"/>
          </a:xfrm>
          <a:prstGeom prst="line">
            <a:avLst/>
          </a:prstGeom>
          <a:noFill/>
          <a:ln w="28575">
            <a:solidFill>
              <a:srgbClr val="D68C45"/>
            </a:solidFill>
            <a:prstDash val="solid"/>
          </a:ln>
        </p:spPr>
      </p:sp>
      <p:sp>
        <p:nvSpPr>
          <p:cNvPr id="16" name="connector-0a08cc4d-032a-410e-bb35-31b308e98515-3"/>
          <p:cNvSpPr/>
          <p:nvPr/>
        </p:nvSpPr>
        <p:spPr>
          <a:xfrm flipV="1">
            <a:off x="2571750" y="1661414"/>
            <a:ext cx="994410" cy="2704846"/>
          </a:xfrm>
          <a:prstGeom prst="line">
            <a:avLst/>
          </a:prstGeom>
          <a:noFill/>
          <a:ln w="28575">
            <a:solidFill>
              <a:srgbClr val="4579A9"/>
            </a:solidFill>
            <a:prstDash val="solid"/>
          </a:ln>
        </p:spPr>
      </p:sp>
      <p:sp>
        <p:nvSpPr>
          <p:cNvPr id="17" name="c1a0401c-feb5-4dc2-92c2-feeb512f8ea2"/>
          <p:cNvSpPr/>
          <p:nvPr/>
        </p:nvSpPr>
        <p:spPr>
          <a:xfrm>
            <a:off x="3394710" y="42317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</a:t>
            </a:r>
            <a:endParaRPr lang="en-US" sz="913" dirty="0"/>
          </a:p>
        </p:txBody>
      </p:sp>
      <p:sp>
        <p:nvSpPr>
          <p:cNvPr id="18" name="1eba9dea-de15-40da-a887-63ab1c044076"/>
          <p:cNvSpPr/>
          <p:nvPr/>
        </p:nvSpPr>
        <p:spPr>
          <a:xfrm>
            <a:off x="3394710" y="33173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</a:t>
            </a:r>
            <a:endParaRPr lang="en-US" sz="913" dirty="0"/>
          </a:p>
        </p:txBody>
      </p:sp>
      <p:sp>
        <p:nvSpPr>
          <p:cNvPr id="19" name="b9f24c17-9c4b-4ff8-b324-16cb49053365"/>
          <p:cNvSpPr/>
          <p:nvPr/>
        </p:nvSpPr>
        <p:spPr>
          <a:xfrm>
            <a:off x="3394710" y="24029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</a:t>
            </a:r>
            <a:endParaRPr lang="en-US" sz="913" dirty="0"/>
          </a:p>
        </p:txBody>
      </p:sp>
      <p:sp>
        <p:nvSpPr>
          <p:cNvPr id="20" name="a03313d8-5ee9-4828-b1be-6df5c2b1807d"/>
          <p:cNvSpPr/>
          <p:nvPr/>
        </p:nvSpPr>
        <p:spPr>
          <a:xfrm>
            <a:off x="3394710" y="1488554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</a:t>
            </a:r>
            <a:endParaRPr lang="en-US" sz="91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x9jbCWed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Evolução da Legislação Digital</a:t>
            </a:r>
            <a:endParaRPr lang="en-US" sz="2246" dirty="0"/>
          </a:p>
        </p:txBody>
      </p:sp>
      <p:sp>
        <p:nvSpPr>
          <p:cNvPr id="3" name="PpwJW8Xy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7EB5A6"/>
          </a:solidFill>
          <a:ln/>
        </p:spPr>
      </p:sp>
      <p:sp>
        <p:nvSpPr>
          <p:cNvPr id="4" name="CzfycJYM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NK9JmkPD"/>
          <p:cNvSpPr/>
          <p:nvPr/>
        </p:nvSpPr>
        <p:spPr>
          <a:xfrm>
            <a:off x="685800" y="315913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2012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Lei Carolina Dieckmann tipifica crimes cibernéticos.</a:t>
            </a:r>
            <a:endParaRPr lang="en-US" sz="1264" dirty="0"/>
          </a:p>
        </p:txBody>
      </p:sp>
      <p:sp>
        <p:nvSpPr>
          <p:cNvPr id="6" name="C7K9VU9y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7" name="T0j1bBXZ"/>
          <p:cNvSpPr/>
          <p:nvPr/>
        </p:nvSpPr>
        <p:spPr>
          <a:xfrm>
            <a:off x="3429000" y="129604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2014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Marco Civil da Internet fixa direitos e princípios na rede.</a:t>
            </a:r>
            <a:endParaRPr lang="en-US" sz="1264" dirty="0"/>
          </a:p>
        </p:txBody>
      </p:sp>
      <p:sp>
        <p:nvSpPr>
          <p:cNvPr id="8" name="jSSRyzpk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1A1F3D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9" name="gV2Ci1RT"/>
          <p:cNvSpPr/>
          <p:nvPr/>
        </p:nvSpPr>
        <p:spPr>
          <a:xfrm>
            <a:off x="6172200" y="3159130"/>
            <a:ext cx="2286000" cy="1428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2018 / 2020</a:t>
            </a:r>
            <a:endParaRPr lang="en-US" sz="1264" dirty="0"/>
          </a:p>
          <a:p>
            <a:pPr algn="ctr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LGPD entra em vigor para proteger dados pessoais.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YH0O8ap"/>
          <p:cNvSpPr/>
          <p:nvPr/>
        </p:nvSpPr>
        <p:spPr>
          <a:xfrm>
            <a:off x="274320" y="186618"/>
            <a:ext cx="8595360" cy="6515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Guia Prático: Seu Checklist Seguro</a:t>
            </a:r>
            <a:endParaRPr lang="en-US" sz="2246" dirty="0"/>
          </a:p>
        </p:txBody>
      </p:sp>
      <p:sp>
        <p:nvSpPr>
          <p:cNvPr id="3" name="YtLFnFwK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vuLc989f"/>
          <p:cNvSpPr/>
          <p:nvPr/>
        </p:nvSpPr>
        <p:spPr>
          <a:xfrm>
            <a:off x="468630" y="158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5" name="jpmLP3Uu"/>
          <p:cNvSpPr/>
          <p:nvPr/>
        </p:nvSpPr>
        <p:spPr>
          <a:xfrm>
            <a:off x="1108710" y="138748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Senhas Únicas: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Use frases longas com números e símbolos, ativando 2FA em todos os serviços essenciais.</a:t>
            </a:r>
            <a:endParaRPr lang="en-US" sz="1264" dirty="0"/>
          </a:p>
        </p:txBody>
      </p:sp>
      <p:sp>
        <p:nvSpPr>
          <p:cNvPr id="6" name="kpGIRMBr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qTmujbR8"/>
          <p:cNvSpPr/>
          <p:nvPr/>
        </p:nvSpPr>
        <p:spPr>
          <a:xfrm>
            <a:off x="468630" y="274307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8" name="WhLKtj88"/>
          <p:cNvSpPr/>
          <p:nvPr/>
        </p:nvSpPr>
        <p:spPr>
          <a:xfrm>
            <a:off x="1108710" y="254191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Pensamento Crítico: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Cheque em agências de checagem qualquer notícia duvidosa antes de compartilhar.</a:t>
            </a:r>
            <a:endParaRPr lang="en-US" sz="1264" dirty="0"/>
          </a:p>
        </p:txBody>
      </p:sp>
      <p:sp>
        <p:nvSpPr>
          <p:cNvPr id="9" name="bPz7cGNS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name="adj" fmla="val 14118"/>
            </a:avLst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10" name="l5k79d4B"/>
          <p:cNvSpPr/>
          <p:nvPr/>
        </p:nvSpPr>
        <p:spPr>
          <a:xfrm>
            <a:off x="468630" y="38975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EB5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20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1" name="EGeebsni"/>
          <p:cNvSpPr/>
          <p:nvPr/>
        </p:nvSpPr>
        <p:spPr>
          <a:xfrm>
            <a:off x="1108710" y="3696340"/>
            <a:ext cx="7566660" cy="7658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Respeito e Ação: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Pratique netiqueta em debates e denuncie práticas de cyberbullying imediatamente à SaferNet ou Disque 100.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6da7abb-1d7d-436d-9de3-36b6c7f4726d" descr="/home/forge/chalkie-production-workers-3/releases/78875040/backend/storage/app/render-specs/ee3821df-fac1-4bd4-8248-7453e936f51f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pic>
        <p:nvPicPr>
          <p:cNvPr id="3" name="cbafe3e2-91f0-4122-a667-cf65f063cf5b" descr="/home/forge/chalkie-production-workers-3/releases/78875040/backend/storage/app/render-specs/ee3821df-fac1-4bd4-8248-7453e936f51f/img_e99f9688ecc3153665db319449b480c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ect">
            <a:avLst/>
          </a:prstGeom>
        </p:spPr>
      </p:pic>
      <p:sp>
        <p:nvSpPr>
          <p:cNvPr id="4" name="c3b43e37-035e-41d2-802e-a42051838964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Turma: Ética e Ação</a:t>
            </a:r>
            <a:endParaRPr lang="en-US" sz="2246" dirty="0"/>
          </a:p>
        </p:txBody>
      </p:sp>
      <p:sp>
        <p:nvSpPr>
          <p:cNvPr id="5" name="96e8edf3-00f6-4b06-a35c-60ce11e745f1"/>
          <p:cNvSpPr/>
          <p:nvPr/>
        </p:nvSpPr>
        <p:spPr>
          <a:xfrm>
            <a:off x="4297680" y="1826837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que um colega postou em um grupo de turma uma foto editada para zombar de outro aluno. O que você faria de acordo com a cidadania digital e a netiqueta?</a:t>
            </a:r>
            <a:endParaRPr lang="en-US" sz="126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6da7abb-1d7d-436d-9de3-36b6c7f4726d" descr="/home/forge/chalkie-production-workers-3/releases/78875040/backend/storage/app/render-specs/ee3821df-fac1-4bd4-8248-7453e936f51f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ect">
            <a:avLst/>
          </a:prstGeom>
        </p:spPr>
      </p:pic>
      <p:sp>
        <p:nvSpPr>
          <p:cNvPr id="3" name="c3b43e37-035e-41d2-802e-a42051838964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 em Turma: Ética e Ação</a:t>
            </a:r>
            <a:endParaRPr lang="en-US" sz="2246" dirty="0"/>
          </a:p>
        </p:txBody>
      </p:sp>
      <p:sp>
        <p:nvSpPr>
          <p:cNvPr id="4" name="15b0266b-4e34-4247-ae83-a3d5f3d7f4ad"/>
          <p:cNvSpPr/>
          <p:nvPr/>
        </p:nvSpPr>
        <p:spPr>
          <a:xfrm>
            <a:off x="982980" y="1655387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Não compartilhar ou curtir posts ofensivos para evitar viralização.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Acolher a vítima e incentivar a tirar prints como evidência.</a:t>
            </a:r>
            <a:endParaRPr lang="en-US" sz="1264" dirty="0"/>
          </a:p>
          <a:p>
            <a:pPr algn="ctr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Alertar o agressor sobre consequências ou avisar um responsável.</a:t>
            </a:r>
            <a:endParaRPr lang="en-US" sz="1264" dirty="0"/>
          </a:p>
        </p:txBody>
      </p:sp>
      <p:sp>
        <p:nvSpPr>
          <p:cNvPr id="5" name="6af729ff-832e-4edb-88ea-ad96cd91e8e8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f7e778e-f3bc-407b-805e-161838b1ead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a89124a3-79fd-4920-aed9-8c47c2f30db9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Diante de um caso comprovado de cyberbullying ou vazamento de fotos, qual é a atitude correta e imediata?</a:t>
            </a:r>
            <a:endParaRPr lang="en-US" sz="1264" dirty="0"/>
          </a:p>
        </p:txBody>
      </p:sp>
      <p:sp>
        <p:nvSpPr>
          <p:cNvPr id="4" name="e36d4622-27ac-4e61-8f6c-9ad8772869f7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e116e10b-d18f-4ca9-b7e1-b3eb838359fc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Registrar capturas de tela (prints) com datas e links, denunciar nos canais oficiais e avisar responsáveis</a:t>
            </a:r>
            <a:endParaRPr lang="en-US" sz="1264" dirty="0"/>
          </a:p>
        </p:txBody>
      </p:sp>
      <p:sp>
        <p:nvSpPr>
          <p:cNvPr id="6" name="e9bc61b0-27cb-41f2-8e8c-25cc47fff817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44afd3d6-7448-4ddb-b55c-2beab04fb67f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um perfil falso para xingar e revidar o agressor com as mesmas ofensas recebidas</a:t>
            </a:r>
            <a:endParaRPr lang="en-US" sz="1264" dirty="0"/>
          </a:p>
        </p:txBody>
      </p:sp>
      <p:sp>
        <p:nvSpPr>
          <p:cNvPr id="8" name="b575aa3b-be9a-4067-94ab-a62cf3a3b0f3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2d583b3-cd33-446e-9cae-24b4c1c3b900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Compartilhar a ofensa em outros grupos públicos para pedir a opinião de outras pessoas</a:t>
            </a:r>
            <a:endParaRPr lang="en-US" sz="1264" dirty="0"/>
          </a:p>
        </p:txBody>
      </p:sp>
      <p:sp>
        <p:nvSpPr>
          <p:cNvPr id="10" name="59409062-e051-4eb6-9fc5-6cb270b677b3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9c56762-227a-4296-8616-4b481702c49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Apagar todas as mensagens imediatamente para que ninguém na escola ou na família fique sabendo</a:t>
            </a:r>
            <a:endParaRPr lang="en-US" sz="126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f7e778e-f3bc-407b-805e-161838b1ead6"/>
          <p:cNvSpPr/>
          <p:nvPr/>
        </p:nvSpPr>
        <p:spPr>
          <a:xfrm>
            <a:off x="285750" y="167885"/>
            <a:ext cx="8572500" cy="65951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Check Your Understanding</a:t>
            </a:r>
            <a:endParaRPr lang="en-US" sz="2246" dirty="0"/>
          </a:p>
        </p:txBody>
      </p:sp>
      <p:sp>
        <p:nvSpPr>
          <p:cNvPr id="3" name="a89124a3-79fd-4920-aed9-8c47c2f30db9"/>
          <p:cNvSpPr/>
          <p:nvPr/>
        </p:nvSpPr>
        <p:spPr>
          <a:xfrm>
            <a:off x="285750" y="683837"/>
            <a:ext cx="8572500" cy="69380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Diante de um caso comprovado de cyberbullying ou vazamento de fotos, qual é a atitude correta e imediata?</a:t>
            </a:r>
            <a:endParaRPr lang="en-US" sz="1264" dirty="0"/>
          </a:p>
        </p:txBody>
      </p:sp>
      <p:sp>
        <p:nvSpPr>
          <p:cNvPr id="4" name="e36d4622-27ac-4e61-8f6c-9ad8772869f7"/>
          <p:cNvSpPr/>
          <p:nvPr/>
        </p:nvSpPr>
        <p:spPr>
          <a:xfrm>
            <a:off x="285750" y="16542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e116e10b-d18f-4ca9-b7e1-b3eb838359fc"/>
          <p:cNvSpPr/>
          <p:nvPr/>
        </p:nvSpPr>
        <p:spPr>
          <a:xfrm>
            <a:off x="857250" y="16553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Registrar capturas de tela (prints) com datas e links, denunciar nos canais oficiais e avisar responsáveis</a:t>
            </a:r>
            <a:endParaRPr lang="en-US" sz="1264" dirty="0"/>
          </a:p>
        </p:txBody>
      </p:sp>
      <p:sp>
        <p:nvSpPr>
          <p:cNvPr id="6" name="e9bc61b0-27cb-41f2-8e8c-25cc47fff817"/>
          <p:cNvSpPr/>
          <p:nvPr/>
        </p:nvSpPr>
        <p:spPr>
          <a:xfrm>
            <a:off x="285750" y="25115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44afd3d6-7448-4ddb-b55c-2beab04fb67f"/>
          <p:cNvSpPr/>
          <p:nvPr/>
        </p:nvSpPr>
        <p:spPr>
          <a:xfrm>
            <a:off x="857250" y="25126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um perfil falso para xingar e revidar o agressor com as mesmas ofensas recebidas</a:t>
            </a:r>
            <a:endParaRPr lang="en-US" sz="1264" dirty="0"/>
          </a:p>
        </p:txBody>
      </p:sp>
      <p:sp>
        <p:nvSpPr>
          <p:cNvPr id="8" name="b575aa3b-be9a-4067-94ab-a62cf3a3b0f3"/>
          <p:cNvSpPr/>
          <p:nvPr/>
        </p:nvSpPr>
        <p:spPr>
          <a:xfrm>
            <a:off x="285750" y="336878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2d583b3-cd33-446e-9cae-24b4c1c3b900"/>
          <p:cNvSpPr/>
          <p:nvPr/>
        </p:nvSpPr>
        <p:spPr>
          <a:xfrm>
            <a:off x="857250" y="336988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Compartilhar a ofensa em outros grupos públicos para pedir a opinião de outras pessoas</a:t>
            </a:r>
            <a:endParaRPr lang="en-US" sz="1264" dirty="0"/>
          </a:p>
        </p:txBody>
      </p:sp>
      <p:sp>
        <p:nvSpPr>
          <p:cNvPr id="10" name="59409062-e051-4eb6-9fc5-6cb270b677b3"/>
          <p:cNvSpPr/>
          <p:nvPr/>
        </p:nvSpPr>
        <p:spPr>
          <a:xfrm>
            <a:off x="285750" y="4226031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89c56762-227a-4296-8616-4b481702c499"/>
          <p:cNvSpPr/>
          <p:nvPr/>
        </p:nvSpPr>
        <p:spPr>
          <a:xfrm>
            <a:off x="857250" y="4227137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Apagar todas as mensagens imediatamente para que ninguém na escola ou na família fique sabendo</a:t>
            </a:r>
            <a:endParaRPr lang="en-US" sz="1264" dirty="0"/>
          </a:p>
        </p:txBody>
      </p:sp>
      <p:sp>
        <p:nvSpPr>
          <p:cNvPr id="12" name="c249de76-19bc-4415-b83f-92fe8edcef19"/>
          <p:cNvSpPr/>
          <p:nvPr/>
        </p:nvSpPr>
        <p:spPr>
          <a:xfrm>
            <a:off x="8366760" y="338478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626eb3d8-96ff-448f-897c-4376b55f14df"/>
          <p:cNvSpPr/>
          <p:nvPr/>
        </p:nvSpPr>
        <p:spPr>
          <a:xfrm>
            <a:off x="8721090" y="151878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GEy8Hao"/>
          <p:cNvSpPr/>
          <p:nvPr/>
        </p:nvSpPr>
        <p:spPr>
          <a:xfrm>
            <a:off x="274320" y="186618"/>
            <a:ext cx="27432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Nossos Próximos Passos</a:t>
            </a:r>
            <a:endParaRPr lang="en-US" sz="2246" dirty="0"/>
          </a:p>
        </p:txBody>
      </p:sp>
      <p:sp>
        <p:nvSpPr>
          <p:cNvPr id="3" name="4KMTuGio"/>
          <p:cNvSpPr/>
          <p:nvPr/>
        </p:nvSpPr>
        <p:spPr>
          <a:xfrm>
            <a:off x="274320" y="1804126"/>
            <a:ext cx="2743200" cy="42291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dirty="0">
                <a:solidFill>
                  <a:srgbClr val="A6A5A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Rumo à Aula 3</a:t>
            </a:r>
            <a:endParaRPr lang="en-US" sz="1123" dirty="0"/>
          </a:p>
        </p:txBody>
      </p:sp>
      <p:pic>
        <p:nvPicPr>
          <p:cNvPr id="4" name="medcon1" descr="/home/forge/chalkie-production-workers-3/releases/78875040/backend/storage/app/render-specs/ee3821df-fac1-4bd4-8248-7453e936f51f/img_d1a4f8d09a6bdfa53610e5e817d94d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20290"/>
            <a:ext cx="2286000" cy="1828800"/>
          </a:xfrm>
          <a:prstGeom prst="rect">
            <a:avLst/>
          </a:prstGeom>
        </p:spPr>
      </p:pic>
      <p:sp>
        <p:nvSpPr>
          <p:cNvPr id="5" name="2E2B5tew"/>
          <p:cNvSpPr/>
          <p:nvPr/>
        </p:nvSpPr>
        <p:spPr>
          <a:xfrm>
            <a:off x="3291840" y="1318900"/>
            <a:ext cx="5577840" cy="23888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você aprendeu a proteger sua identidade, combater a desinformação e agir com respeito e responsabilidade na internet.</a:t>
            </a:r>
            <a:endParaRPr lang="en-US" sz="1264" dirty="0"/>
          </a:p>
          <a:p>
            <a:pPr algn="l" indent="0" marL="0">
              <a:lnSpc>
                <a:spcPts val="2268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</a:t>
            </a: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3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daremos um salto em produtividade prática: dominaremos técnicas de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digitação ágil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atalhos de teclado essenciais e a estruturação de documentos profissionais em </a:t>
            </a:r>
            <a:r>
              <a:rPr lang="en-US" sz="1264" i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editores de texto</a:t>
            </a: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!</a:t>
            </a:r>
            <a:endParaRPr lang="en-US" sz="126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Cidadania Digital e Segurança Online</dc:title>
  <dc:subject>PptxGenJS Presentation</dc:subject>
  <dc:creator>PptxGenJS</dc:creator>
  <cp:lastModifiedBy>PptxGenJS</cp:lastModifiedBy>
  <cp:revision>1</cp:revision>
  <dcterms:created xsi:type="dcterms:W3CDTF">2026-09-29T11:08:14Z</dcterms:created>
  <dcterms:modified xsi:type="dcterms:W3CDTF">2026-09-29T11:08:14Z</dcterms:modified>
</cp:coreProperties>
</file>