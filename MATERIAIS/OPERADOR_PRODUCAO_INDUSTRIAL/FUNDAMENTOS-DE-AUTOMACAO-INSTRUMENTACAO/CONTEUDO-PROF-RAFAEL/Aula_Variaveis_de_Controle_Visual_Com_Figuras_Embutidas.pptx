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8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53" y="0"/>
            <a:ext cx="12191695" cy="6858000"/>
          </a:xfrm>
          <a:prstGeom prst="rect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12317" y="4065422"/>
            <a:ext cx="63831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C2D"/>
                </a:solidFill>
                <a:latin typeface="Aptos"/>
              </a:defRPr>
            </a:pPr>
            <a:r>
              <a:rPr dirty="0"/>
              <a:t>USIA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5577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rPr dirty="0"/>
              <a:t>VARIÁVEIS DE CONTROLE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14600"/>
            <a:ext cx="5394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D7E7F0"/>
                </a:solidFill>
                <a:latin typeface="Aptos"/>
              </a:defRPr>
            </a:pPr>
            <a:r>
              <a:t>Pressão • Vazão</a:t>
            </a:r>
            <a:br/>
            <a:r>
              <a:t>Temperatura • Nível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11480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ED1DD"/>
                </a:solidFill>
                <a:latin typeface="Aptos"/>
              </a:defRPr>
            </a:pPr>
            <a:r>
              <a:t>Aula visual de Instrumentação Industrial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852160"/>
            <a:ext cx="51443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EA5E9"/>
                </a:solidFill>
                <a:latin typeface="Aptos"/>
              </a:defRPr>
            </a:pPr>
            <a:r>
              <a:rPr dirty="0"/>
              <a:t>CURSO TÉCNICO • AUTOMAÇÃO / ELETROTÉCNICA</a:t>
            </a:r>
            <a:r>
              <a:rPr lang="pt-BR" dirty="0"/>
              <a:t>/APRENDIZAGEM EM AUTOMAÇÃO</a:t>
            </a:r>
            <a:endParaRPr dirty="0"/>
          </a:p>
        </p:txBody>
      </p:sp>
      <p:sp>
        <p:nvSpPr>
          <p:cNvPr id="14" name="AutoShape 2" descr="Como funcionam as usinas hidrelétricas: a força da água que movimenta o Brasil - ABRAGE">
            <a:extLst>
              <a:ext uri="{FF2B5EF4-FFF2-40B4-BE49-F238E27FC236}">
                <a16:creationId xmlns:a16="http://schemas.microsoft.com/office/drawing/2014/main" id="{CCB8EFA7-A3D2-418E-709B-89E2A5B50B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28" name="Picture 4" descr="Como funcionam as usinas hidrelétricas: a força da água que movimenta o  Brasil - ABRAGE">
            <a:extLst>
              <a:ext uri="{FF2B5EF4-FFF2-40B4-BE49-F238E27FC236}">
                <a16:creationId xmlns:a16="http://schemas.microsoft.com/office/drawing/2014/main" id="{685023BB-CF87-3F5F-96CD-88B2EE050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330" y="1675717"/>
            <a:ext cx="4649914" cy="43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nício | SENAI-RS">
            <a:extLst>
              <a:ext uri="{FF2B5EF4-FFF2-40B4-BE49-F238E27FC236}">
                <a16:creationId xmlns:a16="http://schemas.microsoft.com/office/drawing/2014/main" id="{75925396-C970-45B5-6163-9FF6712C8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97064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5843239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O que vamos aprender?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42661" y="4617718"/>
            <a:ext cx="45719" cy="198121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64008" cy="2971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PRESSÃO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3" y="2402528"/>
            <a:ext cx="25145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Força</a:t>
            </a:r>
            <a:r>
              <a:rPr dirty="0"/>
              <a:t> </a:t>
            </a:r>
            <a:r>
              <a:rPr dirty="0" err="1"/>
              <a:t>exercida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um </a:t>
            </a:r>
            <a:r>
              <a:rPr dirty="0" err="1"/>
              <a:t>fluido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737360"/>
            <a:ext cx="2560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39" y="1737360"/>
            <a:ext cx="64008" cy="2971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0752" y="1874519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VAZÃO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377439"/>
            <a:ext cx="21945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Fluxo</a:t>
            </a:r>
            <a:r>
              <a:rPr dirty="0"/>
              <a:t> de </a:t>
            </a:r>
            <a:r>
              <a:rPr dirty="0" err="1"/>
              <a:t>líquidos</a:t>
            </a:r>
            <a:r>
              <a:rPr dirty="0"/>
              <a:t> e gases.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2560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64008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1874519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TEMPERATURA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2804" y="2377439"/>
            <a:ext cx="21945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Estado térmico do processo.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1737360"/>
            <a:ext cx="2560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59" y="1737360"/>
            <a:ext cx="64008" cy="2971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91472" y="1874519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NÍVEL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39" y="2331720"/>
            <a:ext cx="21945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Quantidade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tanque</a:t>
            </a:r>
            <a:r>
              <a:rPr dirty="0"/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1C2D"/>
                </a:solidFill>
                <a:latin typeface="Aptos"/>
              </a:defRPr>
            </a:pPr>
            <a:r>
              <a:t>Depois: sensor → transmissor → CLP → atuador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2050" name="Picture 2" descr="Sensor de Pressão 4-20mA G1/4 0 a 1MPa para Gás e Líquidos - QDW90A-JL -  Usinainfo">
            <a:extLst>
              <a:ext uri="{FF2B5EF4-FFF2-40B4-BE49-F238E27FC236}">
                <a16:creationId xmlns:a16="http://schemas.microsoft.com/office/drawing/2014/main" id="{74DCA714-D0A5-77C6-965D-BE03D6A5B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714" y="3223260"/>
            <a:ext cx="1218157" cy="91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edidor de Vazão Eletromagnético FMG480 com Display Integrado, Pulso e  4-20mA">
            <a:extLst>
              <a:ext uri="{FF2B5EF4-FFF2-40B4-BE49-F238E27FC236}">
                <a16:creationId xmlns:a16="http://schemas.microsoft.com/office/drawing/2014/main" id="{05A037F9-D059-5AA2-6863-3F8A5A897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106" y="3026664"/>
            <a:ext cx="1258062" cy="125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ensor de Temperatura Termopar J 6x200mm com Rosca 1/2 BSP e Saída a  Cabeçote - Cetti Materiais Elétricos">
            <a:extLst>
              <a:ext uri="{FF2B5EF4-FFF2-40B4-BE49-F238E27FC236}">
                <a16:creationId xmlns:a16="http://schemas.microsoft.com/office/drawing/2014/main" id="{02D5C89D-AD52-0B79-D54A-18B0CD8BA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888" y="2940558"/>
            <a:ext cx="1344168" cy="134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ENSOR DE NIVEL ELETROMECANICAS COM HASTE AJUSTÁVEL 231-390MM - KR Soluções  e Materiais Elétricos">
            <a:extLst>
              <a:ext uri="{FF2B5EF4-FFF2-40B4-BE49-F238E27FC236}">
                <a16:creationId xmlns:a16="http://schemas.microsoft.com/office/drawing/2014/main" id="{4366891B-3FC8-38E4-06E4-C2D06B28A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724056" y="2788918"/>
            <a:ext cx="1820801" cy="1820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Início | SENAI-RS">
            <a:extLst>
              <a:ext uri="{FF2B5EF4-FFF2-40B4-BE49-F238E27FC236}">
                <a16:creationId xmlns:a16="http://schemas.microsoft.com/office/drawing/2014/main" id="{9156187A-C204-02DD-7C33-2DEFF23DD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O que é uma variável de processo?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É uma grandeza que podemos medir e acompanhar.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40967" y="1920240"/>
            <a:ext cx="164592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6687" y="207568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PROCESSO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50895" y="220370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06927" y="1920240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2647" y="207568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16855" y="220370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72887" y="1920240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18607" y="207568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SINAL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82815" y="220370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38847" y="1920240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84567" y="207568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CLP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48775" y="220370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204807" y="1920240"/>
            <a:ext cx="164592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50527" y="2075688"/>
            <a:ext cx="1554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ATUADOR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84048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3840480"/>
            <a:ext cx="64008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397764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EXEMPLO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80" y="44805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Temperatura</a:t>
            </a:r>
            <a:r>
              <a:rPr dirty="0"/>
              <a:t> de um </a:t>
            </a:r>
            <a:r>
              <a:rPr dirty="0" err="1"/>
              <a:t>forno</a:t>
            </a:r>
            <a:r>
              <a:rPr dirty="0"/>
              <a:t> = 180 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84048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384048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82312" y="397764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MEDIÇÃO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44805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O sensor percebe a grandeza.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84048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3840480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2" y="3977640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4480560"/>
            <a:ext cx="2651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O atuador altera o processo.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33" name="Picture 2" descr="Início | SENAI-RS">
            <a:extLst>
              <a:ext uri="{FF2B5EF4-FFF2-40B4-BE49-F238E27FC236}">
                <a16:creationId xmlns:a16="http://schemas.microsoft.com/office/drawing/2014/main" id="{24B226CF-AD98-AB78-B28A-BB3A10DF6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1. PRESSÃO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Quanto uma força está sendo exercida sobre uma área.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983480" y="17373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83480" y="173736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93792" y="1874519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P = F /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3792" y="2377439"/>
            <a:ext cx="2377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7303A"/>
                </a:solidFill>
                <a:latin typeface="Aptos"/>
              </a:defRPr>
            </a:pPr>
            <a:r>
              <a:t>Pressão = força ÷ área.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7373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1737360"/>
            <a:ext cx="64008" cy="1554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1312" y="1874519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UNIDADES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1312" y="2377439"/>
            <a:ext cx="23774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bar • psi • kPa • MPa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6576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7303A"/>
                </a:solidFill>
                <a:latin typeface="Aptos"/>
              </a:defRPr>
            </a:pPr>
            <a:r>
              <a:t>• Tubulações</a:t>
            </a:r>
          </a:p>
          <a:p>
            <a:pPr>
              <a:spcAft>
                <a:spcPts val="800"/>
              </a:spcAft>
              <a:defRPr sz="1800">
                <a:solidFill>
                  <a:srgbClr val="27303A"/>
                </a:solidFill>
                <a:latin typeface="Aptos"/>
              </a:defRPr>
            </a:pPr>
            <a:r>
              <a:t>• Bombas</a:t>
            </a:r>
          </a:p>
          <a:p>
            <a:pPr>
              <a:spcAft>
                <a:spcPts val="800"/>
              </a:spcAft>
              <a:defRPr sz="1800">
                <a:solidFill>
                  <a:srgbClr val="27303A"/>
                </a:solidFill>
                <a:latin typeface="Aptos"/>
              </a:defRPr>
            </a:pPr>
            <a:r>
              <a:t>• Compressores</a:t>
            </a:r>
          </a:p>
          <a:p>
            <a:pPr>
              <a:spcAft>
                <a:spcPts val="800"/>
              </a:spcAft>
              <a:defRPr sz="1800">
                <a:solidFill>
                  <a:srgbClr val="27303A"/>
                </a:solidFill>
                <a:latin typeface="Aptos"/>
              </a:defRPr>
            </a:pPr>
            <a:r>
              <a:t>• Caldeiras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3074" name="Picture 2" descr="Manômetro: O que é, como funciona e suas peças | Redeweb">
            <a:extLst>
              <a:ext uri="{FF2B5EF4-FFF2-40B4-BE49-F238E27FC236}">
                <a16:creationId xmlns:a16="http://schemas.microsoft.com/office/drawing/2014/main" id="{B9AABAF1-973F-2847-7B2E-08E2CDD04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572" y="2192464"/>
            <a:ext cx="26193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nício | SENAI-RS">
            <a:extLst>
              <a:ext uri="{FF2B5EF4-FFF2-40B4-BE49-F238E27FC236}">
                <a16:creationId xmlns:a16="http://schemas.microsoft.com/office/drawing/2014/main" id="{A59827F4-FD2E-3EF9-4B51-62810F5BC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23886" y="2816630"/>
            <a:ext cx="573023" cy="10378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Pressão | Instrumentos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920240"/>
            <a:ext cx="2468880" cy="24688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1208629" y="2351629"/>
            <a:ext cx="122203" cy="122203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931579" y="2803734"/>
            <a:ext cx="164363" cy="5340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89977" y="3305304"/>
            <a:ext cx="170694" cy="27036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92891" y="3720636"/>
            <a:ext cx="139816" cy="101582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496089" y="4012597"/>
            <a:ext cx="78460" cy="153985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11680" y="4117543"/>
            <a:ext cx="0" cy="172821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448810" y="4012597"/>
            <a:ext cx="78460" cy="153985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90652" y="3720636"/>
            <a:ext cx="139816" cy="101582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62688" y="3305304"/>
            <a:ext cx="170694" cy="27036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927417" y="2803734"/>
            <a:ext cx="164363" cy="53404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692527" y="2351629"/>
            <a:ext cx="122203" cy="122203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1680" y="3154680"/>
            <a:ext cx="545159" cy="638299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956816" y="3099816"/>
            <a:ext cx="109728" cy="109728"/>
          </a:xfrm>
          <a:prstGeom prst="ellipse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2738" y="2969514"/>
            <a:ext cx="13578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D1C2D"/>
                </a:solidFill>
                <a:latin typeface="Aptos"/>
              </a:defRPr>
            </a:pPr>
            <a:r>
              <a:t>bar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92808" y="4389120"/>
            <a:ext cx="237744" cy="457200"/>
          </a:xfrm>
          <a:prstGeom prst="rect">
            <a:avLst/>
          </a:prstGeom>
          <a:solidFill>
            <a:srgbClr val="94A3B8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452628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452628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466344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MANÔMETRO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51663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Leitura local.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2011680"/>
            <a:ext cx="1920240" cy="1463040"/>
          </a:xfrm>
          <a:prstGeom prst="roundRect">
            <a:avLst/>
          </a:prstGeom>
          <a:solidFill>
            <a:srgbClr val="94A3B8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86200" y="2423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PRESSOSTATO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28803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27303A"/>
                </a:solidFill>
                <a:latin typeface="Aptos"/>
              </a:defRPr>
            </a:pPr>
            <a:r>
              <a:t>abre/fecha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526280"/>
            <a:ext cx="2651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3280" y="4526280"/>
            <a:ext cx="64008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93592" y="466344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PRESSOSTATO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93592" y="5166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Comuta por limite.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1874519"/>
            <a:ext cx="2560320" cy="1737360"/>
          </a:xfrm>
          <a:prstGeom prst="roundRect">
            <a:avLst/>
          </a:prstGeom>
          <a:solidFill>
            <a:srgbClr val="2563EB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01121" y="2031589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TRANSMISSOR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0408" y="26060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dirty="0"/>
              <a:t>4–20 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526280"/>
            <a:ext cx="3108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040880" y="4526280"/>
            <a:ext cx="64008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51192" y="46634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TRANSMISSOR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1192" y="5166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Envia o sinal ao CLP.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3076" name="Picture 4" descr="Manômetro: O que é, como funciona e suas peças | Redeweb">
            <a:extLst>
              <a:ext uri="{FF2B5EF4-FFF2-40B4-BE49-F238E27FC236}">
                <a16:creationId xmlns:a16="http://schemas.microsoft.com/office/drawing/2014/main" id="{08D1C10B-9830-D39D-B8DD-C699C90F8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05" y="1828800"/>
            <a:ext cx="2619375" cy="2799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Transmissor PT100 de -50 a 200°C com Saída 4–20mA">
            <a:extLst>
              <a:ext uri="{FF2B5EF4-FFF2-40B4-BE49-F238E27FC236}">
                <a16:creationId xmlns:a16="http://schemas.microsoft.com/office/drawing/2014/main" id="{E1947517-FA28-5A59-085B-2168FB77B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208" y="2513935"/>
            <a:ext cx="999573" cy="754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AutoShape 18" descr="Pressostato Mecânico -rpm - 0~600 Kgf/cm² - Pp3576 - Rucken | Parcelamento sem juros">
            <a:extLst>
              <a:ext uri="{FF2B5EF4-FFF2-40B4-BE49-F238E27FC236}">
                <a16:creationId xmlns:a16="http://schemas.microsoft.com/office/drawing/2014/main" id="{59196617-6010-3F89-BCE3-86AB70D904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116" name="Picture 20">
            <a:extLst>
              <a:ext uri="{FF2B5EF4-FFF2-40B4-BE49-F238E27FC236}">
                <a16:creationId xmlns:a16="http://schemas.microsoft.com/office/drawing/2014/main" id="{E513039B-BDE6-7FC0-7525-987FA2BA1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106" y="1896999"/>
            <a:ext cx="3327636" cy="259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Início | SENAI-RS">
            <a:extLst>
              <a:ext uri="{FF2B5EF4-FFF2-40B4-BE49-F238E27FC236}">
                <a16:creationId xmlns:a16="http://schemas.microsoft.com/office/drawing/2014/main" id="{E5154E87-22A3-30A7-AFCC-5B54E0FF1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328123" cy="6537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2. VAZÃO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Quanto fluido passa por um ponto durante um tempo.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240280"/>
            <a:ext cx="3840480" cy="1143000"/>
          </a:xfrm>
          <a:prstGeom prst="roundRect">
            <a:avLst/>
          </a:prstGeom>
          <a:solidFill>
            <a:srgbClr val="356991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" y="2487168"/>
            <a:ext cx="502920" cy="640080"/>
          </a:xfrm>
          <a:prstGeom prst="ellipse">
            <a:avLst/>
          </a:prstGeom>
          <a:solidFill>
            <a:srgbClr val="94A3B8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709160" y="2487168"/>
            <a:ext cx="502920" cy="640080"/>
          </a:xfrm>
          <a:prstGeom prst="ellipse">
            <a:avLst/>
          </a:prstGeom>
          <a:solidFill>
            <a:srgbClr val="94A3B8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258568" y="1920240"/>
            <a:ext cx="1152144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58568" y="2011680"/>
            <a:ext cx="11521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1C2D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5176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→ → 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691640"/>
            <a:ext cx="26517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0" y="1691640"/>
            <a:ext cx="64008" cy="1508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96712" y="182880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Q = V /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2331720"/>
            <a:ext cx="228600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t>Vazão volumétrica.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69164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58200" y="1691640"/>
            <a:ext cx="64008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8512" y="1828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EXEMPLOS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331720"/>
            <a:ext cx="237744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L/min • m³/h • kg/h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611880"/>
            <a:ext cx="5715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0" y="3611880"/>
            <a:ext cx="64008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96712" y="3749040"/>
            <a:ext cx="5349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ONDE USAMOS?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96712" y="4251960"/>
            <a:ext cx="1667444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7303A"/>
                </a:solidFill>
                <a:latin typeface="Aptos"/>
              </a:defRPr>
            </a:pPr>
            <a:r>
              <a:rPr lang="pt-BR" dirty="0"/>
              <a:t>• </a:t>
            </a:r>
            <a:r>
              <a:rPr dirty="0" err="1"/>
              <a:t>Água</a:t>
            </a:r>
            <a:r>
              <a:rPr dirty="0"/>
              <a:t> </a:t>
            </a:r>
            <a:endParaRPr lang="pt-BR" dirty="0"/>
          </a:p>
          <a:p>
            <a:pPr algn="l">
              <a:defRPr sz="1600" b="0">
                <a:solidFill>
                  <a:srgbClr val="27303A"/>
                </a:solidFill>
                <a:latin typeface="Aptos"/>
              </a:defRPr>
            </a:pPr>
            <a:r>
              <a:rPr dirty="0"/>
              <a:t>• vapor </a:t>
            </a:r>
            <a:endParaRPr lang="pt-BR" dirty="0"/>
          </a:p>
          <a:p>
            <a:pPr algn="l">
              <a:defRPr sz="1600" b="0">
                <a:solidFill>
                  <a:srgbClr val="27303A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ar</a:t>
            </a:r>
            <a:r>
              <a:rPr dirty="0"/>
              <a:t> </a:t>
            </a:r>
            <a:r>
              <a:rPr dirty="0" err="1"/>
              <a:t>comprimido</a:t>
            </a:r>
            <a:r>
              <a:rPr dirty="0"/>
              <a:t> </a:t>
            </a:r>
            <a:endParaRPr lang="pt-BR" dirty="0"/>
          </a:p>
          <a:p>
            <a:pPr algn="l">
              <a:defRPr sz="1600" b="0">
                <a:solidFill>
                  <a:srgbClr val="27303A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combustível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5122" name="Picture 2" descr="Medidor de Vazão Ultrassônico - ALTOSONIC V12 - Conaut">
            <a:extLst>
              <a:ext uri="{FF2B5EF4-FFF2-40B4-BE49-F238E27FC236}">
                <a16:creationId xmlns:a16="http://schemas.microsoft.com/office/drawing/2014/main" id="{A918942D-EAEC-2963-E045-069AB2633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410489"/>
            <a:ext cx="3398522" cy="3398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Início | SENAI-RS">
            <a:extLst>
              <a:ext uri="{FF2B5EF4-FFF2-40B4-BE49-F238E27FC236}">
                <a16:creationId xmlns:a16="http://schemas.microsoft.com/office/drawing/2014/main" id="{D2E596DD-72D7-3133-D6C5-704E6EAB6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Vazão | Diferentes medidores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400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ELETROMAGNÉTICO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86000"/>
            <a:ext cx="4709159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Muito usado em água e fluidos condutivos.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64008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78308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ULTRASSÔNICO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86000"/>
            <a:ext cx="4709159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Usa ondas ultrassônicas.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862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64008" cy="1874519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402336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CORIOLIS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526280"/>
            <a:ext cx="4709159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Mede vazão mássica.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86200"/>
            <a:ext cx="50749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64008" cy="187451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402336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VORTEX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526280"/>
            <a:ext cx="4709159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Comum em vapor e gases.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22" name="Picture 2" descr="Início | SENAI-RS">
            <a:extLst>
              <a:ext uri="{FF2B5EF4-FFF2-40B4-BE49-F238E27FC236}">
                <a16:creationId xmlns:a16="http://schemas.microsoft.com/office/drawing/2014/main" id="{70146464-4488-D7D5-A7A0-A2EB00DCA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3. TEMPERATURA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Uma das variáveis mais presentes na indústria.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1005840" cy="653796"/>
          </a:xfrm>
          <a:prstGeom prst="roundRect">
            <a:avLst/>
          </a:prstGeom>
          <a:solidFill>
            <a:srgbClr val="94A3B8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6132" y="2116836"/>
            <a:ext cx="905256" cy="251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1C2D"/>
                </a:solidFill>
                <a:latin typeface="Aptos"/>
              </a:defRPr>
            </a:pPr>
            <a:r>
              <a:t>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965960"/>
            <a:ext cx="1005840" cy="653796"/>
          </a:xfrm>
          <a:prstGeom prst="roundRect">
            <a:avLst/>
          </a:prstGeom>
          <a:solidFill>
            <a:srgbClr val="94A3B8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3396" y="2178557"/>
            <a:ext cx="905256" cy="2514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1C2D"/>
                </a:solidFill>
                <a:latin typeface="Aptos"/>
              </a:defRPr>
            </a:pPr>
            <a:r>
              <a:rPr dirty="0"/>
              <a:t>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D1C2D"/>
                </a:solidFill>
                <a:latin typeface="Aptos"/>
              </a:defRPr>
            </a:pPr>
            <a:r>
              <a:rPr dirty="0"/>
              <a:t>TERMOPARES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7373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0" y="1737360"/>
            <a:ext cx="64008" cy="1554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TERMOPAR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377439"/>
            <a:ext cx="250998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usado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endParaRPr lang="pt-BR" dirty="0"/>
          </a:p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fornos</a:t>
            </a:r>
            <a:r>
              <a:rPr dirty="0"/>
              <a:t> e </a:t>
            </a:r>
            <a:r>
              <a:rPr dirty="0" err="1"/>
              <a:t>altas</a:t>
            </a:r>
            <a:r>
              <a:rPr dirty="0"/>
              <a:t> </a:t>
            </a:r>
            <a:r>
              <a:rPr dirty="0" err="1"/>
              <a:t>temperaturas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7373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73736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1874519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PT100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377439"/>
            <a:ext cx="247875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Sensor </a:t>
            </a:r>
            <a:r>
              <a:rPr dirty="0" err="1"/>
              <a:t>resistivo</a:t>
            </a:r>
            <a:r>
              <a:rPr dirty="0"/>
              <a:t> </a:t>
            </a:r>
            <a:endParaRPr lang="pt-BR" dirty="0"/>
          </a:p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usado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processos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657600"/>
            <a:ext cx="5806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20640" y="365760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30952" y="3794760"/>
            <a:ext cx="5440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EXEMPLOS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4297680"/>
            <a:ext cx="544067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7303A"/>
                </a:solidFill>
                <a:latin typeface="Aptos"/>
              </a:defRPr>
            </a:pPr>
            <a:r>
              <a:t>Motores • mancais • óleo • fornos • caldeiras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6146" name="Picture 2" descr="TERMOPAR TIPO K PT100 1-4 POL.X250MM 1-2 POL. BSP - KR Soluções e Materiais  Elétricos">
            <a:extLst>
              <a:ext uri="{FF2B5EF4-FFF2-40B4-BE49-F238E27FC236}">
                <a16:creationId xmlns:a16="http://schemas.microsoft.com/office/drawing/2014/main" id="{726AB92D-6053-ADA4-18AA-F771E277F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496" y="2728729"/>
            <a:ext cx="2094731" cy="2094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ermopar Tipo J Sensor de Temperatura com Cabo de Malha 1 Metro">
            <a:extLst>
              <a:ext uri="{FF2B5EF4-FFF2-40B4-BE49-F238E27FC236}">
                <a16:creationId xmlns:a16="http://schemas.microsoft.com/office/drawing/2014/main" id="{3DC4148C-EA7D-3042-9946-501099108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48" y="276606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nício | SENAI-RS">
            <a:extLst>
              <a:ext uri="{FF2B5EF4-FFF2-40B4-BE49-F238E27FC236}">
                <a16:creationId xmlns:a16="http://schemas.microsoft.com/office/drawing/2014/main" id="{C5654427-451F-4AFB-B0D3-538864BEF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4. NÍVEL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Quanto material existe dentro de um tanque.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10896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70516" y="3044952"/>
            <a:ext cx="2743201" cy="1649711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51252" y="1417320"/>
            <a:ext cx="435254" cy="411480"/>
          </a:xfrm>
          <a:prstGeom prst="rect">
            <a:avLst/>
          </a:prstGeom>
          <a:solidFill>
            <a:srgbClr val="94A3B8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326898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C2D"/>
                </a:solidFill>
                <a:latin typeface="Aptos"/>
              </a:defRPr>
            </a:pPr>
            <a:r>
              <a:t>62 %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91640"/>
            <a:ext cx="26974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691640"/>
            <a:ext cx="64008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73752" y="1828800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BOIA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331720"/>
            <a:ext cx="2331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Solução simples.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39377"/>
            <a:ext cx="283464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2739542"/>
            <a:ext cx="2743200" cy="2061057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74175" y="1508760"/>
            <a:ext cx="396849" cy="411480"/>
          </a:xfrm>
          <a:prstGeom prst="rect">
            <a:avLst/>
          </a:prstGeom>
          <a:solidFill>
            <a:srgbClr val="94A3B8"/>
          </a:solidFill>
          <a:ln>
            <a:solidFill>
              <a:srgbClr val="0D1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74175" y="1572768"/>
            <a:ext cx="39684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D1C2D"/>
                </a:solidFill>
                <a:latin typeface="Aptos"/>
              </a:defRPr>
            </a:pPr>
            <a:r>
              <a:t>RADAR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1920240"/>
            <a:ext cx="0" cy="819302"/>
          </a:xfrm>
          <a:prstGeom prst="line">
            <a:avLst/>
          </a:prstGeom>
          <a:ln>
            <a:solidFill>
              <a:srgbClr val="EA580C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63940" y="3236976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C2D"/>
                </a:solidFill>
                <a:latin typeface="Aptos"/>
              </a:defRPr>
            </a:pPr>
            <a:r>
              <a:t>72 %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98348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18120" y="4983480"/>
            <a:ext cx="64008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28432" y="512064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D1C2D"/>
                </a:solidFill>
                <a:latin typeface="Aptos"/>
              </a:defRPr>
            </a:pPr>
            <a:r>
              <a:t>RADAR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5367927"/>
            <a:ext cx="283464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7303A"/>
                </a:solidFill>
                <a:latin typeface="Aptos"/>
              </a:defRPr>
            </a:pPr>
            <a:r>
              <a:rPr dirty="0"/>
              <a:t>Mede a </a:t>
            </a:r>
            <a:r>
              <a:rPr dirty="0" err="1"/>
              <a:t>distância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a </a:t>
            </a:r>
            <a:r>
              <a:rPr dirty="0" err="1"/>
              <a:t>superfície</a:t>
            </a:r>
            <a:r>
              <a:rPr dirty="0"/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7170" name="Picture 2" descr="Sensor de Nível de Água Horizontal Tipo Boia">
            <a:extLst>
              <a:ext uri="{FF2B5EF4-FFF2-40B4-BE49-F238E27FC236}">
                <a16:creationId xmlns:a16="http://schemas.microsoft.com/office/drawing/2014/main" id="{51033876-E793-7FAF-BB75-D769952AC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302" y="2802236"/>
            <a:ext cx="2012747" cy="1509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E632AAB4-9E00-A545-041F-07E378EF2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643" y="4889541"/>
            <a:ext cx="1187913" cy="143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Início | SENAI-RS">
            <a:extLst>
              <a:ext uri="{FF2B5EF4-FFF2-40B4-BE49-F238E27FC236}">
                <a16:creationId xmlns:a16="http://schemas.microsoft.com/office/drawing/2014/main" id="{AD9DA657-4104-7C87-91DB-607A9BB89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Nível | Por que controlar?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502152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64008" cy="3383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7451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rPr dirty="0"/>
              <a:t>EVITAR TRANSBORDAMENTO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77439"/>
            <a:ext cx="29014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Tanque </a:t>
            </a:r>
            <a:r>
              <a:rPr dirty="0" err="1"/>
              <a:t>cheio</a:t>
            </a:r>
            <a:r>
              <a:rPr dirty="0"/>
              <a:t> </a:t>
            </a:r>
            <a:r>
              <a:rPr dirty="0" err="1"/>
              <a:t>demais</a:t>
            </a:r>
            <a:r>
              <a:rPr dirty="0"/>
              <a:t> </a:t>
            </a:r>
            <a:r>
              <a:rPr dirty="0" err="1"/>
              <a:t>pode</a:t>
            </a:r>
            <a:endParaRPr lang="pt-BR" dirty="0"/>
          </a:p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causar</a:t>
            </a:r>
            <a:r>
              <a:rPr dirty="0"/>
              <a:t> </a:t>
            </a:r>
            <a:r>
              <a:rPr dirty="0" err="1"/>
              <a:t>perdas</a:t>
            </a:r>
            <a:r>
              <a:rPr dirty="0"/>
              <a:t>, </a:t>
            </a:r>
            <a:r>
              <a:rPr dirty="0" err="1"/>
              <a:t>riscos</a:t>
            </a:r>
            <a:r>
              <a:rPr dirty="0"/>
              <a:t> e </a:t>
            </a:r>
            <a:r>
              <a:rPr dirty="0" err="1"/>
              <a:t>paradas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64008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87451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GARANTIR ALIMENTAÇÃO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77439"/>
            <a:ext cx="2873094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Um </a:t>
            </a:r>
            <a:r>
              <a:rPr dirty="0" err="1"/>
              <a:t>nível</a:t>
            </a:r>
            <a:r>
              <a:rPr dirty="0"/>
              <a:t> </a:t>
            </a:r>
            <a:r>
              <a:rPr dirty="0" err="1"/>
              <a:t>mínimo</a:t>
            </a:r>
            <a:r>
              <a:rPr dirty="0"/>
              <a:t> </a:t>
            </a:r>
            <a:endParaRPr lang="pt-BR" dirty="0"/>
          </a:p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necessário</a:t>
            </a:r>
            <a:r>
              <a:rPr dirty="0"/>
              <a:t> para </a:t>
            </a:r>
            <a:endParaRPr lang="pt-BR" dirty="0"/>
          </a:p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manter</a:t>
            </a:r>
            <a:r>
              <a:rPr dirty="0"/>
              <a:t> o </a:t>
            </a:r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funcionando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383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737360"/>
            <a:ext cx="64008" cy="3383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2" y="187451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MANTER ESTABILIDADE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377439"/>
            <a:ext cx="2230804" cy="784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nível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precisar</a:t>
            </a:r>
            <a:endParaRPr lang="pt-BR" dirty="0"/>
          </a:p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permanecer</a:t>
            </a:r>
            <a:r>
              <a:rPr dirty="0"/>
              <a:t> </a:t>
            </a:r>
            <a:r>
              <a:rPr dirty="0" err="1"/>
              <a:t>próximo</a:t>
            </a:r>
            <a:r>
              <a:rPr dirty="0"/>
              <a:t> de </a:t>
            </a:r>
            <a:endParaRPr lang="pt-BR" dirty="0"/>
          </a:p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um valor </a:t>
            </a:r>
            <a:r>
              <a:rPr dirty="0" err="1"/>
              <a:t>desejado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8" name="Picture 2" descr="Início | SENAI-RS">
            <a:extLst>
              <a:ext uri="{FF2B5EF4-FFF2-40B4-BE49-F238E27FC236}">
                <a16:creationId xmlns:a16="http://schemas.microsoft.com/office/drawing/2014/main" id="{0BADF593-B17F-5F21-D511-93575B86B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E existem muitas outras variáveis…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VELOCIDADE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86000"/>
            <a:ext cx="3017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7303A"/>
                </a:solidFill>
                <a:latin typeface="Aptos"/>
              </a:defRPr>
            </a:pPr>
            <a:r>
              <a:t>RPM de motores e turbinas.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64008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POSIÇÃO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286000"/>
            <a:ext cx="3017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7303A"/>
                </a:solidFill>
                <a:latin typeface="Aptos"/>
              </a:defRPr>
            </a:pPr>
            <a:r>
              <a:t>Válvulas, eixos e comportas.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64008" cy="182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CORRENTE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286000"/>
            <a:ext cx="3017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7303A"/>
                </a:solidFill>
                <a:latin typeface="Aptos"/>
              </a:defRPr>
            </a:pPr>
            <a:r>
              <a:t>Carga e comportamento de motores.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977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VIBRAÇÃO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4480560"/>
            <a:ext cx="3017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7303A"/>
                </a:solidFill>
                <a:latin typeface="Aptos"/>
              </a:defRPr>
            </a:pPr>
            <a:r>
              <a:t>Condição mecânica.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840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840480"/>
            <a:ext cx="6400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2" y="3977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4480560"/>
            <a:ext cx="3017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7303A"/>
                </a:solidFill>
                <a:latin typeface="Aptos"/>
              </a:defRPr>
            </a:pPr>
            <a:r>
              <a:t>Qualidade de água e processos.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840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840480"/>
            <a:ext cx="64008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9912" y="39776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UMIDADE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2" y="4480560"/>
            <a:ext cx="3017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7303A"/>
                </a:solidFill>
                <a:latin typeface="Aptos"/>
              </a:defRPr>
            </a:pPr>
            <a:r>
              <a:t>Secagem e armazenamento.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30" name="Picture 2" descr="Início | SENAI-RS">
            <a:extLst>
              <a:ext uri="{FF2B5EF4-FFF2-40B4-BE49-F238E27FC236}">
                <a16:creationId xmlns:a16="http://schemas.microsoft.com/office/drawing/2014/main" id="{B4D93336-1AB7-3441-DF25-2B25F06AC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Sensor × Transmissor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Não são exatamente a mesma coisa.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4008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82880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1" y="2331720"/>
            <a:ext cx="46058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É o </a:t>
            </a:r>
            <a:r>
              <a:rPr dirty="0" err="1"/>
              <a:t>elemento</a:t>
            </a:r>
            <a:r>
              <a:rPr dirty="0"/>
              <a:t> que </a:t>
            </a:r>
            <a:r>
              <a:rPr dirty="0" err="1"/>
              <a:t>percebe</a:t>
            </a:r>
            <a:r>
              <a:rPr dirty="0"/>
              <a:t> a </a:t>
            </a:r>
            <a:r>
              <a:rPr dirty="0" err="1"/>
              <a:t>grandeza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Ex.: </a:t>
            </a:r>
            <a:r>
              <a:rPr dirty="0" err="1"/>
              <a:t>termopar</a:t>
            </a:r>
            <a:r>
              <a:rPr dirty="0"/>
              <a:t>, PT100, </a:t>
            </a:r>
            <a:r>
              <a:rPr dirty="0" err="1"/>
              <a:t>célula</a:t>
            </a:r>
            <a:r>
              <a:rPr dirty="0"/>
              <a:t> de </a:t>
            </a:r>
            <a:r>
              <a:rPr dirty="0" err="1"/>
              <a:t>pressão</a:t>
            </a:r>
            <a:r>
              <a:rPr dirty="0"/>
              <a:t>,</a:t>
            </a:r>
            <a:endParaRPr lang="pt-BR" dirty="0"/>
          </a:p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boia</a:t>
            </a:r>
            <a:r>
              <a:rPr dirty="0"/>
              <a:t> e sensor </a:t>
            </a:r>
            <a:r>
              <a:rPr dirty="0" err="1"/>
              <a:t>ultrassônico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91640"/>
            <a:ext cx="51206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64008" cy="3383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828800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TRANSMISSOR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331720"/>
            <a:ext cx="4754879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Recebe a informação e gera um sinal padronizado.</a:t>
            </a:r>
            <a:br/>
            <a:br/>
            <a:r>
              <a:t>Exemplo: 0–10 bar → 4–20 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15" name="Picture 2" descr="Início | SENAI-RS">
            <a:extLst>
              <a:ext uri="{FF2B5EF4-FFF2-40B4-BE49-F238E27FC236}">
                <a16:creationId xmlns:a16="http://schemas.microsoft.com/office/drawing/2014/main" id="{9240F253-A181-40B2-9FD7-48891C7B6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A malha de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A medição vira uma 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3767" y="1874519"/>
            <a:ext cx="182880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948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76575" y="215798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32607" y="1874519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7832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TRANSMISSOR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25415" y="215798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81447" y="1874519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716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CLP / PID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74255" y="215798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30287" y="1874519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600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ATUADOR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23095" y="215798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79127" y="1874519"/>
            <a:ext cx="182880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484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PROCESSO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94760"/>
            <a:ext cx="2971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379476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393192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1. MEDIR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4434840"/>
            <a:ext cx="2606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O sensor mede.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794760"/>
            <a:ext cx="2971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17720" y="3794760"/>
            <a:ext cx="64008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8032" y="393192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2. DECIDIR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4434840"/>
            <a:ext cx="2606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O controlador compara.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794760"/>
            <a:ext cx="29718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3794760"/>
            <a:ext cx="64008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31352" y="393192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3. CORRIGIR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4434840"/>
            <a:ext cx="2606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O atuador altera o processo.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33" name="Picture 2" descr="Início | SENAI-RS">
            <a:extLst>
              <a:ext uri="{FF2B5EF4-FFF2-40B4-BE49-F238E27FC236}">
                <a16:creationId xmlns:a16="http://schemas.microsoft.com/office/drawing/2014/main" id="{A76C39CD-2895-96EB-1FF5-26682F89C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SP e PV | Uma ideia muito importante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00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64008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74519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SP – SETPOINT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77439"/>
            <a:ext cx="28346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7303A"/>
                </a:solidFill>
                <a:latin typeface="Aptos"/>
              </a:defRPr>
            </a:pPr>
            <a:r>
              <a:t>O valor que queremos.</a:t>
            </a:r>
            <a:br/>
            <a:br/>
            <a:r>
              <a:t>🎯 Ex.: 80 °C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200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737360"/>
            <a:ext cx="64008" cy="2194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874519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PV – PROCESS 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377439"/>
            <a:ext cx="28346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7303A"/>
                </a:solidFill>
                <a:latin typeface="Aptos"/>
              </a:defRPr>
            </a:pPr>
            <a:r>
              <a:t>O valor que temos.</a:t>
            </a:r>
            <a:br/>
            <a:br/>
            <a:r>
              <a:t>🌡️ Ex.: 75 °C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200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737360"/>
            <a:ext cx="64008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874519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ERRO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377439"/>
            <a:ext cx="2834640" cy="1417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7303A"/>
                </a:solidFill>
                <a:latin typeface="Aptos"/>
              </a:defRPr>
            </a:pPr>
            <a:r>
              <a:t>SP − PV</a:t>
            </a:r>
            <a:br/>
            <a:br/>
            <a:r>
              <a:t>80 − 75 = 5 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0916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6A34A"/>
                </a:solidFill>
                <a:latin typeface="Aptos"/>
              </a:defRPr>
            </a:pPr>
            <a:r>
              <a:t>O controlador trabalha para reduzir o erro.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19" name="Picture 2" descr="Início | SENAI-RS">
            <a:extLst>
              <a:ext uri="{FF2B5EF4-FFF2-40B4-BE49-F238E27FC236}">
                <a16:creationId xmlns:a16="http://schemas.microsoft.com/office/drawing/2014/main" id="{0F8A47AB-B8F3-47FC-D02D-45526ADCE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4–20 mA | Como interpretar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841248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651760"/>
            <a:ext cx="347472" cy="347472"/>
          </a:xfrm>
          <a:prstGeom prst="ellipse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C2D"/>
                </a:solidFill>
                <a:latin typeface="Aptos"/>
              </a:defRPr>
            </a:pPr>
            <a:r>
              <a:t>4 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9" name="Oval 8"/>
          <p:cNvSpPr/>
          <p:nvPr/>
        </p:nvSpPr>
        <p:spPr>
          <a:xfrm>
            <a:off x="2926079" y="2651760"/>
            <a:ext cx="347472" cy="347472"/>
          </a:xfrm>
          <a:prstGeom prst="ellipse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20574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C2D"/>
                </a:solidFill>
                <a:latin typeface="Aptos"/>
              </a:defRPr>
            </a:pPr>
            <a:r>
              <a:t>8 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1546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0" y="2651760"/>
            <a:ext cx="347472" cy="347472"/>
          </a:xfrm>
          <a:prstGeom prst="ellipse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C2D"/>
                </a:solidFill>
                <a:latin typeface="Aptos"/>
              </a:defRPr>
            </a:pPr>
            <a:r>
              <a:t>12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1546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50%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2651760"/>
            <a:ext cx="347472" cy="347472"/>
          </a:xfrm>
          <a:prstGeom prst="ellipse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20574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C2D"/>
                </a:solidFill>
                <a:latin typeface="Aptos"/>
              </a:defRPr>
            </a:pPr>
            <a:r>
              <a:t>16 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31546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75%</a:t>
            </a:r>
          </a:p>
        </p:txBody>
      </p:sp>
      <p:sp>
        <p:nvSpPr>
          <p:cNvPr id="18" name="Oval 17"/>
          <p:cNvSpPr/>
          <p:nvPr/>
        </p:nvSpPr>
        <p:spPr>
          <a:xfrm>
            <a:off x="9235440" y="2651760"/>
            <a:ext cx="347472" cy="347472"/>
          </a:xfrm>
          <a:prstGeom prst="ellipse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20574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D1C2D"/>
                </a:solidFill>
                <a:latin typeface="Aptos"/>
              </a:defRPr>
            </a:pPr>
            <a:r>
              <a:t>20 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31546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1691640"/>
            <a:ext cx="1996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46920" y="1691640"/>
            <a:ext cx="64008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57232" y="1828800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D1C2D"/>
                </a:solidFill>
                <a:latin typeface="Aptos"/>
              </a:defRPr>
            </a:pPr>
            <a:r>
              <a:t>ZERO VIVO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331720"/>
            <a:ext cx="1463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27303A"/>
                </a:solidFill>
                <a:latin typeface="Aptos"/>
              </a:defRPr>
            </a:pPr>
            <a:r>
              <a:rPr dirty="0"/>
              <a:t>4 mA = </a:t>
            </a:r>
            <a:r>
              <a:rPr dirty="0" err="1"/>
              <a:t>início</a:t>
            </a:r>
            <a:r>
              <a:rPr dirty="0"/>
              <a:t> do range.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3840480"/>
            <a:ext cx="1996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46920" y="3840480"/>
            <a:ext cx="64008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57232" y="3977640"/>
            <a:ext cx="1463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D1C2D"/>
                </a:solidFill>
                <a:latin typeface="Aptos"/>
              </a:defRPr>
            </a:pPr>
            <a:r>
              <a:t>EXEMPLO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448056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0–10 bar</a:t>
            </a:r>
            <a:br/>
            <a:r>
              <a:t>12 mA = 5 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30" name="Picture 2" descr="Início | SENAI-RS">
            <a:extLst>
              <a:ext uri="{FF2B5EF4-FFF2-40B4-BE49-F238E27FC236}">
                <a16:creationId xmlns:a16="http://schemas.microsoft.com/office/drawing/2014/main" id="{0186F975-06FC-6EAB-E946-87162C7EC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Exemplo rápido | 14 mA vale quanto?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7830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86000"/>
            <a:ext cx="2743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t>Transmissor 0–10 bar</a:t>
            </a:r>
            <a:br/>
            <a:r>
              <a:t>Sinal = 14 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4592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60" y="1645920"/>
            <a:ext cx="64008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7830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CONTA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286000"/>
            <a:ext cx="27432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7303A"/>
                </a:solidFill>
                <a:latin typeface="Aptos"/>
              </a:defRPr>
            </a:pPr>
            <a:r>
              <a:t>(14−4) ÷ (20−4)</a:t>
            </a:r>
            <a:br/>
            <a:r>
              <a:t>= 62,5%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459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0" y="164592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82712" y="17830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RESPOSTA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2286000"/>
            <a:ext cx="3017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t>62,5% × 10 bar</a:t>
            </a:r>
            <a:br/>
            <a:r>
              <a:t>= 6,25 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25196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D1C2D"/>
                </a:solidFill>
                <a:latin typeface="Aptos"/>
              </a:defRPr>
            </a:pPr>
            <a:r>
              <a:t>Resposta: 14 mA → 6,25 bar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19" name="Picture 2" descr="Início | SENAI-RS">
            <a:extLst>
              <a:ext uri="{FF2B5EF4-FFF2-40B4-BE49-F238E27FC236}">
                <a16:creationId xmlns:a16="http://schemas.microsoft.com/office/drawing/2014/main" id="{19A63DA3-670F-9C14-CC44-1BA34BF24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Exemplo prático | Controle de nível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92427" y="1783080"/>
            <a:ext cx="201168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38147" y="193852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TANQUE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68115" y="2066543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24147" y="178308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69867" y="193852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TRANSMISSOR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99835" y="2066543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55867" y="178308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1587" y="193852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CLP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31555" y="2066543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87587" y="1783080"/>
            <a:ext cx="201168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33307" y="1938528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VÁLVULA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79476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297680"/>
            <a:ext cx="2880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t>Nível desejado = 70%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57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80560" y="3657600"/>
            <a:ext cx="64008" cy="1600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0872" y="379476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PV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4297680"/>
            <a:ext cx="2880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t>Nível medido = 60%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6576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657600"/>
            <a:ext cx="64008" cy="1600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9912" y="379476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4297680"/>
            <a:ext cx="212359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Aumentar</a:t>
            </a:r>
            <a:r>
              <a:rPr dirty="0"/>
              <a:t> a entrada, </a:t>
            </a:r>
            <a:endParaRPr lang="pt-BR" dirty="0"/>
          </a:p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rPr dirty="0"/>
              <a:t>se </a:t>
            </a:r>
            <a:r>
              <a:rPr dirty="0" err="1"/>
              <a:t>essa</a:t>
            </a:r>
            <a:r>
              <a:rPr dirty="0"/>
              <a:t> for a </a:t>
            </a:r>
            <a:r>
              <a:rPr dirty="0" err="1"/>
              <a:t>estratégia</a:t>
            </a:r>
            <a:r>
              <a:rPr dirty="0"/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29" name="Picture 2" descr="Início | SENAI-RS">
            <a:extLst>
              <a:ext uri="{FF2B5EF4-FFF2-40B4-BE49-F238E27FC236}">
                <a16:creationId xmlns:a16="http://schemas.microsoft.com/office/drawing/2014/main" id="{DAA5674F-41E0-86F4-BA55-26800CEBD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Atividade para a turma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64748B"/>
                </a:solidFill>
                <a:latin typeface="Aptos"/>
              </a:defRPr>
            </a:pPr>
            <a:r>
              <a:t>Pense como um técnico de automação.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3611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3736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SITUAÇÃO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40280"/>
            <a:ext cx="4657044" cy="16619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rPr dirty="0"/>
              <a:t>Um </a:t>
            </a:r>
            <a:r>
              <a:rPr dirty="0" err="1"/>
              <a:t>tanque</a:t>
            </a:r>
            <a:r>
              <a:rPr dirty="0"/>
              <a:t> </a:t>
            </a:r>
            <a:r>
              <a:rPr dirty="0" err="1"/>
              <a:t>possui</a:t>
            </a:r>
            <a:r>
              <a:rPr dirty="0"/>
              <a:t> </a:t>
            </a:r>
            <a:r>
              <a:rPr dirty="0" err="1"/>
              <a:t>transmissor</a:t>
            </a:r>
            <a:r>
              <a:rPr dirty="0"/>
              <a:t> de </a:t>
            </a:r>
            <a:r>
              <a:rPr dirty="0" err="1"/>
              <a:t>nível</a:t>
            </a:r>
            <a:r>
              <a:rPr dirty="0"/>
              <a:t> 0–100% </a:t>
            </a:r>
            <a:endParaRPr lang="pt-BR" dirty="0"/>
          </a:p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rPr dirty="0"/>
              <a:t>→ 4–20 mA.</a:t>
            </a:r>
            <a:br>
              <a:rPr dirty="0"/>
            </a:br>
            <a:br>
              <a:rPr dirty="0"/>
            </a:br>
            <a:r>
              <a:rPr dirty="0"/>
              <a:t>CLP </a:t>
            </a:r>
            <a:r>
              <a:rPr dirty="0" err="1"/>
              <a:t>recebe</a:t>
            </a:r>
            <a:r>
              <a:rPr dirty="0"/>
              <a:t> 16,8 mA.</a:t>
            </a:r>
            <a:br>
              <a:rPr dirty="0"/>
            </a:br>
            <a:br>
              <a:rPr dirty="0"/>
            </a:br>
            <a:r>
              <a:rPr dirty="0"/>
              <a:t>Setpoint = 80%.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0749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64008" cy="3611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1737360"/>
            <a:ext cx="47091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PERGUNTAS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240280"/>
            <a:ext cx="4709159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1. Qual é o nível?</a:t>
            </a:r>
            <a:br/>
            <a:r>
              <a:t>2. Está acima ou abaixo do SP?</a:t>
            </a:r>
            <a:br/>
            <a:r>
              <a:t>3. Qual é a variável controlada?</a:t>
            </a:r>
            <a:br/>
            <a:r>
              <a:t>4. Qual é a variável manipulada?</a:t>
            </a:r>
            <a:br/>
            <a:r>
              <a:t>5. O que acontece se a válvula travar?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18</a:t>
            </a:r>
          </a:p>
        </p:txBody>
      </p:sp>
      <p:pic>
        <p:nvPicPr>
          <p:cNvPr id="15" name="Picture 2" descr="Início | SENAI-RS">
            <a:extLst>
              <a:ext uri="{FF2B5EF4-FFF2-40B4-BE49-F238E27FC236}">
                <a16:creationId xmlns:a16="http://schemas.microsoft.com/office/drawing/2014/main" id="{5D846F83-74B0-682C-B49C-D8C6422D1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Atividade | Resposta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182880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NÍVEL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331720"/>
            <a:ext cx="28346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7303A"/>
                </a:solidFill>
                <a:latin typeface="Aptos"/>
              </a:defRPr>
            </a:pPr>
            <a:r>
              <a:t>16,8 mA = 80%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9164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691640"/>
            <a:ext cx="64008" cy="1828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82880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COMPARAÇÃO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331720"/>
            <a:ext cx="28346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t>PV = SP</a:t>
            </a:r>
            <a:br/>
            <a:r>
              <a:t>→ no valor desejado.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69164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48472" y="182880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D1C2D"/>
                </a:solidFill>
                <a:latin typeface="Aptos"/>
              </a:defRPr>
            </a:pPr>
            <a:r>
              <a:t>CONTROLADA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331720"/>
            <a:ext cx="28346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t>Nível do tanque.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40690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51760" y="4069080"/>
            <a:ext cx="64008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62072" y="420624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MANIPULADA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4709160"/>
            <a:ext cx="2834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Abertura da válvula / vazão.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06908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4069080"/>
            <a:ext cx="64008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420624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FALHA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709160"/>
            <a:ext cx="30818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rPr dirty="0"/>
              <a:t>Se a </a:t>
            </a:r>
            <a:r>
              <a:rPr dirty="0" err="1"/>
              <a:t>válvula</a:t>
            </a:r>
            <a:r>
              <a:rPr dirty="0"/>
              <a:t> </a:t>
            </a:r>
            <a:r>
              <a:rPr dirty="0" err="1"/>
              <a:t>travar</a:t>
            </a:r>
            <a:r>
              <a:rPr dirty="0"/>
              <a:t>, </a:t>
            </a:r>
            <a:endParaRPr lang="pt-BR" dirty="0"/>
          </a:p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processo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deixar</a:t>
            </a:r>
            <a:r>
              <a:rPr dirty="0"/>
              <a:t> de responder.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26" name="Picture 2" descr="Início | SENAI-RS">
            <a:extLst>
              <a:ext uri="{FF2B5EF4-FFF2-40B4-BE49-F238E27FC236}">
                <a16:creationId xmlns:a16="http://schemas.microsoft.com/office/drawing/2014/main" id="{D6C2AD9A-D376-EB27-AD93-ED6034CFC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Quando uma medição parece errada…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5167" y="1783080"/>
            <a:ext cx="192024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887" y="193852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PROCESSO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39415" y="2066543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95447" y="178308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41167" y="193852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79695" y="2066543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35727" y="178308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81447" y="193852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TRANSMISSOR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19975" y="2066543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76007" y="1783080"/>
            <a:ext cx="19202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1727" y="193852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CABO / LOOP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60255" y="2066543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16287" y="1783080"/>
            <a:ext cx="192024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62007" y="1938528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5760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7303A"/>
                </a:solidFill>
                <a:latin typeface="Aptos"/>
              </a:defRPr>
            </a:pPr>
            <a:r>
              <a:t>• A variável realmente mudou?</a:t>
            </a:r>
          </a:p>
          <a:p>
            <a:pPr>
              <a:spcAft>
                <a:spcPts val="800"/>
              </a:spcAft>
              <a:defRPr sz="1800">
                <a:solidFill>
                  <a:srgbClr val="27303A"/>
                </a:solidFill>
                <a:latin typeface="Aptos"/>
              </a:defRPr>
            </a:pPr>
            <a:r>
              <a:t>• O sensor está instalado corretamente?</a:t>
            </a:r>
          </a:p>
          <a:p>
            <a:pPr>
              <a:spcAft>
                <a:spcPts val="800"/>
              </a:spcAft>
              <a:defRPr sz="1800">
                <a:solidFill>
                  <a:srgbClr val="27303A"/>
                </a:solidFill>
                <a:latin typeface="Aptos"/>
              </a:defRPr>
            </a:pPr>
            <a:r>
              <a:t>• O transmissor está alimentado?</a:t>
            </a:r>
          </a:p>
          <a:p>
            <a:pPr>
              <a:spcAft>
                <a:spcPts val="800"/>
              </a:spcAft>
              <a:defRPr sz="1800">
                <a:solidFill>
                  <a:srgbClr val="27303A"/>
                </a:solidFill>
                <a:latin typeface="Aptos"/>
              </a:defRPr>
            </a:pPr>
            <a:r>
              <a:t>• O sinal está entre 4 e 20 mA?</a:t>
            </a:r>
          </a:p>
          <a:p>
            <a:pPr>
              <a:spcAft>
                <a:spcPts val="800"/>
              </a:spcAft>
              <a:defRPr sz="1800">
                <a:solidFill>
                  <a:srgbClr val="27303A"/>
                </a:solidFill>
                <a:latin typeface="Aptos"/>
              </a:defRPr>
            </a:pPr>
            <a:r>
              <a:t>• A escala no CLP está correta?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21" name="Picture 2" descr="Início | SENAI-RS">
            <a:extLst>
              <a:ext uri="{FF2B5EF4-FFF2-40B4-BE49-F238E27FC236}">
                <a16:creationId xmlns:a16="http://schemas.microsoft.com/office/drawing/2014/main" id="{57A06E5B-7A79-C7A8-4382-DEE3597F4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Da instrumentação à Indústria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D2DCE6"/>
                </a:solidFill>
                <a:latin typeface="Aptos"/>
              </a:defRPr>
            </a:pPr>
            <a:r>
              <a:t>Medições geram dados para operação e decisão.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3767" y="1874519"/>
            <a:ext cx="182880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948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SENSOR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76575" y="215798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32607" y="1874519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7832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CLP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25415" y="215798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81447" y="1874519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716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IHM / SCADA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74255" y="215798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30287" y="1874519"/>
            <a:ext cx="1828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7600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D1C2D"/>
                </a:solidFill>
                <a:latin typeface="Aptos"/>
              </a:defRPr>
            </a:pPr>
            <a:r>
              <a:t>HISTÓRICO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23095" y="2157984"/>
            <a:ext cx="164592" cy="27432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79127" y="1874519"/>
            <a:ext cx="1828800" cy="868680"/>
          </a:xfrm>
          <a:prstGeom prst="roundRect">
            <a:avLst/>
          </a:prstGeom>
          <a:solidFill>
            <a:srgbClr val="0D1C2D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24847" y="2029967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ANÁLISE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49039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" y="3749039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388620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VISUALIZAR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4389120"/>
            <a:ext cx="2606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Tendências e alarmes.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7720" y="3749039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17720" y="3749039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28032" y="388620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ANALISAR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4389120"/>
            <a:ext cx="2606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Encontrar anomalias.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749039"/>
            <a:ext cx="2971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3749039"/>
            <a:ext cx="64008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31352" y="388620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D1C2D"/>
                </a:solidFill>
                <a:latin typeface="Aptos"/>
              </a:defRPr>
            </a:pPr>
            <a:r>
              <a:t>MELHORAR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4389120"/>
            <a:ext cx="2606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27303A"/>
                </a:solidFill>
                <a:latin typeface="Aptos"/>
              </a:defRPr>
            </a:pPr>
            <a:r>
              <a:t>Eficiência e manutenção.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33" name="Picture 2" descr="Início | SENAI-RS">
            <a:extLst>
              <a:ext uri="{FF2B5EF4-FFF2-40B4-BE49-F238E27FC236}">
                <a16:creationId xmlns:a16="http://schemas.microsoft.com/office/drawing/2014/main" id="{FA2284C3-D202-2696-CBDD-1080C9C0C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Aplicação | Usina Hidrelétrica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79034" y="1672839"/>
            <a:ext cx="15361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1C2D"/>
                </a:solidFill>
                <a:latin typeface="Aptos"/>
              </a:defRPr>
            </a:pPr>
            <a:r>
              <a:rPr dirty="0"/>
              <a:t>USINA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9164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69164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18288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PRESSÃO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233172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Circuitos hidráulicos.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9164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691640"/>
            <a:ext cx="64008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08592" y="182880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VAZÃO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331720"/>
            <a:ext cx="16545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rPr dirty="0" err="1"/>
              <a:t>Água</a:t>
            </a:r>
            <a:r>
              <a:rPr dirty="0"/>
              <a:t> </a:t>
            </a:r>
            <a:r>
              <a:rPr lang="pt-BR" dirty="0"/>
              <a:t>nos mancais</a:t>
            </a:r>
            <a:r>
              <a:rPr dirty="0"/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33756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92240" y="3337560"/>
            <a:ext cx="64008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02552" y="347472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NÍVEL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977639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Reservatório.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337560"/>
            <a:ext cx="2377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98280" y="3337560"/>
            <a:ext cx="64008" cy="1325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08592" y="347472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0D1C2D"/>
                </a:solidFill>
                <a:latin typeface="Aptos"/>
              </a:defRPr>
            </a:pPr>
            <a:r>
              <a:t>VIBRAÇÃO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977639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27303A"/>
                </a:solidFill>
                <a:latin typeface="Aptos"/>
              </a:defRPr>
            </a:pPr>
            <a:r>
              <a:t>Turbinas e geradores.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7580" y="5074920"/>
            <a:ext cx="561564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D1C2D"/>
                </a:solidFill>
                <a:latin typeface="Aptos"/>
              </a:defRPr>
            </a:pPr>
            <a:r>
              <a:rPr dirty="0"/>
              <a:t>As </a:t>
            </a:r>
            <a:r>
              <a:rPr dirty="0" err="1"/>
              <a:t>mesmas</a:t>
            </a:r>
            <a:r>
              <a:rPr dirty="0"/>
              <a:t> </a:t>
            </a:r>
            <a:r>
              <a:rPr dirty="0" err="1"/>
              <a:t>variáveis</a:t>
            </a:r>
            <a:r>
              <a:rPr dirty="0"/>
              <a:t> </a:t>
            </a:r>
            <a:r>
              <a:rPr dirty="0" err="1"/>
              <a:t>aparecem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processos</a:t>
            </a:r>
            <a:r>
              <a:rPr dirty="0"/>
              <a:t> reais de </a:t>
            </a:r>
            <a:endParaRPr lang="pt-BR" dirty="0"/>
          </a:p>
          <a:p>
            <a:pPr algn="ctr">
              <a:defRPr sz="1700" b="1">
                <a:solidFill>
                  <a:srgbClr val="0D1C2D"/>
                </a:solidFill>
                <a:latin typeface="Aptos"/>
              </a:defRPr>
            </a:pPr>
            <a:r>
              <a:rPr dirty="0" err="1"/>
              <a:t>geração</a:t>
            </a:r>
            <a:r>
              <a:rPr dirty="0"/>
              <a:t> de </a:t>
            </a:r>
            <a:r>
              <a:rPr dirty="0" err="1"/>
              <a:t>energia</a:t>
            </a:r>
            <a:r>
              <a:rPr dirty="0"/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22</a:t>
            </a:r>
          </a:p>
        </p:txBody>
      </p:sp>
      <p:pic>
        <p:nvPicPr>
          <p:cNvPr id="30" name="Picture 4" descr="Como funcionam as usinas hidrelétricas: a força da água que movimenta o  Brasil - ABRAGE">
            <a:extLst>
              <a:ext uri="{FF2B5EF4-FFF2-40B4-BE49-F238E27FC236}">
                <a16:creationId xmlns:a16="http://schemas.microsoft.com/office/drawing/2014/main" id="{B0DB5C33-324C-6BBE-FD36-33ACA90FE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1963238"/>
            <a:ext cx="4649914" cy="431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nício | SENAI-RS">
            <a:extLst>
              <a:ext uri="{FF2B5EF4-FFF2-40B4-BE49-F238E27FC236}">
                <a16:creationId xmlns:a16="http://schemas.microsoft.com/office/drawing/2014/main" id="{9D27A993-3BBA-4A31-CAAF-1F1564C36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0D1C2D"/>
                </a:solidFill>
                <a:latin typeface="Aptos"/>
              </a:defRPr>
            </a:pPr>
            <a:r>
              <a:t>Resumo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44168"/>
            <a:ext cx="1051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463040" y="173736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72184" y="1901952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D1C2D"/>
                </a:solidFill>
                <a:latin typeface="Aptos"/>
              </a:defRPr>
            </a:pPr>
            <a:r>
              <a:t>Pressão</a:t>
            </a:r>
          </a:p>
        </p:txBody>
      </p:sp>
      <p:sp>
        <p:nvSpPr>
          <p:cNvPr id="8" name="Oval 7"/>
          <p:cNvSpPr/>
          <p:nvPr/>
        </p:nvSpPr>
        <p:spPr>
          <a:xfrm>
            <a:off x="4297680" y="1737360"/>
            <a:ext cx="914400" cy="914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06824" y="1901952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971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D1C2D"/>
                </a:solidFill>
                <a:latin typeface="Aptos"/>
              </a:defRPr>
            </a:pPr>
            <a:r>
              <a:t>Vazão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1737360"/>
            <a:ext cx="914400" cy="9144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41464" y="1901952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71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D1C2D"/>
                </a:solidFill>
                <a:latin typeface="Aptos"/>
              </a:defRPr>
            </a:pPr>
            <a:r>
              <a:t>Temperatura</a:t>
            </a:r>
          </a:p>
        </p:txBody>
      </p:sp>
      <p:sp>
        <p:nvSpPr>
          <p:cNvPr id="14" name="Oval 13"/>
          <p:cNvSpPr/>
          <p:nvPr/>
        </p:nvSpPr>
        <p:spPr>
          <a:xfrm>
            <a:off x="9966960" y="1737360"/>
            <a:ext cx="914400" cy="9144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76104" y="1901952"/>
            <a:ext cx="868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971800"/>
            <a:ext cx="2377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D1C2D"/>
                </a:solidFill>
                <a:latin typeface="Aptos"/>
              </a:defRPr>
            </a:pPr>
            <a:r>
              <a:t>Nível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160520"/>
            <a:ext cx="8503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28800" y="4160520"/>
            <a:ext cx="64008" cy="960120"/>
          </a:xfrm>
          <a:prstGeom prst="rect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39112" y="429768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0D1C2D"/>
                </a:solidFill>
                <a:latin typeface="Aptos"/>
              </a:defRPr>
            </a:pPr>
            <a:r>
              <a:t>IDEIA-CHAVE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4800600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0">
                <a:solidFill>
                  <a:srgbClr val="27303A"/>
                </a:solidFill>
                <a:latin typeface="Aptos"/>
              </a:defRPr>
            </a:pPr>
            <a:r>
              <a:t>MEDIR → COMPARAR → DECIDIR → ATUAR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22" name="Picture 2" descr="Início | SENAI-RS">
            <a:extLst>
              <a:ext uri="{FF2B5EF4-FFF2-40B4-BE49-F238E27FC236}">
                <a16:creationId xmlns:a16="http://schemas.microsoft.com/office/drawing/2014/main" id="{A63BE81B-E4CF-AEE2-2BA1-43984ED3B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"/>
              </a:defRPr>
            </a:pPr>
            <a:r>
              <a:t>PARA LEMBRAR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EA5E9"/>
                </a:solidFill>
                <a:latin typeface="Aptos"/>
              </a:defRPr>
            </a:pPr>
            <a:r>
              <a:t>“Uma boa automação começa com uma boa medição.”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6052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Pressão • Vazão • Temperatura • Nível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834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D2E1EA"/>
                </a:solidFill>
                <a:latin typeface="Aptos"/>
              </a:defRPr>
            </a:pPr>
            <a:r>
              <a:t>Sensor → Transmissor → CLP → Atuador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Aptos"/>
              </a:defRPr>
            </a:pPr>
            <a:r>
              <a:t>24</a:t>
            </a:r>
          </a:p>
        </p:txBody>
      </p:sp>
      <p:pic>
        <p:nvPicPr>
          <p:cNvPr id="8" name="Picture 2" descr="Início | SENAI-RS">
            <a:extLst>
              <a:ext uri="{FF2B5EF4-FFF2-40B4-BE49-F238E27FC236}">
                <a16:creationId xmlns:a16="http://schemas.microsoft.com/office/drawing/2014/main" id="{B65A9926-9AA7-76DA-5C5F-208398DB6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594" y="85913"/>
            <a:ext cx="1387513" cy="49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1016</Words>
  <Application>Microsoft Office PowerPoint</Application>
  <PresentationFormat>Widescreen</PresentationFormat>
  <Paragraphs>275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RAFAEL DA SILVA</dc:creator>
  <cp:keywords/>
  <dc:description>generated using python-pptx</dc:description>
  <cp:lastModifiedBy>RAFAEL DA SILVA</cp:lastModifiedBy>
  <cp:revision>7</cp:revision>
  <dcterms:created xsi:type="dcterms:W3CDTF">2013-01-27T09:14:16Z</dcterms:created>
  <dcterms:modified xsi:type="dcterms:W3CDTF">2026-09-02T22:24:18Z</dcterms:modified>
  <cp:category/>
</cp:coreProperties>
</file>