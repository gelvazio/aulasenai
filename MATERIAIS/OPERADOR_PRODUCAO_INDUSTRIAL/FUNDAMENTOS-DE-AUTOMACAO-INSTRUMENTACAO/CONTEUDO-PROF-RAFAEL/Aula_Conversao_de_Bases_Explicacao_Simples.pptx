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80" r:id="rId3"/>
    <p:sldId id="277" r:id="rId4"/>
    <p:sldId id="278" r:id="rId5"/>
    <p:sldId id="279" r:id="rId6"/>
    <p:sldId id="257" r:id="rId7"/>
    <p:sldId id="258" r:id="rId8"/>
    <p:sldId id="276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5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24003" y="2276856"/>
            <a:ext cx="93726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Sistema de Numeração </a:t>
            </a:r>
          </a:p>
          <a:p>
            <a:endParaRPr lang="pt-BR" sz="4000" b="1" dirty="0">
              <a:solidFill>
                <a:srgbClr val="FFFFFF"/>
              </a:solidFill>
              <a:latin typeface="Aptos Display"/>
            </a:endParaRPr>
          </a:p>
          <a:p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									e </a:t>
            </a:r>
          </a:p>
          <a:p>
            <a:pPr algn="ctr"/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 							</a:t>
            </a:r>
          </a:p>
          <a:p>
            <a:pPr algn="ctr"/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Introdução à Lógica Digital</a:t>
            </a:r>
          </a:p>
          <a:p>
            <a:r>
              <a:rPr lang="pt-BR" sz="2200" dirty="0">
                <a:solidFill>
                  <a:srgbClr val="D2E6F5"/>
                </a:solidFill>
              </a:rPr>
              <a:t>											</a:t>
            </a:r>
            <a:endParaRPr sz="2200" dirty="0">
              <a:solidFill>
                <a:srgbClr val="D2E6F5"/>
              </a:solidFill>
            </a:endParaRPr>
          </a:p>
        </p:txBody>
      </p:sp>
      <p:pic>
        <p:nvPicPr>
          <p:cNvPr id="14" name="Picture 2" descr="Senai RN (@SenaiRN) • Facebook">
            <a:extLst>
              <a:ext uri="{FF2B5EF4-FFF2-40B4-BE49-F238E27FC236}">
                <a16:creationId xmlns:a16="http://schemas.microsoft.com/office/drawing/2014/main" id="{9977E5CF-6040-248A-179D-EA13631B5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3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246888"/>
            <a:ext cx="937260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Aptos Display"/>
              </a:rPr>
              <a:t>Bases</a:t>
            </a:r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 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Numéricas</a:t>
            </a:r>
            <a:endParaRPr sz="4000" b="1" dirty="0">
              <a:solidFill>
                <a:srgbClr val="FFFFFF"/>
              </a:solidFill>
              <a:latin typeface="Aptos Display"/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sz="2200" dirty="0">
                <a:solidFill>
                  <a:srgbClr val="D2E6F5"/>
                </a:solidFill>
              </a:rPr>
              <a:t>Decimal • </a:t>
            </a:r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</a:t>
            </a: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		</a:t>
            </a: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								</a:t>
            </a:r>
            <a:endParaRPr sz="2200" dirty="0">
              <a:solidFill>
                <a:srgbClr val="D2E6F5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897534" y="2121408"/>
            <a:ext cx="1463040" cy="96012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88974" y="2267712"/>
            <a:ext cx="128016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BASE
10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6E26701-4FC5-51BE-664C-F1FE484CC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504" y="5550933"/>
            <a:ext cx="2314898" cy="657317"/>
          </a:xfrm>
          <a:prstGeom prst="rect">
            <a:avLst/>
          </a:prstGeom>
        </p:spPr>
      </p:pic>
      <p:pic>
        <p:nvPicPr>
          <p:cNvPr id="18" name="Picture 2" descr="Senai RN (@SenaiRN) • Facebook">
            <a:extLst>
              <a:ext uri="{FF2B5EF4-FFF2-40B4-BE49-F238E27FC236}">
                <a16:creationId xmlns:a16="http://schemas.microsoft.com/office/drawing/2014/main" id="{F75CF2AF-D429-E1C3-DF1B-1F77B02C8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9D57D58-E475-3337-CAC7-886A7BF7B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892" y="1317305"/>
            <a:ext cx="7837659" cy="375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8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246888"/>
            <a:ext cx="93726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Aptos Display"/>
              </a:rPr>
              <a:t>Bases</a:t>
            </a:r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 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Numéricas</a:t>
            </a:r>
            <a:endParaRPr sz="4000" b="1" dirty="0">
              <a:solidFill>
                <a:srgbClr val="FFFFFF"/>
              </a:solidFill>
              <a:latin typeface="Aptos Display"/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sz="2200" dirty="0" err="1">
                <a:solidFill>
                  <a:srgbClr val="D2E6F5"/>
                </a:solidFill>
              </a:rPr>
              <a:t>Binário</a:t>
            </a:r>
            <a:r>
              <a:rPr sz="2200" dirty="0">
                <a:solidFill>
                  <a:srgbClr val="D2E6F5"/>
                </a:solidFill>
              </a:rPr>
              <a:t> • </a:t>
            </a:r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	</a:t>
            </a: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								</a:t>
            </a:r>
            <a:endParaRPr sz="2200" dirty="0">
              <a:solidFill>
                <a:srgbClr val="D2E6F5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509760" y="2194560"/>
            <a:ext cx="1463040" cy="960120"/>
          </a:xfrm>
          <a:prstGeom prst="roundRect">
            <a:avLst/>
          </a:prstGeom>
          <a:solidFill>
            <a:srgbClr val="40965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0" y="2267712"/>
            <a:ext cx="128016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BASE
2</a:t>
            </a:r>
          </a:p>
        </p:txBody>
      </p:sp>
      <p:pic>
        <p:nvPicPr>
          <p:cNvPr id="2052" name="Picture 4" descr="Números de código binário na tela do monitor - ícones de ferramentas e  utensílios grátis">
            <a:extLst>
              <a:ext uri="{FF2B5EF4-FFF2-40B4-BE49-F238E27FC236}">
                <a16:creationId xmlns:a16="http://schemas.microsoft.com/office/drawing/2014/main" id="{0794A9E7-C79C-7DDF-82BE-AA4BC1B81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8409" y="1317831"/>
            <a:ext cx="4962144" cy="496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B6CE490-9E9F-BF70-8FD2-B5FD7F604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261" y="5956360"/>
            <a:ext cx="3086531" cy="695422"/>
          </a:xfrm>
          <a:prstGeom prst="rect">
            <a:avLst/>
          </a:prstGeom>
        </p:spPr>
      </p:pic>
      <p:pic>
        <p:nvPicPr>
          <p:cNvPr id="14" name="Picture 2" descr="Senai RN (@SenaiRN) • Facebook">
            <a:extLst>
              <a:ext uri="{FF2B5EF4-FFF2-40B4-BE49-F238E27FC236}">
                <a16:creationId xmlns:a16="http://schemas.microsoft.com/office/drawing/2014/main" id="{F564696E-2A94-CDD9-CD19-0B23BDCE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34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246888"/>
            <a:ext cx="9372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Aptos Display"/>
              </a:rPr>
              <a:t>Bases</a:t>
            </a:r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 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Numéricas</a:t>
            </a:r>
            <a:endParaRPr sz="4000" b="1" dirty="0">
              <a:solidFill>
                <a:srgbClr val="FFFFFF"/>
              </a:solidFill>
              <a:latin typeface="Aptos Display"/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</a:t>
            </a:r>
          </a:p>
          <a:p>
            <a:r>
              <a:rPr sz="2200" dirty="0">
                <a:solidFill>
                  <a:srgbClr val="D2E6F5"/>
                </a:solidFill>
              </a:rPr>
              <a:t>Octal • </a:t>
            </a:r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lang="pt-BR" sz="2200" dirty="0">
                <a:solidFill>
                  <a:srgbClr val="D2E6F5"/>
                </a:solidFill>
              </a:rPr>
              <a:t>														</a:t>
            </a:r>
            <a:endParaRPr sz="2200" dirty="0">
              <a:solidFill>
                <a:srgbClr val="D2E6F5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15353" y="2227826"/>
            <a:ext cx="1463040" cy="960120"/>
          </a:xfrm>
          <a:prstGeom prst="roundRect">
            <a:avLst/>
          </a:prstGeom>
          <a:solidFill>
            <a:srgbClr val="E18B2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06793" y="2377441"/>
            <a:ext cx="128016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BASE
8</a:t>
            </a:r>
          </a:p>
        </p:txBody>
      </p:sp>
      <p:pic>
        <p:nvPicPr>
          <p:cNvPr id="2054" name="Picture 6" descr="Sistemas de numeração: Decimal, Binário, Octal e Hexadecimal">
            <a:extLst>
              <a:ext uri="{FF2B5EF4-FFF2-40B4-BE49-F238E27FC236}">
                <a16:creationId xmlns:a16="http://schemas.microsoft.com/office/drawing/2014/main" id="{BB2C9B3F-2300-9009-7681-E5242C0CA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4810" y="1652078"/>
            <a:ext cx="3703321" cy="2802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CC9D27B9-01F5-DF62-2E1A-BBDAA3255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34" y="4836730"/>
            <a:ext cx="5288498" cy="1580100"/>
          </a:xfrm>
          <a:prstGeom prst="rect">
            <a:avLst/>
          </a:prstGeom>
        </p:spPr>
      </p:pic>
      <p:pic>
        <p:nvPicPr>
          <p:cNvPr id="14" name="Picture 2" descr="Senai RN (@SenaiRN) • Facebook">
            <a:extLst>
              <a:ext uri="{FF2B5EF4-FFF2-40B4-BE49-F238E27FC236}">
                <a16:creationId xmlns:a16="http://schemas.microsoft.com/office/drawing/2014/main" id="{E4678201-3C8D-9C4B-2779-2D41144DD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5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1752" y="246888"/>
            <a:ext cx="93726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Aptos Display"/>
              </a:rPr>
              <a:t>Bases</a:t>
            </a:r>
            <a:r>
              <a:rPr lang="pt-BR" sz="4000" b="1" dirty="0">
                <a:solidFill>
                  <a:srgbClr val="FFFFFF"/>
                </a:solidFill>
                <a:latin typeface="Aptos Display"/>
              </a:rPr>
              <a:t>  </a:t>
            </a:r>
            <a:r>
              <a:rPr sz="4000" b="1" dirty="0" err="1">
                <a:solidFill>
                  <a:srgbClr val="FFFFFF"/>
                </a:solidFill>
                <a:latin typeface="Aptos Display"/>
              </a:rPr>
              <a:t>Numéricas</a:t>
            </a:r>
            <a:endParaRPr sz="4000" b="1" dirty="0">
              <a:solidFill>
                <a:srgbClr val="FFFFFF"/>
              </a:solidFill>
              <a:latin typeface="Aptos Display"/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endParaRPr lang="pt-BR" sz="2200" dirty="0">
              <a:solidFill>
                <a:srgbClr val="D2E6F5"/>
              </a:solidFill>
            </a:endParaRPr>
          </a:p>
          <a:p>
            <a:r>
              <a:rPr sz="2200" dirty="0">
                <a:solidFill>
                  <a:srgbClr val="D2E6F5"/>
                </a:solidFill>
              </a:rPr>
              <a:t>Hexadecimal</a:t>
            </a:r>
            <a:r>
              <a:rPr lang="pt-BR" sz="2200" dirty="0">
                <a:solidFill>
                  <a:srgbClr val="D2E6F5"/>
                </a:solidFill>
              </a:rPr>
              <a:t> •</a:t>
            </a:r>
            <a:endParaRPr sz="2200" dirty="0">
              <a:solidFill>
                <a:srgbClr val="D2E6F5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956548" y="2432661"/>
            <a:ext cx="1463040" cy="960120"/>
          </a:xfrm>
          <a:prstGeom prst="roundRect">
            <a:avLst/>
          </a:prstGeom>
          <a:solidFill>
            <a:srgbClr val="70529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47988" y="2578965"/>
            <a:ext cx="1280160" cy="8138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BASE
16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AB6AAC18-B789-F7A8-8428-DDE3F8F6E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5394068"/>
            <a:ext cx="3749040" cy="93358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DE0BB13-8533-869E-0DFE-97705A432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660" y="1313008"/>
            <a:ext cx="5077220" cy="3721090"/>
          </a:xfrm>
          <a:prstGeom prst="rect">
            <a:avLst/>
          </a:prstGeom>
        </p:spPr>
      </p:pic>
      <p:pic>
        <p:nvPicPr>
          <p:cNvPr id="16" name="Picture 2" descr="Senai RN (@SenaiRN) • Facebook">
            <a:extLst>
              <a:ext uri="{FF2B5EF4-FFF2-40B4-BE49-F238E27FC236}">
                <a16:creationId xmlns:a16="http://schemas.microsoft.com/office/drawing/2014/main" id="{BDB7114F-5AB3-4585-3086-429FF6857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88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274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O que é uma base numérica?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92224" y="1080135"/>
            <a:ext cx="3017520" cy="141732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792224" y="1299591"/>
            <a:ext cx="2834639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143D63"/>
                </a:solidFill>
                <a:latin typeface="Aptos"/>
              </a:rPr>
              <a:t>BASE 10
Decimal
0–9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39" y="1028700"/>
            <a:ext cx="3017520" cy="141732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39" y="1249870"/>
            <a:ext cx="2834639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rgbClr val="409656"/>
                </a:solidFill>
                <a:latin typeface="Aptos"/>
              </a:rPr>
              <a:t>BASE 2
</a:t>
            </a:r>
            <a:r>
              <a:rPr sz="2200" b="1" dirty="0" err="1">
                <a:solidFill>
                  <a:srgbClr val="409656"/>
                </a:solidFill>
                <a:latin typeface="Aptos"/>
              </a:rPr>
              <a:t>Binário</a:t>
            </a:r>
            <a:r>
              <a:rPr sz="2200" b="1" dirty="0">
                <a:solidFill>
                  <a:srgbClr val="409656"/>
                </a:solidFill>
                <a:latin typeface="Aptos"/>
              </a:rPr>
              <a:t>
0–1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39" y="3107817"/>
            <a:ext cx="3017520" cy="1417320"/>
          </a:xfrm>
          <a:prstGeom prst="roundRect">
            <a:avLst/>
          </a:prstGeom>
          <a:solidFill>
            <a:srgbClr val="F0EB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3327273"/>
            <a:ext cx="2834639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70529D"/>
                </a:solidFill>
                <a:latin typeface="Aptos"/>
              </a:rPr>
              <a:t>BASE 16
Hexadecimal
0–9 + A–F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5260086"/>
            <a:ext cx="8503920" cy="109728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5312664"/>
            <a:ext cx="8321040" cy="707886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lang="pt-BR" sz="2000" dirty="0">
                <a:solidFill>
                  <a:schemeClr val="accent6">
                    <a:lumMod val="75000"/>
                  </a:schemeClr>
                </a:solidFill>
              </a:rPr>
              <a:t>É a quantidade de símbolos ou algarismos que um sistema de numeração usa para representar quantidades e números</a:t>
            </a:r>
            <a:endParaRPr sz="2000" b="1" dirty="0">
              <a:solidFill>
                <a:schemeClr val="accent6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6E144F0B-B0DE-1E5D-0B71-C573A2653935}"/>
              </a:ext>
            </a:extLst>
          </p:cNvPr>
          <p:cNvSpPr/>
          <p:nvPr/>
        </p:nvSpPr>
        <p:spPr>
          <a:xfrm>
            <a:off x="1950720" y="3232404"/>
            <a:ext cx="3017520" cy="14173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highlight>
                <a:srgbClr val="FF0000"/>
              </a:highlight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6D175DA9-37F9-1491-F9F8-1F5C038A03AA}"/>
              </a:ext>
            </a:extLst>
          </p:cNvPr>
          <p:cNvSpPr txBox="1"/>
          <p:nvPr/>
        </p:nvSpPr>
        <p:spPr>
          <a:xfrm>
            <a:off x="2295145" y="3456432"/>
            <a:ext cx="2505456" cy="11079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BASE 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8</a:t>
            </a:r>
            <a:r>
              <a:rPr sz="2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
</a:t>
            </a:r>
            <a:r>
              <a:rPr lang="pt-BR" sz="2200" b="1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Octodecimal</a:t>
            </a:r>
            <a:r>
              <a:rPr sz="2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
0–</a:t>
            </a:r>
            <a:r>
              <a:rPr lang="pt-BR" sz="22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7</a:t>
            </a:r>
            <a:endParaRPr sz="2200" b="1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pic>
        <p:nvPicPr>
          <p:cNvPr id="18" name="Picture 2" descr="Senai RN (@SenaiRN) • Facebook">
            <a:extLst>
              <a:ext uri="{FF2B5EF4-FFF2-40B4-BE49-F238E27FC236}">
                <a16:creationId xmlns:a16="http://schemas.microsoft.com/office/drawing/2014/main" id="{25634770-1794-BE20-279D-A1AFE5CEB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Os quatro sistemas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32588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Sistema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Base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Símbolos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0 a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Binário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0 e 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Octal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0 a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Hexadecimal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0 a 9 e A a F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828800" y="4983480"/>
            <a:ext cx="8503920" cy="77724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920240" y="5056632"/>
            <a:ext cx="832104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3D63"/>
                </a:solidFill>
                <a:latin typeface="Aptos"/>
              </a:rPr>
              <a:t>Primeiro descubra a base. Depois escolha o método de conversão.</a:t>
            </a:r>
          </a:p>
        </p:txBody>
      </p:sp>
      <p:pic>
        <p:nvPicPr>
          <p:cNvPr id="10" name="Picture 2" descr="Senai RN (@SenaiRN) • Facebook">
            <a:extLst>
              <a:ext uri="{FF2B5EF4-FFF2-40B4-BE49-F238E27FC236}">
                <a16:creationId xmlns:a16="http://schemas.microsoft.com/office/drawing/2014/main" id="{58D36B46-C164-2123-7C17-8ED30437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143D63"/>
                </a:solidFill>
                <a:latin typeface="Aptos Display"/>
              </a:rPr>
              <a:t>Os</a:t>
            </a:r>
            <a:r>
              <a:rPr sz="2800" b="1" dirty="0">
                <a:solidFill>
                  <a:srgbClr val="143D63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43D63"/>
                </a:solidFill>
                <a:latin typeface="Aptos Display"/>
              </a:rPr>
              <a:t>quatro</a:t>
            </a:r>
            <a:r>
              <a:rPr sz="2800" b="1" dirty="0">
                <a:solidFill>
                  <a:srgbClr val="143D63"/>
                </a:solidFill>
                <a:latin typeface="Aptos Display"/>
              </a:rPr>
              <a:t> </a:t>
            </a:r>
            <a:r>
              <a:rPr sz="2800" b="1" dirty="0" err="1">
                <a:solidFill>
                  <a:srgbClr val="143D63"/>
                </a:solidFill>
                <a:latin typeface="Aptos Display"/>
              </a:rPr>
              <a:t>sistemas</a:t>
            </a:r>
            <a:endParaRPr sz="2800" b="1" dirty="0">
              <a:solidFill>
                <a:srgbClr val="143D63"/>
              </a:solidFill>
              <a:latin typeface="Aptos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E78"/>
                </a:solidFill>
              </a:rPr>
              <a:t>Conversão de Bases Numéricas • Turma de Aprendizagem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3D63"/>
                </a:solidFill>
              </a:rPr>
              <a:t>3</a:t>
            </a:r>
          </a:p>
        </p:txBody>
      </p:sp>
      <p:pic>
        <p:nvPicPr>
          <p:cNvPr id="1026" name="Picture 2" descr="Conversão de Binário, Octal e Hexadecimal para Decimal">
            <a:extLst>
              <a:ext uri="{FF2B5EF4-FFF2-40B4-BE49-F238E27FC236}">
                <a16:creationId xmlns:a16="http://schemas.microsoft.com/office/drawing/2014/main" id="{5AE9FD2A-41C9-683A-655A-6EBA4757C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472" y="853149"/>
            <a:ext cx="9235440" cy="5185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Senai RN (@SenaiRN) • Facebook">
            <a:extLst>
              <a:ext uri="{FF2B5EF4-FFF2-40B4-BE49-F238E27FC236}">
                <a16:creationId xmlns:a16="http://schemas.microsoft.com/office/drawing/2014/main" id="{F317E237-2E33-126D-0712-7183B96DB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94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1. Decimal → Binário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divisões sucessivas por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846320" cy="429768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4663440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143D63"/>
                </a:solidFill>
                <a:latin typeface="Aptos"/>
              </a:rPr>
              <a:t>EXEMPLO: 25₁₀
25 ÷ 2 = 12  resto 1
12 ÷ 2 =  6  resto 0
 6 ÷ 2 =  3  resto 0
 3 ÷ 2 =  1  resto 1
 1 ÷ 2 =  0  resto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4572000" cy="109728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59" y="1581912"/>
            <a:ext cx="43891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09656"/>
                </a:solidFill>
                <a:latin typeface="Aptos"/>
              </a:rPr>
              <a:t>Regra: divida por 2 e anote os restos.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71800"/>
            <a:ext cx="4572000" cy="109728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59" y="3044952"/>
            <a:ext cx="43891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18B2A"/>
                </a:solidFill>
                <a:latin typeface="Aptos"/>
              </a:rPr>
              <a:t>Leia os restos de BAIXO para CIMA.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17720"/>
            <a:ext cx="4572000" cy="82296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4690872"/>
            <a:ext cx="43891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25₁₀ = 11001₂</a:t>
            </a:r>
          </a:p>
        </p:txBody>
      </p:sp>
      <p:pic>
        <p:nvPicPr>
          <p:cNvPr id="16" name="Picture 2" descr="Senai RN (@SenaiRN) • Facebook">
            <a:extLst>
              <a:ext uri="{FF2B5EF4-FFF2-40B4-BE49-F238E27FC236}">
                <a16:creationId xmlns:a16="http://schemas.microsoft.com/office/drawing/2014/main" id="{8208864F-7CF0-95FF-DFA3-3BDAAF076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Decimal → Binário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417320"/>
          <a:ext cx="99669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Número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Divisões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Resultado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82F37"/>
                          </a:solidFill>
                          <a:latin typeface="Aptos"/>
                        </a:rPr>
                        <a:t>13₁₀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82F37"/>
                          </a:solidFill>
                          <a:latin typeface="Aptos"/>
                        </a:rPr>
                        <a:t>13÷2, 6÷2, 3÷2, 1÷2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282F37"/>
                          </a:solidFill>
                          <a:latin typeface="Aptos"/>
                        </a:rPr>
                        <a:t>1101₂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188720" y="3383280"/>
            <a:ext cx="292608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456432"/>
            <a:ext cx="27432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D63"/>
                </a:solidFill>
                <a:latin typeface="Aptos"/>
              </a:rPr>
              <a:t>13 ÷ 2 = 6
resto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3383280"/>
            <a:ext cx="292608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3456432"/>
            <a:ext cx="27432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D63"/>
                </a:solidFill>
                <a:latin typeface="Aptos"/>
              </a:rPr>
              <a:t>6 ÷ 2 = 3
resto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383280"/>
            <a:ext cx="292608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79" y="3456432"/>
            <a:ext cx="274320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3D63"/>
                </a:solidFill>
                <a:latin typeface="Aptos"/>
              </a:rPr>
              <a:t>3 ÷ 2 = 1
resto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892040"/>
            <a:ext cx="4846320" cy="77724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39" y="4965192"/>
            <a:ext cx="466344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18B2A"/>
                </a:solidFill>
                <a:latin typeface="Aptos"/>
              </a:rPr>
              <a:t>1 ÷ 2 = 0 → resto 1</a:t>
            </a:r>
          </a:p>
        </p:txBody>
      </p:sp>
      <p:pic>
        <p:nvPicPr>
          <p:cNvPr id="17" name="Picture 2" descr="Senai RN (@SenaiRN) • Facebook">
            <a:extLst>
              <a:ext uri="{FF2B5EF4-FFF2-40B4-BE49-F238E27FC236}">
                <a16:creationId xmlns:a16="http://schemas.microsoft.com/office/drawing/2014/main" id="{DD75E29E-BE41-AA8E-4497-99427D39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2. Decimal → Octal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divisões sucessivas por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4846320" cy="411480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4663440" cy="3968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43D63"/>
                </a:solidFill>
                <a:latin typeface="Aptos"/>
              </a:rPr>
              <a:t>EXEMPLO: 83₁₀
83 ÷ 8 = 10  resto 3
10 ÷ 8 =  1  resto 2
 1 ÷ 8 =  0  resto 1
Leia de baixo para cima.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4572000" cy="109728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59" y="1673352"/>
            <a:ext cx="438912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18B2A"/>
                </a:solidFill>
                <a:latin typeface="Aptos"/>
              </a:rPr>
              <a:t>83₁₀ → 123₈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17720"/>
            <a:ext cx="4572000" cy="82296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59" y="4690872"/>
            <a:ext cx="43891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09656"/>
                </a:solidFill>
                <a:latin typeface="Aptos"/>
              </a:rPr>
              <a:t>Dica: decimal → octal = divide por 8.</a:t>
            </a:r>
          </a:p>
        </p:txBody>
      </p:sp>
      <p:pic>
        <p:nvPicPr>
          <p:cNvPr id="16" name="Picture 2" descr="Senai RN (@SenaiRN) • Facebook">
            <a:extLst>
              <a:ext uri="{FF2B5EF4-FFF2-40B4-BE49-F238E27FC236}">
                <a16:creationId xmlns:a16="http://schemas.microsoft.com/office/drawing/2014/main" id="{6FF265A1-FF95-D485-B664-DF506DEE8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3. Decimal → Hexadecimal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divisões sucessivas por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234440"/>
          <a:ext cx="4114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Decimal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Hexadecimal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82F37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577840" y="1554480"/>
            <a:ext cx="5303520" cy="109728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79" y="1627632"/>
            <a:ext cx="5120640" cy="950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3D63"/>
                </a:solidFill>
                <a:latin typeface="Aptos"/>
              </a:rPr>
              <a:t>EXEMPLO: 255₁₀
255 ÷ 16 = 15 resto 15
15 ÷ 16 = 0 resto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3154680"/>
            <a:ext cx="5303520" cy="1051560"/>
          </a:xfrm>
          <a:prstGeom prst="roundRect">
            <a:avLst/>
          </a:prstGeom>
          <a:solidFill>
            <a:srgbClr val="F0EB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79" y="3227832"/>
            <a:ext cx="5120640" cy="905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0529D"/>
                </a:solidFill>
                <a:latin typeface="Aptos"/>
              </a:rPr>
              <a:t>15 = F   →   15 = 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4617720"/>
            <a:ext cx="5303520" cy="82296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79" y="4690872"/>
            <a:ext cx="51206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255₁₀ = FF₁₆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3D63"/>
                </a:solidFill>
              </a:rPr>
              <a:t>7</a:t>
            </a:r>
          </a:p>
        </p:txBody>
      </p:sp>
      <p:pic>
        <p:nvPicPr>
          <p:cNvPr id="15" name="Picture 2" descr="Senai RN (@SenaiRN) • Facebook">
            <a:extLst>
              <a:ext uri="{FF2B5EF4-FFF2-40B4-BE49-F238E27FC236}">
                <a16:creationId xmlns:a16="http://schemas.microsoft.com/office/drawing/2014/main" id="{183C2D20-4511-D05B-5751-9C8256122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4. Binário → Decimal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multiplicar pelos pesos de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417320"/>
          <a:ext cx="9601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Peso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Potência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2³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2²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2¹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2⁰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Bit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282F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554480" y="3566160"/>
            <a:ext cx="9144000" cy="91440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639312"/>
            <a:ext cx="89611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143D63"/>
                </a:solidFill>
                <a:latin typeface="Aptos"/>
              </a:rPr>
              <a:t>1×8 + 1×4 + 0×2 + 1×1 =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892040"/>
            <a:ext cx="6675120" cy="77724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4965192"/>
            <a:ext cx="649224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409656"/>
                </a:solidFill>
                <a:latin typeface="Aptos"/>
              </a:rPr>
              <a:t>1101₂ = 13₁₀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3D63"/>
                </a:solidFill>
              </a:rPr>
              <a:t>8</a:t>
            </a:r>
          </a:p>
        </p:txBody>
      </p:sp>
      <p:pic>
        <p:nvPicPr>
          <p:cNvPr id="13" name="Picture 2" descr="Senai RN (@SenaiRN) • Facebook">
            <a:extLst>
              <a:ext uri="{FF2B5EF4-FFF2-40B4-BE49-F238E27FC236}">
                <a16:creationId xmlns:a16="http://schemas.microsoft.com/office/drawing/2014/main" id="{1D573020-190E-05B8-4ECF-6E2BCF430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5. Octal → Decimal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multiplicar pelos pesos 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4572000" cy="338328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44752"/>
            <a:ext cx="438912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143D63"/>
                </a:solidFill>
                <a:latin typeface="Aptos"/>
              </a:rPr>
              <a:t>EXEMPLO: 237₈
Pesos:
64   8   1
 ↓   ↓   ↓
 2   3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4846320" cy="114300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79" y="1581912"/>
            <a:ext cx="4663440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18B2A"/>
                </a:solidFill>
                <a:latin typeface="Aptos"/>
              </a:rPr>
              <a:t>2×64 = 128
3×8 = 24
7×1 =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063240"/>
            <a:ext cx="4846320" cy="105156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79" y="3136392"/>
            <a:ext cx="4663440" cy="9052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09656"/>
                </a:solidFill>
                <a:latin typeface="Aptos"/>
              </a:rPr>
              <a:t>128 + 24 + 7 = 159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617720"/>
            <a:ext cx="4846320" cy="82296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4690872"/>
            <a:ext cx="466344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237₈ = 159₁₀</a:t>
            </a:r>
          </a:p>
        </p:txBody>
      </p:sp>
      <p:pic>
        <p:nvPicPr>
          <p:cNvPr id="16" name="Picture 2" descr="Senai RN (@SenaiRN) • Facebook">
            <a:extLst>
              <a:ext uri="{FF2B5EF4-FFF2-40B4-BE49-F238E27FC236}">
                <a16:creationId xmlns:a16="http://schemas.microsoft.com/office/drawing/2014/main" id="{C273A154-FBED-FDEC-8F5B-535EE2A6BA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6. Hexadecimal → Decimal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multiplicar pelos pesos de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4389120" cy="3383280"/>
          </a:xfrm>
          <a:prstGeom prst="roundRect">
            <a:avLst/>
          </a:prstGeom>
          <a:solidFill>
            <a:srgbClr val="F0EB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90472"/>
            <a:ext cx="4206240" cy="32369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70529D"/>
                </a:solidFill>
                <a:latin typeface="Aptos"/>
              </a:rPr>
              <a:t>EXEMPLO: 2A₁₆
A = 10
Pesos:
16    1
 ↓    ↓
 2   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508760"/>
            <a:ext cx="4937760" cy="118872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0" y="1581912"/>
            <a:ext cx="4754880" cy="1042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43D63"/>
                </a:solidFill>
                <a:latin typeface="Aptos"/>
              </a:rPr>
              <a:t>2×16 = 32
A×1 =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154680"/>
            <a:ext cx="4937760" cy="100584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0" y="3227832"/>
            <a:ext cx="475488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409656"/>
                </a:solidFill>
                <a:latin typeface="Aptos"/>
              </a:rPr>
              <a:t>32 + 10 =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4617720"/>
            <a:ext cx="4937760" cy="82296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4690872"/>
            <a:ext cx="475488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2A₁₆ = 42₁₀</a:t>
            </a:r>
          </a:p>
        </p:txBody>
      </p:sp>
      <p:pic>
        <p:nvPicPr>
          <p:cNvPr id="16" name="Picture 2" descr="Senai RN (@SenaiRN) • Facebook">
            <a:extLst>
              <a:ext uri="{FF2B5EF4-FFF2-40B4-BE49-F238E27FC236}">
                <a16:creationId xmlns:a16="http://schemas.microsoft.com/office/drawing/2014/main" id="{B9586158-CA00-5C08-2BDB-E4EBCA60E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7. Binário → Octal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agrupamento de 3 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058400" cy="82296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90472"/>
            <a:ext cx="98755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43D63"/>
                </a:solidFill>
                <a:latin typeface="Aptos"/>
              </a:rPr>
              <a:t>101110₂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743200"/>
            <a:ext cx="2743200" cy="91440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816352"/>
            <a:ext cx="25603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18B2A"/>
                </a:solidFill>
                <a:latin typeface="Aptos"/>
              </a:rPr>
              <a:t>101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743200"/>
            <a:ext cx="2743200" cy="914400"/>
          </a:xfrm>
          <a:prstGeom prst="roundRect">
            <a:avLst/>
          </a:prstGeom>
          <a:solidFill>
            <a:srgbClr val="FFF4E0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2816352"/>
            <a:ext cx="25603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18B2A"/>
                </a:solidFill>
                <a:latin typeface="Aptos"/>
              </a:rPr>
              <a:t>110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931920"/>
            <a:ext cx="2743200" cy="73152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2560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9656"/>
                </a:solidFill>
                <a:latin typeface="Aptos"/>
              </a:rPr>
              <a:t>101 =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931920"/>
            <a:ext cx="2743200" cy="73152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4005072"/>
            <a:ext cx="2560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9656"/>
                </a:solidFill>
                <a:latin typeface="Aptos"/>
              </a:rPr>
              <a:t>110 =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2286000" cy="192024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16352"/>
            <a:ext cx="2103120" cy="1773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101110₂
=
56₈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166360"/>
            <a:ext cx="8046720" cy="59436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5239512"/>
            <a:ext cx="78638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3D63"/>
                </a:solidFill>
                <a:latin typeface="Aptos"/>
              </a:rPr>
              <a:t>Dica: 3 bits → 1 algarismo octal.</a:t>
            </a:r>
          </a:p>
        </p:txBody>
      </p:sp>
      <p:pic>
        <p:nvPicPr>
          <p:cNvPr id="22" name="Picture 2" descr="Senai RN (@SenaiRN) • Facebook">
            <a:extLst>
              <a:ext uri="{FF2B5EF4-FFF2-40B4-BE49-F238E27FC236}">
                <a16:creationId xmlns:a16="http://schemas.microsoft.com/office/drawing/2014/main" id="{DCBF0216-E433-D080-2A96-AAFCD9D04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8. Binário → Hexadecimal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Método: agrupamento de 4 bits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058400" cy="82296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90472"/>
            <a:ext cx="98755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143D63"/>
                </a:solidFill>
                <a:latin typeface="Aptos"/>
              </a:rPr>
              <a:t>10101111₂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743200"/>
            <a:ext cx="2743200" cy="914400"/>
          </a:xfrm>
          <a:prstGeom prst="roundRect">
            <a:avLst/>
          </a:prstGeom>
          <a:solidFill>
            <a:srgbClr val="F0EB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816352"/>
            <a:ext cx="25603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70529D"/>
                </a:solidFill>
                <a:latin typeface="Aptos"/>
              </a:rPr>
              <a:t>1010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743200"/>
            <a:ext cx="2743200" cy="914400"/>
          </a:xfrm>
          <a:prstGeom prst="roundRect">
            <a:avLst/>
          </a:prstGeom>
          <a:solidFill>
            <a:srgbClr val="F0EBF9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79" y="2816352"/>
            <a:ext cx="256032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70529D"/>
                </a:solidFill>
                <a:latin typeface="Aptos"/>
              </a:rPr>
              <a:t>1111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931920"/>
            <a:ext cx="2743200" cy="73152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4005072"/>
            <a:ext cx="2560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9656"/>
                </a:solidFill>
                <a:latin typeface="Aptos"/>
              </a:rPr>
              <a:t>1010 = 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3931920"/>
            <a:ext cx="2743200" cy="731520"/>
          </a:xfrm>
          <a:prstGeom prst="roundRect">
            <a:avLst/>
          </a:prstGeom>
          <a:solidFill>
            <a:srgbClr val="E5F5E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79" y="4005072"/>
            <a:ext cx="256032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9656"/>
                </a:solidFill>
                <a:latin typeface="Aptos"/>
              </a:rPr>
              <a:t>1111 = 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743200"/>
            <a:ext cx="2286000" cy="192024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816352"/>
            <a:ext cx="2103120" cy="1773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10101111₂
=
AF₁₆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166360"/>
            <a:ext cx="8046720" cy="594360"/>
          </a:xfrm>
          <a:prstGeom prst="roundRect">
            <a:avLst/>
          </a:prstGeom>
          <a:solidFill>
            <a:srgbClr val="EFF6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5239512"/>
            <a:ext cx="78638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3D63"/>
                </a:solidFill>
                <a:latin typeface="Aptos"/>
              </a:rPr>
              <a:t>Dica: 4 bits → 1 algarismo hexadecimal.</a:t>
            </a:r>
          </a:p>
        </p:txBody>
      </p:sp>
      <p:pic>
        <p:nvPicPr>
          <p:cNvPr id="22" name="Picture 2" descr="Senai RN (@SenaiRN) • Facebook">
            <a:extLst>
              <a:ext uri="{FF2B5EF4-FFF2-40B4-BE49-F238E27FC236}">
                <a16:creationId xmlns:a16="http://schemas.microsoft.com/office/drawing/2014/main" id="{1ECE7A9E-C4EB-02CE-1CF4-C3590F63A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Tabela rápida — binário e hexadecimal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005840"/>
          <a:ext cx="99669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Binário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Hex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0001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0011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0101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0111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1001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1011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1101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D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65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0660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1111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2F37"/>
                          </a:solidFill>
                          <a:latin typeface="Aptos"/>
                        </a:rPr>
                        <a:t>F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E78"/>
                </a:solidFill>
              </a:rPr>
              <a:t>Conversão de Bases Numéricas • Turma de Aprendizagem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3D63"/>
                </a:solidFill>
              </a:rPr>
              <a:t>13</a:t>
            </a:r>
          </a:p>
        </p:txBody>
      </p:sp>
      <p:pic>
        <p:nvPicPr>
          <p:cNvPr id="8" name="Picture 2" descr="Senai RN (@SenaiRN) • Facebook">
            <a:extLst>
              <a:ext uri="{FF2B5EF4-FFF2-40B4-BE49-F238E27FC236}">
                <a16:creationId xmlns:a16="http://schemas.microsoft.com/office/drawing/2014/main" id="{DA21A0D7-649C-EF55-DC4D-0BC4881DE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Resumo — qual método devo usar?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Conversão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Método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Decimal → Binário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Dividir por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Decimal → Octal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Dividir por 8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Decimal → Hexadecimal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Dividir por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Binário → 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Pesos / potências de 2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Octal → 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Pesos / potências de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Hexadecimal → 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Pesos / potências de 16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Binário → Octal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Agrupar 3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Binário → Hexadecimal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2F37"/>
                          </a:solidFill>
                          <a:latin typeface="Aptos"/>
                        </a:rPr>
                        <a:t>Agrupar 4 bits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4360" y="6446520"/>
            <a:ext cx="10972800" cy="18288"/>
          </a:xfrm>
          <a:prstGeom prst="rect">
            <a:avLst/>
          </a:prstGeom>
          <a:solidFill>
            <a:srgbClr val="D7D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492240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46E78"/>
                </a:solidFill>
              </a:rPr>
              <a:t>Conversão de Bases Numéricas • Turma de Aprendizagem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143D63"/>
                </a:solidFill>
              </a:rPr>
              <a:t>14</a:t>
            </a:r>
          </a:p>
        </p:txBody>
      </p:sp>
      <p:pic>
        <p:nvPicPr>
          <p:cNvPr id="8" name="Picture 2" descr="Senai RN (@SenaiRN) • Facebook">
            <a:extLst>
              <a:ext uri="{FF2B5EF4-FFF2-40B4-BE49-F238E27FC236}">
                <a16:creationId xmlns:a16="http://schemas.microsoft.com/office/drawing/2014/main" id="{FDFF1089-3350-5892-28A4-AFD9A4402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Exercícios — faça no caderno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104241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1) </a:t>
            </a:r>
            <a:r>
              <a:rPr dirty="0"/>
              <a:t> 5₁₀ → </a:t>
            </a:r>
            <a:r>
              <a:rPr dirty="0" err="1"/>
              <a:t>binário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2) </a:t>
            </a:r>
            <a:r>
              <a:rPr dirty="0"/>
              <a:t>8₁₀ → </a:t>
            </a:r>
            <a:r>
              <a:rPr dirty="0" err="1"/>
              <a:t>binário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3) </a:t>
            </a:r>
            <a:r>
              <a:rPr dirty="0"/>
              <a:t>10₁₀ → </a:t>
            </a:r>
            <a:r>
              <a:rPr dirty="0" err="1"/>
              <a:t>binário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4) </a:t>
            </a:r>
            <a:r>
              <a:rPr dirty="0"/>
              <a:t>20₁₀ → octal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5)</a:t>
            </a:r>
            <a:r>
              <a:rPr dirty="0"/>
              <a:t> 31₁₀ → hexadecimal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6) </a:t>
            </a:r>
            <a:r>
              <a:rPr dirty="0"/>
              <a:t>1010₂ → decimal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7) </a:t>
            </a:r>
            <a:r>
              <a:rPr dirty="0"/>
              <a:t>1101₂ → decimal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8) </a:t>
            </a:r>
            <a:r>
              <a:rPr dirty="0"/>
              <a:t>25₈ → decimal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9)</a:t>
            </a:r>
            <a:r>
              <a:rPr dirty="0"/>
              <a:t> 2A₁₆ → decimal</a:t>
            </a:r>
          </a:p>
          <a:p>
            <a:pPr>
              <a:spcAft>
                <a:spcPts val="1200"/>
              </a:spcAft>
              <a:defRPr sz="1800">
                <a:solidFill>
                  <a:srgbClr val="282F37"/>
                </a:solidFill>
                <a:latin typeface="Aptos"/>
              </a:defRPr>
            </a:pPr>
            <a:r>
              <a:rPr lang="pt-BR" dirty="0"/>
              <a:t>10)</a:t>
            </a:r>
            <a:r>
              <a:rPr dirty="0"/>
              <a:t> 10101111₂ → hexadecimal</a:t>
            </a:r>
          </a:p>
        </p:txBody>
      </p:sp>
      <p:pic>
        <p:nvPicPr>
          <p:cNvPr id="8" name="Picture 2" descr="Senai RN (@SenaiRN) • Facebook">
            <a:extLst>
              <a:ext uri="{FF2B5EF4-FFF2-40B4-BE49-F238E27FC236}">
                <a16:creationId xmlns:a16="http://schemas.microsoft.com/office/drawing/2014/main" id="{A52E7618-143C-E05A-07A7-16A60E649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As 4 regras para lembrar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4600" cy="1417320"/>
          </a:xfrm>
          <a:prstGeom prst="roundRect">
            <a:avLst/>
          </a:prstGeom>
          <a:solidFill>
            <a:srgbClr val="2A6CA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233172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÷ 2
Decimal → Binário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920240"/>
            <a:ext cx="2514600" cy="1417320"/>
          </a:xfrm>
          <a:prstGeom prst="roundRect">
            <a:avLst/>
          </a:prstGeom>
          <a:solidFill>
            <a:srgbClr val="E18B2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993392"/>
            <a:ext cx="233172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÷ 8
Decimal → Octal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514600" cy="1417320"/>
          </a:xfrm>
          <a:prstGeom prst="roundRect">
            <a:avLst/>
          </a:prstGeom>
          <a:solidFill>
            <a:srgbClr val="70529D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993392"/>
            <a:ext cx="233172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÷ 16
Decimal → Hex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920240"/>
            <a:ext cx="2514600" cy="1417320"/>
          </a:xfrm>
          <a:prstGeom prst="roundRect">
            <a:avLst/>
          </a:prstGeom>
          <a:solidFill>
            <a:srgbClr val="409656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15400" y="1993392"/>
            <a:ext cx="233172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 ou 4 bits
Binário → Octal/Hex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43400"/>
            <a:ext cx="8503920" cy="1005840"/>
          </a:xfrm>
          <a:prstGeom prst="roundRect">
            <a:avLst/>
          </a:prstGeom>
          <a:solidFill>
            <a:srgbClr val="245B8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4416552"/>
            <a:ext cx="832104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E quando for para decimal: use os pesos da base.</a:t>
            </a:r>
          </a:p>
        </p:txBody>
      </p:sp>
      <p:pic>
        <p:nvPicPr>
          <p:cNvPr id="14" name="Picture 2" descr="Senai RN (@SenaiRN) • Facebook">
            <a:extLst>
              <a:ext uri="{FF2B5EF4-FFF2-40B4-BE49-F238E27FC236}">
                <a16:creationId xmlns:a16="http://schemas.microsoft.com/office/drawing/2014/main" id="{0CAD6593-2549-5EBA-760A-F32AFC821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3D63"/>
                </a:solidFill>
                <a:latin typeface="Aptos Display"/>
              </a:rPr>
              <a:t>Gabarito dos exercícios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051560"/>
          <a:ext cx="103327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Exercício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Resposta</a:t>
                      </a:r>
                    </a:p>
                  </a:txBody>
                  <a:tcPr>
                    <a:solidFill>
                      <a:srgbClr val="14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5₁₀ → binário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101₂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8₁₀ → binário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1000₂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10₁₀ → binário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1010₂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20₁₀ → octal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24₈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31₁₀ → hexadecimal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1F₁₆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1010₂ → 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10₁₀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1101₂ → 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13₁₀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25₈ → 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21₁₀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3043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82F37"/>
                          </a:solidFill>
                          <a:latin typeface="Aptos"/>
                        </a:rPr>
                        <a:t>2A₁₆ → 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42₁₀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82F37"/>
                          </a:solidFill>
                          <a:latin typeface="Aptos"/>
                        </a:rPr>
                        <a:t>10101111₂ → hexadecimal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82F37"/>
                          </a:solidFill>
                          <a:latin typeface="Aptos"/>
                        </a:rPr>
                        <a:t>AF₁₆</a:t>
                      </a:r>
                    </a:p>
                  </a:txBody>
                  <a:tcPr>
                    <a:solidFill>
                      <a:srgbClr val="EF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8" name="Picture 2" descr="Senai RN (@SenaiRN) • Facebook">
            <a:extLst>
              <a:ext uri="{FF2B5EF4-FFF2-40B4-BE49-F238E27FC236}">
                <a16:creationId xmlns:a16="http://schemas.microsoft.com/office/drawing/2014/main" id="{C781FB34-B42E-F278-1DA3-0570041FB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603" y="182880"/>
            <a:ext cx="1486813" cy="757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1017</Words>
  <Application>Microsoft Office PowerPoint</Application>
  <PresentationFormat>Widescreen</PresentationFormat>
  <Paragraphs>277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DA SILVA</cp:lastModifiedBy>
  <cp:revision>11</cp:revision>
  <dcterms:created xsi:type="dcterms:W3CDTF">2013-01-27T09:14:16Z</dcterms:created>
  <dcterms:modified xsi:type="dcterms:W3CDTF">2026-09-15T21:10:45Z</dcterms:modified>
  <cp:category/>
</cp:coreProperties>
</file>