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81" r:id="rId3"/>
    <p:sldId id="256" r:id="rId4"/>
    <p:sldId id="275" r:id="rId5"/>
    <p:sldId id="278" r:id="rId6"/>
    <p:sldId id="279" r:id="rId7"/>
    <p:sldId id="280" r:id="rId8"/>
    <p:sldId id="276" r:id="rId9"/>
    <p:sldId id="272" r:id="rId10"/>
    <p:sldId id="273" r:id="rId11"/>
    <p:sldId id="274" r:id="rId12"/>
    <p:sldId id="27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28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9570" y="11151"/>
            <a:ext cx="12191695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08584" y="475047"/>
            <a:ext cx="10972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chemeClr val="bg1"/>
                </a:solidFill>
                <a:latin typeface="Aptos"/>
              </a:rPr>
              <a:t>S</a:t>
            </a:r>
            <a:r>
              <a:rPr sz="2800" b="1" dirty="0" err="1">
                <a:solidFill>
                  <a:schemeClr val="bg1"/>
                </a:solidFill>
                <a:latin typeface="Aptos"/>
              </a:rPr>
              <a:t>istema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pt-BR" sz="2800" b="1" dirty="0">
                <a:solidFill>
                  <a:schemeClr val="bg1"/>
                </a:solidFill>
                <a:latin typeface="Aptos"/>
              </a:rPr>
              <a:t>S</a:t>
            </a:r>
            <a:r>
              <a:rPr sz="2800" b="1" dirty="0" err="1">
                <a:solidFill>
                  <a:schemeClr val="bg1"/>
                </a:solidFill>
                <a:latin typeface="Aptos"/>
              </a:rPr>
              <a:t>upervisório</a:t>
            </a:r>
            <a:r>
              <a:rPr lang="pt-BR" sz="2800" b="1" dirty="0">
                <a:solidFill>
                  <a:schemeClr val="bg1"/>
                </a:solidFill>
                <a:latin typeface="Aptos"/>
              </a:rPr>
              <a:t>/SCADA!!!</a:t>
            </a:r>
          </a:p>
          <a:p>
            <a:pPr algn="ctr"/>
            <a:endParaRPr lang="pt-BR" sz="2800" b="1" dirty="0">
              <a:solidFill>
                <a:schemeClr val="bg1"/>
              </a:solidFill>
              <a:latin typeface="Apto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chemeClr val="bg1"/>
                </a:solidFill>
                <a:latin typeface="Aptos"/>
              </a:rPr>
              <a:t>O que é?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>
              <a:solidFill>
                <a:schemeClr val="bg1"/>
              </a:solidFill>
              <a:latin typeface="Apto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chemeClr val="bg1"/>
                </a:solidFill>
                <a:latin typeface="Aptos"/>
              </a:rPr>
              <a:t>Para que serve?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>
              <a:solidFill>
                <a:schemeClr val="bg1"/>
              </a:solidFill>
              <a:latin typeface="Apto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chemeClr val="bg1"/>
                </a:solidFill>
                <a:latin typeface="Aptos"/>
              </a:rPr>
              <a:t>Onde encontramos?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>
              <a:solidFill>
                <a:schemeClr val="bg1"/>
              </a:solidFill>
              <a:latin typeface="Apto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chemeClr val="bg1"/>
                </a:solidFill>
                <a:latin typeface="Aptos"/>
              </a:rPr>
              <a:t>Alguém conhece ?</a:t>
            </a:r>
          </a:p>
          <a:p>
            <a:endParaRPr sz="28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54480" y="16276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Visualização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6276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Histórico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2</a:t>
            </a:r>
          </a:p>
        </p:txBody>
      </p:sp>
      <p:pic>
        <p:nvPicPr>
          <p:cNvPr id="35" name="Picture 2" descr="Senai RN (@SenaiRN) • Facebook">
            <a:extLst>
              <a:ext uri="{FF2B5EF4-FFF2-40B4-BE49-F238E27FC236}">
                <a16:creationId xmlns:a16="http://schemas.microsoft.com/office/drawing/2014/main" id="{7AC6A16A-58D6-F66B-6C65-8EE80ECCC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16">
            <a:extLst>
              <a:ext uri="{FF2B5EF4-FFF2-40B4-BE49-F238E27FC236}">
                <a16:creationId xmlns:a16="http://schemas.microsoft.com/office/drawing/2014/main" id="{020EFC19-200F-1BD1-ADFF-4CD64D546716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  <p:pic>
        <p:nvPicPr>
          <p:cNvPr id="2052" name="Picture 4" descr="See the source image">
            <a:extLst>
              <a:ext uri="{FF2B5EF4-FFF2-40B4-BE49-F238E27FC236}">
                <a16:creationId xmlns:a16="http://schemas.microsoft.com/office/drawing/2014/main" id="{4AE385A4-D507-C092-5730-055BD6E4A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490" y="1335356"/>
            <a:ext cx="6764198" cy="475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6EFAD083-4429-131E-7709-841A76E79BF3}"/>
              </a:ext>
            </a:extLst>
          </p:cNvPr>
          <p:cNvSpPr txBox="1"/>
          <p:nvPr/>
        </p:nvSpPr>
        <p:spPr>
          <a:xfrm>
            <a:off x="-17843" y="43787"/>
            <a:ext cx="2114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10/09/2026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453"/>
            <a:ext cx="12191695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4747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chemeClr val="bg1"/>
                </a:solidFill>
                <a:latin typeface="Aptos"/>
              </a:rPr>
              <a:t>1. O que é um </a:t>
            </a:r>
            <a:r>
              <a:rPr sz="2800" b="1" dirty="0" err="1">
                <a:solidFill>
                  <a:schemeClr val="bg1"/>
                </a:solidFill>
                <a:latin typeface="Aptos"/>
              </a:rPr>
              <a:t>sistema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800" b="1" dirty="0" err="1">
                <a:solidFill>
                  <a:schemeClr val="bg1"/>
                </a:solidFill>
                <a:latin typeface="Aptos"/>
              </a:rPr>
              <a:t>supervisório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chemeClr val="bg1"/>
                </a:solidFill>
                <a:latin typeface="Aptos"/>
              </a:rPr>
              <a:t>Uma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camada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que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transforma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dados do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processo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em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informação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operacional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417320"/>
            <a:ext cx="3840480" cy="2971800"/>
          </a:xfrm>
          <a:prstGeom prst="round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15968" y="1527048"/>
            <a:ext cx="3621024" cy="2532888"/>
          </a:xfrm>
          <a:prstGeom prst="roundRect">
            <a:avLst/>
          </a:prstGeom>
          <a:solidFill>
            <a:srgbClr val="EBF2F8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34840" y="163677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369B4"/>
                </a:solidFill>
                <a:latin typeface="Aptos"/>
              </a:rPr>
              <a:t>TELA SINÓTICA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194560"/>
            <a:ext cx="685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5F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59" y="23774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369B4"/>
                </a:solidFill>
                <a:latin typeface="Aptos"/>
              </a:rPr>
              <a:t>LEVEL
72%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03520" y="2651760"/>
            <a:ext cx="594359" cy="0"/>
          </a:xfrm>
          <a:prstGeom prst="line">
            <a:avLst/>
          </a:prstGeom>
          <a:ln w="25400">
            <a:solidFill>
              <a:srgbClr val="2CA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897879" y="2441448"/>
            <a:ext cx="457200" cy="457200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258568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303C"/>
                </a:solidFill>
                <a:latin typeface="Aptos"/>
              </a:rPr>
              <a:t>PRESSÃO 4,2 bar
VAZÃO 38 m³/h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5319165" y="2103120"/>
            <a:ext cx="594361" cy="365760"/>
          </a:xfrm>
          <a:prstGeom prst="line">
            <a:avLst/>
          </a:prstGeom>
          <a:ln w="27940">
            <a:solidFill>
              <a:srgbClr val="E689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97881" y="2112156"/>
            <a:ext cx="548639" cy="182880"/>
          </a:xfrm>
          <a:prstGeom prst="line">
            <a:avLst/>
          </a:prstGeom>
          <a:ln w="27940">
            <a:solidFill>
              <a:srgbClr val="E689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34840" y="407822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5F6C7A"/>
                </a:solidFill>
                <a:latin typeface="Aptos"/>
              </a:rPr>
              <a:t>ALARMES   TENDÊNCIAS   COMANDOS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463040"/>
            <a:ext cx="2971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1691640"/>
            <a:ext cx="475488" cy="475488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16276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Visualização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19476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C7A"/>
                </a:solidFill>
                <a:latin typeface="Aptos"/>
              </a:rPr>
              <a:t>Ver o processo em tempo real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971800"/>
            <a:ext cx="2971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400" y="3200400"/>
            <a:ext cx="475488" cy="475488"/>
          </a:xfrm>
          <a:prstGeom prst="ellipse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1363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Alarmes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4564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C7A"/>
                </a:solidFill>
                <a:latin typeface="Aptos"/>
              </a:rPr>
              <a:t>Detectar desvios e eventos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1463040"/>
            <a:ext cx="2971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95359" y="1691640"/>
            <a:ext cx="475488" cy="475488"/>
          </a:xfrm>
          <a:prstGeom prst="ellipse">
            <a:avLst/>
          </a:prstGeom>
          <a:solidFill>
            <a:srgbClr val="715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6276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Histórico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19476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C7A"/>
                </a:solidFill>
                <a:latin typeface="Aptos"/>
              </a:rPr>
              <a:t>Registrar dados e tendências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2971800"/>
            <a:ext cx="2971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595359" y="3200400"/>
            <a:ext cx="475488" cy="475488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31363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Comandos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4564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C7A"/>
                </a:solidFill>
                <a:latin typeface="Aptos"/>
              </a:rPr>
              <a:t>Permitir ações autorizadas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2</a:t>
            </a:r>
          </a:p>
        </p:txBody>
      </p:sp>
      <p:pic>
        <p:nvPicPr>
          <p:cNvPr id="35" name="Picture 2" descr="Senai RN (@SenaiRN) • Facebook">
            <a:extLst>
              <a:ext uri="{FF2B5EF4-FFF2-40B4-BE49-F238E27FC236}">
                <a16:creationId xmlns:a16="http://schemas.microsoft.com/office/drawing/2014/main" id="{7AC6A16A-58D6-F66B-6C65-8EE80ECCC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16">
            <a:extLst>
              <a:ext uri="{FF2B5EF4-FFF2-40B4-BE49-F238E27FC236}">
                <a16:creationId xmlns:a16="http://schemas.microsoft.com/office/drawing/2014/main" id="{020EFC19-200F-1BD1-ADFF-4CD64D546716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7697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02" y="11151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SISTEMAS SUPERVISÓRIOS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CD7F0"/>
                </a:solidFill>
                <a:latin typeface="Aptos"/>
              </a:rPr>
              <a:t>IHM • Supervisão Local e Remota • SCADA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788920"/>
            <a:ext cx="960120" cy="960120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04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CAMPO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3264408"/>
            <a:ext cx="1755648" cy="0"/>
          </a:xfrm>
          <a:prstGeom prst="line">
            <a:avLst/>
          </a:prstGeom>
          <a:ln w="38100">
            <a:solidFill>
              <a:srgbClr val="82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749039" y="2788920"/>
            <a:ext cx="960120" cy="960120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8" y="3840480"/>
            <a:ext cx="185444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CLP / U</a:t>
            </a:r>
            <a:r>
              <a:rPr lang="pt-BR" sz="1300" b="1" dirty="0">
                <a:solidFill>
                  <a:srgbClr val="FFFFFF"/>
                </a:solidFill>
                <a:latin typeface="Aptos"/>
              </a:rPr>
              <a:t>NIDADE TERMINAL REMOTA</a:t>
            </a:r>
            <a:endParaRPr sz="1300" b="1" dirty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4736592" y="3264408"/>
            <a:ext cx="1755648" cy="0"/>
          </a:xfrm>
          <a:prstGeom prst="line">
            <a:avLst/>
          </a:prstGeom>
          <a:ln w="38100">
            <a:solidFill>
              <a:srgbClr val="82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37960" y="2788920"/>
            <a:ext cx="960120" cy="960120"/>
          </a:xfrm>
          <a:prstGeom prst="ellipse">
            <a:avLst/>
          </a:prstGeom>
          <a:solidFill>
            <a:srgbClr val="715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8404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SCADA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25512" y="3264408"/>
            <a:ext cx="1755648" cy="0"/>
          </a:xfrm>
          <a:prstGeom prst="line">
            <a:avLst/>
          </a:prstGeom>
          <a:ln w="38100">
            <a:solidFill>
              <a:srgbClr val="82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235440" y="2788920"/>
            <a:ext cx="960120" cy="960120"/>
          </a:xfrm>
          <a:prstGeom prst="ellipse">
            <a:avLst/>
          </a:prstGeom>
          <a:solidFill>
            <a:srgbClr val="E6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38404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OPERADOR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Da variável física à decisão: medir → controlar → supervisionar → agir</a:t>
            </a:r>
          </a:p>
        </p:txBody>
      </p:sp>
      <p:pic>
        <p:nvPicPr>
          <p:cNvPr id="1026" name="Picture 2" descr="Senai RN (@SenaiRN) • Facebook">
            <a:extLst>
              <a:ext uri="{FF2B5EF4-FFF2-40B4-BE49-F238E27FC236}">
                <a16:creationId xmlns:a16="http://schemas.microsoft.com/office/drawing/2014/main" id="{7F2EC2D7-D91C-7767-F79E-3DCA9CB5D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6">
            <a:extLst>
              <a:ext uri="{FF2B5EF4-FFF2-40B4-BE49-F238E27FC236}">
                <a16:creationId xmlns:a16="http://schemas.microsoft.com/office/drawing/2014/main" id="{9D8FD226-7FF9-5F2B-B1AD-1574FCA2924D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02" y="11151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SISTEMAS SUPERVISÓRIOS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788920"/>
            <a:ext cx="960120" cy="960120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04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CAMPO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3264408"/>
            <a:ext cx="1755648" cy="0"/>
          </a:xfrm>
          <a:prstGeom prst="line">
            <a:avLst/>
          </a:prstGeom>
          <a:ln w="38100">
            <a:solidFill>
              <a:srgbClr val="82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749039" y="2788920"/>
            <a:ext cx="960120" cy="960120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8" y="3840480"/>
            <a:ext cx="185444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CLP / U</a:t>
            </a:r>
            <a:r>
              <a:rPr lang="pt-BR" sz="1300" b="1" dirty="0">
                <a:solidFill>
                  <a:srgbClr val="FFFFFF"/>
                </a:solidFill>
                <a:latin typeface="Aptos"/>
              </a:rPr>
              <a:t>NIDADE TERMINAL REMOTA</a:t>
            </a:r>
            <a:endParaRPr sz="1300" b="1" dirty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4782312" y="3264408"/>
            <a:ext cx="1755648" cy="0"/>
          </a:xfrm>
          <a:prstGeom prst="line">
            <a:avLst/>
          </a:prstGeom>
          <a:ln w="38100">
            <a:solidFill>
              <a:srgbClr val="82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37960" y="2788920"/>
            <a:ext cx="960120" cy="960120"/>
          </a:xfrm>
          <a:prstGeom prst="ellipse">
            <a:avLst/>
          </a:prstGeom>
          <a:solidFill>
            <a:srgbClr val="715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8404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SCADA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25512" y="3264408"/>
            <a:ext cx="1755648" cy="0"/>
          </a:xfrm>
          <a:prstGeom prst="line">
            <a:avLst/>
          </a:prstGeom>
          <a:ln w="38100">
            <a:solidFill>
              <a:srgbClr val="82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235440" y="2788920"/>
            <a:ext cx="960120" cy="960120"/>
          </a:xfrm>
          <a:prstGeom prst="ellipse">
            <a:avLst/>
          </a:prstGeom>
          <a:solidFill>
            <a:srgbClr val="E6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38404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OPERADOR</a:t>
            </a:r>
          </a:p>
        </p:txBody>
      </p:sp>
      <p:pic>
        <p:nvPicPr>
          <p:cNvPr id="1026" name="Picture 2" descr="Senai RN (@SenaiRN) • Facebook">
            <a:extLst>
              <a:ext uri="{FF2B5EF4-FFF2-40B4-BE49-F238E27FC236}">
                <a16:creationId xmlns:a16="http://schemas.microsoft.com/office/drawing/2014/main" id="{7F2EC2D7-D91C-7767-F79E-3DCA9CB5D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C69478E2-8864-5D41-3E27-957A57383D33}"/>
              </a:ext>
            </a:extLst>
          </p:cNvPr>
          <p:cNvCxnSpPr/>
          <p:nvPr/>
        </p:nvCxnSpPr>
        <p:spPr>
          <a:xfrm flipV="1">
            <a:off x="1457739" y="1802296"/>
            <a:ext cx="2291300" cy="98662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7AD0D76-2A31-8089-A32F-377241E9C76B}"/>
              </a:ext>
            </a:extLst>
          </p:cNvPr>
          <p:cNvSpPr txBox="1"/>
          <p:nvPr/>
        </p:nvSpPr>
        <p:spPr>
          <a:xfrm>
            <a:off x="3712264" y="1495653"/>
            <a:ext cx="1257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EXEMPLO 1</a:t>
            </a:r>
          </a:p>
        </p:txBody>
      </p:sp>
      <p:cxnSp>
        <p:nvCxnSpPr>
          <p:cNvPr id="21" name="Conector: Angulado 20">
            <a:extLst>
              <a:ext uri="{FF2B5EF4-FFF2-40B4-BE49-F238E27FC236}">
                <a16:creationId xmlns:a16="http://schemas.microsoft.com/office/drawing/2014/main" id="{CCB06AAB-2301-FE97-0859-C1856056DB87}"/>
              </a:ext>
            </a:extLst>
          </p:cNvPr>
          <p:cNvCxnSpPr>
            <a:cxnSpLocks/>
            <a:stCxn id="5" idx="5"/>
          </p:cNvCxnSpPr>
          <p:nvPr/>
        </p:nvCxnSpPr>
        <p:spPr>
          <a:xfrm rot="16200000" flipH="1">
            <a:off x="1244913" y="4097435"/>
            <a:ext cx="1312372" cy="3343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712A300-9301-17E6-9F3D-72C92FBF6A32}"/>
              </a:ext>
            </a:extLst>
          </p:cNvPr>
          <p:cNvSpPr txBox="1"/>
          <p:nvPr/>
        </p:nvSpPr>
        <p:spPr>
          <a:xfrm>
            <a:off x="1439633" y="4934188"/>
            <a:ext cx="1257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EXEMPLO 2</a:t>
            </a:r>
          </a:p>
        </p:txBody>
      </p: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076ADB69-777A-FED6-5147-935AEC58F8F7}"/>
              </a:ext>
            </a:extLst>
          </p:cNvPr>
          <p:cNvCxnSpPr>
            <a:cxnSpLocks/>
          </p:cNvCxnSpPr>
          <p:nvPr/>
        </p:nvCxnSpPr>
        <p:spPr>
          <a:xfrm rot="16200000" flipH="1">
            <a:off x="-52615" y="4482553"/>
            <a:ext cx="2137689" cy="528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46DF70E-001C-8523-A6E6-A954150574ED}"/>
              </a:ext>
            </a:extLst>
          </p:cNvPr>
          <p:cNvSpPr txBox="1"/>
          <p:nvPr/>
        </p:nvSpPr>
        <p:spPr>
          <a:xfrm>
            <a:off x="334732" y="5632251"/>
            <a:ext cx="1257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EXEMPLO 3</a:t>
            </a:r>
          </a:p>
        </p:txBody>
      </p: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id="{97901AB3-0E59-872F-94F6-FDB5E980D249}"/>
              </a:ext>
            </a:extLst>
          </p:cNvPr>
          <p:cNvCxnSpPr>
            <a:cxnSpLocks/>
            <a:stCxn id="14" idx="1"/>
          </p:cNvCxnSpPr>
          <p:nvPr/>
        </p:nvCxnSpPr>
        <p:spPr>
          <a:xfrm rot="5400000" flipH="1" flipV="1">
            <a:off x="9331824" y="2065790"/>
            <a:ext cx="907958" cy="8195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F89D147-AF08-59C4-D649-427D420F7527}"/>
              </a:ext>
            </a:extLst>
          </p:cNvPr>
          <p:cNvSpPr txBox="1"/>
          <p:nvPr/>
        </p:nvSpPr>
        <p:spPr>
          <a:xfrm>
            <a:off x="9474838" y="1707468"/>
            <a:ext cx="1257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EXEMPLO 6</a:t>
            </a: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834D7764-33DB-9914-D69F-566E9D98CA3F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16004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02" y="11151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SISTEMAS SUPERVISÓRIOS</a:t>
            </a:r>
          </a:p>
        </p:txBody>
      </p:sp>
      <p:pic>
        <p:nvPicPr>
          <p:cNvPr id="1026" name="Picture 2" descr="Senai RN (@SenaiRN) • Facebook">
            <a:extLst>
              <a:ext uri="{FF2B5EF4-FFF2-40B4-BE49-F238E27FC236}">
                <a16:creationId xmlns:a16="http://schemas.microsoft.com/office/drawing/2014/main" id="{7F2EC2D7-D91C-7767-F79E-3DCA9CB5D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16">
            <a:extLst>
              <a:ext uri="{FF2B5EF4-FFF2-40B4-BE49-F238E27FC236}">
                <a16:creationId xmlns:a16="http://schemas.microsoft.com/office/drawing/2014/main" id="{834D7764-33DB-9914-D69F-566E9D98CA3F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7C71FA4-8CD4-42BC-7678-01F339081DC4}"/>
              </a:ext>
            </a:extLst>
          </p:cNvPr>
          <p:cNvSpPr txBox="1"/>
          <p:nvPr/>
        </p:nvSpPr>
        <p:spPr>
          <a:xfrm>
            <a:off x="795528" y="1200297"/>
            <a:ext cx="1115857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pt-BR" sz="2000" b="1" i="1" dirty="0">
                <a:solidFill>
                  <a:schemeClr val="bg1">
                    <a:lumMod val="85000"/>
                  </a:schemeClr>
                </a:solidFill>
                <a:effectLst/>
                <a:latin typeface="Open Sans" panose="020B0606030504020204" pitchFamily="34" charset="0"/>
              </a:rPr>
              <a:t>Unidades Terminais Remotas (</a:t>
            </a:r>
            <a:r>
              <a:rPr lang="pt-BR" sz="2000" b="1" i="1" dirty="0" err="1">
                <a:solidFill>
                  <a:schemeClr val="bg1">
                    <a:lumMod val="85000"/>
                  </a:schemeClr>
                </a:solidFill>
                <a:effectLst/>
                <a:latin typeface="Open Sans" panose="020B0606030504020204" pitchFamily="34" charset="0"/>
              </a:rPr>
              <a:t>UTRs</a:t>
            </a:r>
            <a:r>
              <a:rPr lang="pt-BR" sz="2000" b="1" i="1" dirty="0">
                <a:solidFill>
                  <a:schemeClr val="bg1">
                    <a:lumMod val="85000"/>
                  </a:schemeClr>
                </a:solidFill>
                <a:effectLst/>
                <a:latin typeface="Open Sans" panose="020B0606030504020204" pitchFamily="34" charset="0"/>
              </a:rPr>
              <a:t>)</a:t>
            </a:r>
            <a:r>
              <a:rPr lang="pt-BR" sz="2000" b="0" i="0" dirty="0">
                <a:solidFill>
                  <a:schemeClr val="bg1">
                    <a:lumMod val="85000"/>
                  </a:schemeClr>
                </a:solidFill>
                <a:effectLst/>
                <a:latin typeface="Open Sans" panose="020B0606030504020204" pitchFamily="34" charset="0"/>
              </a:rPr>
              <a:t> São dispositivos que se </a:t>
            </a:r>
            <a:r>
              <a:rPr lang="pt-BR" sz="2000" b="0" i="0" dirty="0" err="1">
                <a:solidFill>
                  <a:schemeClr val="bg1">
                    <a:lumMod val="85000"/>
                  </a:schemeClr>
                </a:solidFill>
                <a:effectLst/>
                <a:latin typeface="Open Sans" panose="020B0606030504020204" pitchFamily="34" charset="0"/>
              </a:rPr>
              <a:t>conectão</a:t>
            </a:r>
            <a:r>
              <a:rPr lang="pt-BR" sz="2000" b="0" i="0" dirty="0">
                <a:solidFill>
                  <a:schemeClr val="bg1">
                    <a:lumMod val="85000"/>
                  </a:schemeClr>
                </a:solidFill>
                <a:effectLst/>
                <a:latin typeface="Open Sans" panose="020B0606030504020204" pitchFamily="34" charset="0"/>
              </a:rPr>
              <a:t> aos sensores do processo, convertendo os dados coletados em sinais digitais que por sua vez são enviados para o sistema de armazenamento de dados para que sejam disponibilizados conforme necessidade (sistema de supervisão, controle de inventário , </a:t>
            </a:r>
            <a:r>
              <a:rPr lang="pt-BR" sz="2000" b="0" i="0" dirty="0" err="1">
                <a:solidFill>
                  <a:schemeClr val="bg1">
                    <a:lumMod val="85000"/>
                  </a:schemeClr>
                </a:solidFill>
                <a:effectLst/>
                <a:latin typeface="Open Sans" panose="020B0606030504020204" pitchFamily="34" charset="0"/>
              </a:rPr>
              <a:t>etc</a:t>
            </a:r>
            <a:r>
              <a:rPr lang="pt-BR" sz="2000" b="0" i="0" dirty="0">
                <a:solidFill>
                  <a:schemeClr val="bg1">
                    <a:lumMod val="85000"/>
                  </a:schemeClr>
                </a:solidFill>
                <a:effectLst/>
                <a:latin typeface="Open Sans" panose="020B0606030504020204" pitchFamily="34" charset="0"/>
              </a:rPr>
              <a:t>)</a:t>
            </a:r>
          </a:p>
          <a:p>
            <a:pPr algn="just"/>
            <a:endParaRPr lang="pt-BR" sz="2000" b="0" i="0" dirty="0">
              <a:solidFill>
                <a:schemeClr val="bg1">
                  <a:lumMod val="85000"/>
                </a:schemeClr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13316" name="Picture 4" descr="Distributed process I/O | Siemens">
            <a:extLst>
              <a:ext uri="{FF2B5EF4-FFF2-40B4-BE49-F238E27FC236}">
                <a16:creationId xmlns:a16="http://schemas.microsoft.com/office/drawing/2014/main" id="{E96A4E53-C58C-E8C4-4ED9-1F05A57B0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751565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4810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02" y="11151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SISTEMAS SUPERVISÓRIOS</a:t>
            </a:r>
          </a:p>
        </p:txBody>
      </p:sp>
      <p:pic>
        <p:nvPicPr>
          <p:cNvPr id="1026" name="Picture 2" descr="Senai RN (@SenaiRN) • Facebook">
            <a:extLst>
              <a:ext uri="{FF2B5EF4-FFF2-40B4-BE49-F238E27FC236}">
                <a16:creationId xmlns:a16="http://schemas.microsoft.com/office/drawing/2014/main" id="{7F2EC2D7-D91C-7767-F79E-3DCA9CB5D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16">
            <a:extLst>
              <a:ext uri="{FF2B5EF4-FFF2-40B4-BE49-F238E27FC236}">
                <a16:creationId xmlns:a16="http://schemas.microsoft.com/office/drawing/2014/main" id="{834D7764-33DB-9914-D69F-566E9D98CA3F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7C71FA4-8CD4-42BC-7678-01F339081DC4}"/>
              </a:ext>
            </a:extLst>
          </p:cNvPr>
          <p:cNvSpPr txBox="1"/>
          <p:nvPr/>
        </p:nvSpPr>
        <p:spPr>
          <a:xfrm>
            <a:off x="795528" y="1200297"/>
            <a:ext cx="111585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pt-BR" sz="2000" b="1" i="1" dirty="0">
                <a:solidFill>
                  <a:schemeClr val="bg1">
                    <a:lumMod val="85000"/>
                  </a:schemeClr>
                </a:solidFill>
                <a:effectLst/>
                <a:latin typeface="Open Sans" panose="020B0606030504020204" pitchFamily="34" charset="0"/>
              </a:rPr>
              <a:t>Controlador lógico programável (</a:t>
            </a:r>
            <a:r>
              <a:rPr lang="pt-BR" sz="2000" b="1" i="1" dirty="0" err="1">
                <a:solidFill>
                  <a:schemeClr val="bg1">
                    <a:lumMod val="85000"/>
                  </a:schemeClr>
                </a:solidFill>
                <a:effectLst/>
                <a:latin typeface="Open Sans" panose="020B0606030504020204" pitchFamily="34" charset="0"/>
              </a:rPr>
              <a:t>PLCs</a:t>
            </a:r>
            <a:r>
              <a:rPr lang="pt-BR" sz="2000" b="1" i="1" dirty="0">
                <a:solidFill>
                  <a:schemeClr val="bg1">
                    <a:lumMod val="85000"/>
                  </a:schemeClr>
                </a:solidFill>
                <a:effectLst/>
                <a:latin typeface="Open Sans" panose="020B0606030504020204" pitchFamily="34" charset="0"/>
              </a:rPr>
              <a:t>)</a:t>
            </a:r>
            <a:r>
              <a:rPr lang="pt-BR" sz="2000" b="1" i="0" dirty="0">
                <a:solidFill>
                  <a:schemeClr val="bg1">
                    <a:lumMod val="85000"/>
                  </a:schemeClr>
                </a:solidFill>
                <a:effectLst/>
                <a:latin typeface="Open Sans" panose="020B0606030504020204" pitchFamily="34" charset="0"/>
              </a:rPr>
              <a:t> ou Controlador Programável</a:t>
            </a:r>
            <a:r>
              <a:rPr lang="pt-BR" sz="2000" b="0" i="0" dirty="0">
                <a:solidFill>
                  <a:schemeClr val="bg1">
                    <a:lumMod val="85000"/>
                  </a:schemeClr>
                </a:solidFill>
                <a:effectLst/>
                <a:latin typeface="Open Sans" panose="020B0606030504020204" pitchFamily="34" charset="0"/>
              </a:rPr>
              <a:t>: é um computador industrial que foi reforçado e adaptado para o controle de processos de fabricação.</a:t>
            </a:r>
          </a:p>
        </p:txBody>
      </p:sp>
      <p:pic>
        <p:nvPicPr>
          <p:cNvPr id="12294" name="Picture 6" descr="Sistemas de automação industrial SIMATIC | Siemens">
            <a:extLst>
              <a:ext uri="{FF2B5EF4-FFF2-40B4-BE49-F238E27FC236}">
                <a16:creationId xmlns:a16="http://schemas.microsoft.com/office/drawing/2014/main" id="{796C2C02-EC7A-FD10-0230-AE2A5C6D7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453" y="2512899"/>
            <a:ext cx="4705815" cy="3529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0284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02" y="11151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SISTEMAS SUPERVISÓRIOS</a:t>
            </a:r>
          </a:p>
        </p:txBody>
      </p:sp>
      <p:pic>
        <p:nvPicPr>
          <p:cNvPr id="1026" name="Picture 2" descr="Senai RN (@SenaiRN) • Facebook">
            <a:extLst>
              <a:ext uri="{FF2B5EF4-FFF2-40B4-BE49-F238E27FC236}">
                <a16:creationId xmlns:a16="http://schemas.microsoft.com/office/drawing/2014/main" id="{7F2EC2D7-D91C-7767-F79E-3DCA9CB5D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16">
            <a:extLst>
              <a:ext uri="{FF2B5EF4-FFF2-40B4-BE49-F238E27FC236}">
                <a16:creationId xmlns:a16="http://schemas.microsoft.com/office/drawing/2014/main" id="{834D7764-33DB-9914-D69F-566E9D98CA3F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7C71FA4-8CD4-42BC-7678-01F339081DC4}"/>
              </a:ext>
            </a:extLst>
          </p:cNvPr>
          <p:cNvSpPr txBox="1"/>
          <p:nvPr/>
        </p:nvSpPr>
        <p:spPr>
          <a:xfrm>
            <a:off x="795528" y="1200297"/>
            <a:ext cx="111585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pt-BR" sz="2000" b="1" i="1" dirty="0">
                <a:solidFill>
                  <a:schemeClr val="bg1">
                    <a:lumMod val="85000"/>
                  </a:schemeClr>
                </a:solidFill>
                <a:effectLst/>
                <a:latin typeface="Open Sans" panose="020B0606030504020204" pitchFamily="34" charset="0"/>
              </a:rPr>
              <a:t>Supervisório</a:t>
            </a:r>
            <a:r>
              <a:rPr lang="pt-BR" sz="2000" b="0" i="0" dirty="0">
                <a:solidFill>
                  <a:schemeClr val="bg1">
                    <a:lumMod val="85000"/>
                  </a:schemeClr>
                </a:solidFill>
                <a:effectLst/>
                <a:latin typeface="Open Sans" panose="020B0606030504020204" pitchFamily="34" charset="0"/>
              </a:rPr>
              <a:t>: Sistema de supervisão que reúne todos os dados necessários sobre o processo.</a:t>
            </a:r>
          </a:p>
        </p:txBody>
      </p:sp>
      <p:pic>
        <p:nvPicPr>
          <p:cNvPr id="11266" name="Picture 2" descr="SIMATIC WinCC V8 | Siemens">
            <a:extLst>
              <a:ext uri="{FF2B5EF4-FFF2-40B4-BE49-F238E27FC236}">
                <a16:creationId xmlns:a16="http://schemas.microsoft.com/office/drawing/2014/main" id="{7609FEF1-CB5F-F7CA-79C6-7F8922506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293" y="1908183"/>
            <a:ext cx="8372336" cy="418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752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12648" y="34747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Aptos"/>
              </a:rPr>
              <a:t>2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. </a:t>
            </a:r>
            <a:r>
              <a:rPr lang="pt-BR" sz="2800" b="1" dirty="0">
                <a:solidFill>
                  <a:schemeClr val="bg1"/>
                </a:solidFill>
                <a:latin typeface="Aptos"/>
              </a:rPr>
              <a:t>Sistema SCADA!</a:t>
            </a:r>
            <a:endParaRPr sz="28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54480" y="16276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Visualização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1363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Alarmes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6276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Histórico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31363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Comandos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6240" y="1345055"/>
            <a:ext cx="102412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SCADA significa Controle de Supervisão e Aquisição de Dados, mas é um termo frequentemente usado para coleta e apresentação de dados.</a:t>
            </a:r>
          </a:p>
          <a:p>
            <a:pPr algn="ctr"/>
            <a:r>
              <a:rPr lang="pt-BR" sz="16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Na maioria dos casos esse sistema SCADA reúne um pacote de software projetado para exibir informações, registrar dados e mostrar alarmes.</a:t>
            </a:r>
            <a:endParaRPr lang="pt-BR" sz="1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2</a:t>
            </a:r>
          </a:p>
        </p:txBody>
      </p:sp>
      <p:pic>
        <p:nvPicPr>
          <p:cNvPr id="35" name="Picture 2" descr="Senai RN (@SenaiRN) • Facebook">
            <a:extLst>
              <a:ext uri="{FF2B5EF4-FFF2-40B4-BE49-F238E27FC236}">
                <a16:creationId xmlns:a16="http://schemas.microsoft.com/office/drawing/2014/main" id="{7AC6A16A-58D6-F66B-6C65-8EE80ECCC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16">
            <a:extLst>
              <a:ext uri="{FF2B5EF4-FFF2-40B4-BE49-F238E27FC236}">
                <a16:creationId xmlns:a16="http://schemas.microsoft.com/office/drawing/2014/main" id="{DD13DCF3-B673-16F9-6A7E-1B3981DAD4CB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  <p:pic>
        <p:nvPicPr>
          <p:cNvPr id="7170" name="Picture 2" descr="See the source image">
            <a:extLst>
              <a:ext uri="{FF2B5EF4-FFF2-40B4-BE49-F238E27FC236}">
                <a16:creationId xmlns:a16="http://schemas.microsoft.com/office/drawing/2014/main" id="{C41EF8D3-E57D-0F01-80EB-4F67DE30A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748" y="2407241"/>
            <a:ext cx="7105650" cy="382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257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lipse Power monitora usinas do Complexo de Lajes da Light Energia - Elipse  Software">
            <a:extLst>
              <a:ext uri="{FF2B5EF4-FFF2-40B4-BE49-F238E27FC236}">
                <a16:creationId xmlns:a16="http://schemas.microsoft.com/office/drawing/2014/main" id="{5BEB366C-E98E-906E-FEBF-A5763001C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429" y="762763"/>
            <a:ext cx="9978136" cy="5631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Senai RN (@SenaiRN) • Facebook">
            <a:extLst>
              <a:ext uri="{FF2B5EF4-FFF2-40B4-BE49-F238E27FC236}">
                <a16:creationId xmlns:a16="http://schemas.microsoft.com/office/drawing/2014/main" id="{48473C15-974A-C8C0-0E9D-8881B3136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297" y="54971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16">
            <a:extLst>
              <a:ext uri="{FF2B5EF4-FFF2-40B4-BE49-F238E27FC236}">
                <a16:creationId xmlns:a16="http://schemas.microsoft.com/office/drawing/2014/main" id="{066D70B8-82CB-EC99-7F89-B47750CC73FC}"/>
              </a:ext>
            </a:extLst>
          </p:cNvPr>
          <p:cNvSpPr txBox="1"/>
          <p:nvPr/>
        </p:nvSpPr>
        <p:spPr>
          <a:xfrm>
            <a:off x="795528" y="6449081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EDFCFAA0-3118-54F9-B38B-ECD32BE08CFD}"/>
              </a:ext>
            </a:extLst>
          </p:cNvPr>
          <p:cNvSpPr txBox="1"/>
          <p:nvPr/>
        </p:nvSpPr>
        <p:spPr>
          <a:xfrm>
            <a:off x="246888" y="8586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Aptos"/>
              </a:rPr>
              <a:t>2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.</a:t>
            </a:r>
            <a:r>
              <a:rPr lang="pt-BR" sz="2800" b="1" dirty="0">
                <a:solidFill>
                  <a:schemeClr val="bg1"/>
                </a:solidFill>
                <a:latin typeface="Aptos"/>
              </a:rPr>
              <a:t>1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pt-BR" sz="2800" b="1" dirty="0">
                <a:solidFill>
                  <a:schemeClr val="bg1"/>
                </a:solidFill>
                <a:latin typeface="Aptos"/>
              </a:rPr>
              <a:t>Exemplos de SCADA.</a:t>
            </a:r>
            <a:endParaRPr sz="2800" b="1" dirty="0">
              <a:solidFill>
                <a:schemeClr val="bg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122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Elipse E3 nas Usinas Hidrelétricas Ilha Solteira e Engenheiro Souza Dias  (Jupiá) - Elipse Software">
            <a:extLst>
              <a:ext uri="{FF2B5EF4-FFF2-40B4-BE49-F238E27FC236}">
                <a16:creationId xmlns:a16="http://schemas.microsoft.com/office/drawing/2014/main" id="{022423F2-8210-DF33-35F9-F20AC7089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254" y="765044"/>
            <a:ext cx="6418708" cy="5415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Senai RN (@SenaiRN) • Facebook">
            <a:extLst>
              <a:ext uri="{FF2B5EF4-FFF2-40B4-BE49-F238E27FC236}">
                <a16:creationId xmlns:a16="http://schemas.microsoft.com/office/drawing/2014/main" id="{877FEB71-BAEA-1023-7D44-941B00F61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165" y="163772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16">
            <a:extLst>
              <a:ext uri="{FF2B5EF4-FFF2-40B4-BE49-F238E27FC236}">
                <a16:creationId xmlns:a16="http://schemas.microsoft.com/office/drawing/2014/main" id="{0C2C55C6-0825-B33A-CA29-E733D711B8EC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CAD5964-5390-DEA9-2A43-21DC667C6F86}"/>
              </a:ext>
            </a:extLst>
          </p:cNvPr>
          <p:cNvSpPr txBox="1"/>
          <p:nvPr/>
        </p:nvSpPr>
        <p:spPr>
          <a:xfrm>
            <a:off x="246888" y="8586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Aptos"/>
              </a:rPr>
              <a:t>2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.</a:t>
            </a:r>
            <a:r>
              <a:rPr lang="pt-BR" sz="2800" b="1" dirty="0">
                <a:solidFill>
                  <a:schemeClr val="bg1"/>
                </a:solidFill>
                <a:latin typeface="Aptos"/>
              </a:rPr>
              <a:t>1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pt-BR" sz="2800" b="1" dirty="0">
                <a:solidFill>
                  <a:schemeClr val="bg1"/>
                </a:solidFill>
                <a:latin typeface="Aptos"/>
              </a:rPr>
              <a:t>Exemplos de SCADA.</a:t>
            </a:r>
            <a:endParaRPr sz="2800" b="1" dirty="0">
              <a:solidFill>
                <a:schemeClr val="bg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00535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enai RN (@SenaiRN) • Facebook">
            <a:extLst>
              <a:ext uri="{FF2B5EF4-FFF2-40B4-BE49-F238E27FC236}">
                <a16:creationId xmlns:a16="http://schemas.microsoft.com/office/drawing/2014/main" id="{877FEB71-BAEA-1023-7D44-941B00F61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165" y="163772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See the source image">
            <a:extLst>
              <a:ext uri="{FF2B5EF4-FFF2-40B4-BE49-F238E27FC236}">
                <a16:creationId xmlns:a16="http://schemas.microsoft.com/office/drawing/2014/main" id="{20E270ED-EBFC-02D0-24EA-23CF83391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595438"/>
            <a:ext cx="51816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16">
            <a:extLst>
              <a:ext uri="{FF2B5EF4-FFF2-40B4-BE49-F238E27FC236}">
                <a16:creationId xmlns:a16="http://schemas.microsoft.com/office/drawing/2014/main" id="{FDC558B0-7282-55E7-6F24-B29D84BB42C3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C2C84A1-D366-FE6A-B3E7-F634CF03C370}"/>
              </a:ext>
            </a:extLst>
          </p:cNvPr>
          <p:cNvSpPr txBox="1"/>
          <p:nvPr/>
        </p:nvSpPr>
        <p:spPr>
          <a:xfrm>
            <a:off x="344022" y="39778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Aptos"/>
              </a:rPr>
              <a:t>2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.</a:t>
            </a:r>
            <a:r>
              <a:rPr lang="pt-BR" sz="2800" b="1" dirty="0">
                <a:solidFill>
                  <a:schemeClr val="bg1"/>
                </a:solidFill>
                <a:latin typeface="Aptos"/>
              </a:rPr>
              <a:t>1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pt-BR" sz="2800" b="1" dirty="0">
                <a:solidFill>
                  <a:schemeClr val="bg1"/>
                </a:solidFill>
                <a:latin typeface="Aptos"/>
              </a:rPr>
              <a:t>Exemplos de SCADA.</a:t>
            </a:r>
            <a:endParaRPr sz="2800" b="1" dirty="0">
              <a:solidFill>
                <a:schemeClr val="bg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11984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enai RN (@SenaiRN) • Facebook">
            <a:extLst>
              <a:ext uri="{FF2B5EF4-FFF2-40B4-BE49-F238E27FC236}">
                <a16:creationId xmlns:a16="http://schemas.microsoft.com/office/drawing/2014/main" id="{877FEB71-BAEA-1023-7D44-941B00F61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165" y="163772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16">
            <a:extLst>
              <a:ext uri="{FF2B5EF4-FFF2-40B4-BE49-F238E27FC236}">
                <a16:creationId xmlns:a16="http://schemas.microsoft.com/office/drawing/2014/main" id="{FDC558B0-7282-55E7-6F24-B29D84BB42C3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9E496E1-7971-FE9F-5749-E8C48D995448}"/>
              </a:ext>
            </a:extLst>
          </p:cNvPr>
          <p:cNvSpPr txBox="1"/>
          <p:nvPr/>
        </p:nvSpPr>
        <p:spPr>
          <a:xfrm>
            <a:off x="1709532" y="736342"/>
            <a:ext cx="6042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ONDE SÃO APLICADOS OS SISTEMA SCADA: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B6A2F08-CD41-01DF-F038-036F527D85E6}"/>
              </a:ext>
            </a:extLst>
          </p:cNvPr>
          <p:cNvSpPr txBox="1"/>
          <p:nvPr/>
        </p:nvSpPr>
        <p:spPr>
          <a:xfrm>
            <a:off x="1543879" y="1617610"/>
            <a:ext cx="7692885" cy="2943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EXEMPLO 1: ?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Open Sans" panose="020B0606030504020204" pitchFamily="34" charset="0"/>
              </a:rPr>
              <a:t>EXEMPLO 2: 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Open Sans" panose="020B0606030504020204" pitchFamily="34" charset="0"/>
              </a:rPr>
              <a:t>EXEMPLO 3: 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Open Sans" panose="020B0606030504020204" pitchFamily="34" charset="0"/>
              </a:rPr>
              <a:t>EXEMPLO 4: ?</a:t>
            </a:r>
            <a:endParaRPr lang="pt-B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519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Aptos"/>
              </a:rPr>
              <a:t>3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. IHM — Interface </a:t>
            </a:r>
            <a:r>
              <a:rPr sz="2800" b="1" dirty="0" err="1">
                <a:solidFill>
                  <a:schemeClr val="bg1"/>
                </a:solidFill>
                <a:latin typeface="Aptos"/>
              </a:rPr>
              <a:t>Homem-Máquina</a:t>
            </a:r>
            <a:endParaRPr sz="28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O </a:t>
            </a:r>
            <a:r>
              <a:rPr sz="13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ponto</a:t>
            </a:r>
            <a:r>
              <a:rPr sz="13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de </a:t>
            </a:r>
            <a:r>
              <a:rPr sz="13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interação</a:t>
            </a:r>
            <a:r>
              <a:rPr sz="13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entre </a:t>
            </a:r>
            <a:r>
              <a:rPr sz="13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operador</a:t>
            </a:r>
            <a:r>
              <a:rPr sz="13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e </a:t>
            </a:r>
            <a:r>
              <a:rPr sz="13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equipamento</a:t>
            </a:r>
            <a:r>
              <a:rPr sz="13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/</a:t>
            </a:r>
            <a:r>
              <a:rPr sz="13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processo</a:t>
            </a:r>
            <a:r>
              <a:rPr sz="13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4846320" cy="3657600"/>
          </a:xfrm>
          <a:prstGeom prst="round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435607"/>
            <a:ext cx="4626864" cy="3218688"/>
          </a:xfrm>
          <a:prstGeom prst="roundRect">
            <a:avLst/>
          </a:prstGeom>
          <a:solidFill>
            <a:srgbClr val="EBF2F8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4533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369B4"/>
                </a:solidFill>
                <a:latin typeface="Aptos"/>
              </a:rPr>
              <a:t>IHM LOCAL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103120"/>
            <a:ext cx="685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5F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2860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369B4"/>
                </a:solidFill>
                <a:latin typeface="Aptos"/>
              </a:rPr>
              <a:t>LEVEL
72%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2560320"/>
            <a:ext cx="594360" cy="0"/>
          </a:xfrm>
          <a:prstGeom prst="line">
            <a:avLst/>
          </a:prstGeom>
          <a:ln w="25400">
            <a:solidFill>
              <a:srgbClr val="2CA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331720" y="2350008"/>
            <a:ext cx="457200" cy="457200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0360" y="21671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303C"/>
                </a:solidFill>
                <a:latin typeface="Aptos"/>
              </a:rPr>
              <a:t>PRESSÃO 4,2 bar
VAZÃO 38 m³/h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788920" y="2834639"/>
            <a:ext cx="594359" cy="365760"/>
          </a:xfrm>
          <a:prstGeom prst="line">
            <a:avLst/>
          </a:prstGeom>
          <a:ln w="27940">
            <a:solidFill>
              <a:srgbClr val="E689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83279" y="2834639"/>
            <a:ext cx="548641" cy="182881"/>
          </a:xfrm>
          <a:prstGeom prst="line">
            <a:avLst/>
          </a:prstGeom>
          <a:ln w="27940">
            <a:solidFill>
              <a:srgbClr val="E689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467258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5F6C7A"/>
                </a:solidFill>
                <a:latin typeface="Aptos"/>
              </a:rPr>
              <a:t>ALARMES   TENDÊNCIAS   COMANDOS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417320"/>
            <a:ext cx="521208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6303C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•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Exibe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estados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valores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e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condições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do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processo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>
              <a:spcAft>
                <a:spcPts val="500"/>
              </a:spcAft>
              <a:defRPr sz="1700">
                <a:solidFill>
                  <a:srgbClr val="26303C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•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Permite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comandos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e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ajustes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autorizados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>
              <a:spcAft>
                <a:spcPts val="500"/>
              </a:spcAft>
              <a:defRPr sz="1700">
                <a:solidFill>
                  <a:srgbClr val="26303C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•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Apresenta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alarmes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e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mensagens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ao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operador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>
              <a:spcAft>
                <a:spcPts val="500"/>
              </a:spcAft>
              <a:defRPr sz="1700">
                <a:solidFill>
                  <a:srgbClr val="26303C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•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Pode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mostrar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tendências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receitas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e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diagnósticos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>
              <a:spcAft>
                <a:spcPts val="500"/>
              </a:spcAft>
              <a:defRPr sz="1700">
                <a:solidFill>
                  <a:srgbClr val="26303C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•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Normalmente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está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próxima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da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máquina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ou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célula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4294008"/>
            <a:ext cx="4937760" cy="960120"/>
          </a:xfrm>
          <a:prstGeom prst="roundRect">
            <a:avLst/>
          </a:prstGeom>
          <a:solidFill>
            <a:srgbClr val="E9F4FA"/>
          </a:solidFill>
          <a:ln>
            <a:solidFill>
              <a:srgbClr val="2CA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446227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14263F"/>
                </a:solidFill>
                <a:latin typeface="Aptos"/>
              </a:rPr>
              <a:t>IHM ≠ CLP
A IHM </a:t>
            </a:r>
            <a:r>
              <a:rPr sz="1400" b="1" dirty="0" err="1">
                <a:solidFill>
                  <a:srgbClr val="14263F"/>
                </a:solidFill>
                <a:latin typeface="Aptos"/>
              </a:rPr>
              <a:t>apresenta</a:t>
            </a:r>
            <a:r>
              <a:rPr sz="1400" b="1" dirty="0">
                <a:solidFill>
                  <a:srgbClr val="14263F"/>
                </a:solidFill>
                <a:latin typeface="Aptos"/>
              </a:rPr>
              <a:t> e </a:t>
            </a:r>
            <a:r>
              <a:rPr sz="1400" b="1" dirty="0" err="1">
                <a:solidFill>
                  <a:srgbClr val="14263F"/>
                </a:solidFill>
                <a:latin typeface="Aptos"/>
              </a:rPr>
              <a:t>interage</a:t>
            </a:r>
            <a:r>
              <a:rPr sz="1400" b="1" dirty="0">
                <a:solidFill>
                  <a:srgbClr val="14263F"/>
                </a:solidFill>
                <a:latin typeface="Aptos"/>
              </a:rPr>
              <a:t>; o CLP </a:t>
            </a:r>
            <a:r>
              <a:rPr sz="1400" b="1" dirty="0" err="1">
                <a:solidFill>
                  <a:srgbClr val="14263F"/>
                </a:solidFill>
                <a:latin typeface="Aptos"/>
              </a:rPr>
              <a:t>executa</a:t>
            </a:r>
            <a:r>
              <a:rPr sz="1400" b="1" dirty="0">
                <a:solidFill>
                  <a:srgbClr val="14263F"/>
                </a:solidFill>
                <a:latin typeface="Aptos"/>
              </a:rPr>
              <a:t> a </a:t>
            </a:r>
            <a:r>
              <a:rPr sz="1400" b="1" dirty="0" err="1">
                <a:solidFill>
                  <a:srgbClr val="14263F"/>
                </a:solidFill>
                <a:latin typeface="Aptos"/>
              </a:rPr>
              <a:t>lógica</a:t>
            </a:r>
            <a:r>
              <a:rPr sz="1400" b="1" dirty="0">
                <a:solidFill>
                  <a:srgbClr val="14263F"/>
                </a:solidFill>
                <a:latin typeface="Aptos"/>
              </a:rPr>
              <a:t> de </a:t>
            </a:r>
            <a:r>
              <a:rPr sz="1400" b="1" dirty="0" err="1">
                <a:solidFill>
                  <a:srgbClr val="14263F"/>
                </a:solidFill>
                <a:latin typeface="Aptos"/>
              </a:rPr>
              <a:t>controle</a:t>
            </a:r>
            <a:r>
              <a:rPr sz="1400" b="1" dirty="0">
                <a:solidFill>
                  <a:srgbClr val="14263F"/>
                </a:solidFill>
                <a:latin typeface="Apto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3</a:t>
            </a:r>
          </a:p>
        </p:txBody>
      </p:sp>
      <p:pic>
        <p:nvPicPr>
          <p:cNvPr id="5122" name="Picture 2" descr="Automação | Hidroenergia">
            <a:extLst>
              <a:ext uri="{FF2B5EF4-FFF2-40B4-BE49-F238E27FC236}">
                <a16:creationId xmlns:a16="http://schemas.microsoft.com/office/drawing/2014/main" id="{11316705-9D95-B34C-CFD0-D10C01A19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35" y="1211022"/>
            <a:ext cx="5750685" cy="383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16">
            <a:extLst>
              <a:ext uri="{FF2B5EF4-FFF2-40B4-BE49-F238E27FC236}">
                <a16:creationId xmlns:a16="http://schemas.microsoft.com/office/drawing/2014/main" id="{6B5F943D-8E09-56AA-70D7-1FF69B09240A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  <p:pic>
        <p:nvPicPr>
          <p:cNvPr id="22" name="Picture 2" descr="Senai RN (@SenaiRN) • Facebook">
            <a:extLst>
              <a:ext uri="{FF2B5EF4-FFF2-40B4-BE49-F238E27FC236}">
                <a16:creationId xmlns:a16="http://schemas.microsoft.com/office/drawing/2014/main" id="{62179C32-EED2-0B53-0A69-AC8B5BB5D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165" y="163772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Aptos"/>
              </a:rPr>
              <a:t>4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. IHM x SCADA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Mesma</a:t>
            </a:r>
            <a:r>
              <a:rPr sz="14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</a:t>
            </a:r>
            <a:r>
              <a:rPr sz="14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ideia</a:t>
            </a:r>
            <a:r>
              <a:rPr sz="14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de </a:t>
            </a:r>
            <a:r>
              <a:rPr sz="14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interação</a:t>
            </a:r>
            <a:r>
              <a:rPr sz="14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, mas </a:t>
            </a:r>
            <a:r>
              <a:rPr sz="14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em</a:t>
            </a:r>
            <a:r>
              <a:rPr sz="14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</a:t>
            </a:r>
            <a:r>
              <a:rPr sz="14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níveis</a:t>
            </a:r>
            <a:r>
              <a:rPr sz="14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</a:t>
            </a:r>
            <a:r>
              <a:rPr sz="14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diferentes</a:t>
            </a:r>
            <a:r>
              <a:rPr sz="14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de </a:t>
            </a:r>
            <a:r>
              <a:rPr sz="14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supervisão</a:t>
            </a:r>
            <a:r>
              <a:rPr sz="14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1663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1663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369B4"/>
                </a:solidFill>
                <a:latin typeface="Aptos"/>
              </a:rPr>
              <a:t>IHM — visão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57276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157AA"/>
                </a:solidFill>
                <a:latin typeface="Aptos"/>
              </a:rPr>
              <a:t>SCADA — visão supervisória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4434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Uma máquina ou célula</a:t>
            </a:r>
          </a:p>
          <a:p>
            <a:pPr>
              <a:spcAft>
                <a:spcPts val="5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Operação junto ao processo</a:t>
            </a:r>
          </a:p>
          <a:p>
            <a:pPr>
              <a:spcAft>
                <a:spcPts val="5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Tela dedicada</a:t>
            </a:r>
          </a:p>
          <a:p>
            <a:pPr>
              <a:spcAft>
                <a:spcPts val="5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Diagnóstico local</a:t>
            </a:r>
          </a:p>
          <a:p>
            <a:pPr>
              <a:spcAft>
                <a:spcPts val="5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Resposta rápida do operador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48840"/>
            <a:ext cx="4434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Várias máquinas/áreas</a:t>
            </a:r>
          </a:p>
          <a:p>
            <a:pPr>
              <a:spcAft>
                <a:spcPts val="5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Sala de controle ou acesso remoto</a:t>
            </a:r>
          </a:p>
          <a:p>
            <a:pPr>
              <a:spcAft>
                <a:spcPts val="5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Múltiplas telas e usuários</a:t>
            </a:r>
          </a:p>
          <a:p>
            <a:pPr>
              <a:spcAft>
                <a:spcPts val="5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Alarmes e histórico centralizados</a:t>
            </a:r>
          </a:p>
          <a:p>
            <a:pPr>
              <a:spcAft>
                <a:spcPts val="5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Análise e integração de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9788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Regra</a:t>
            </a:r>
            <a:r>
              <a:rPr sz="14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</a:t>
            </a:r>
            <a:r>
              <a:rPr sz="1400" b="1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prática</a:t>
            </a:r>
            <a:r>
              <a:rPr sz="14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: IHM </a:t>
            </a:r>
            <a:r>
              <a:rPr sz="1400" b="1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tende</a:t>
            </a:r>
            <a:r>
              <a:rPr sz="14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a ser local e </a:t>
            </a:r>
            <a:r>
              <a:rPr sz="1400" b="1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focada</a:t>
            </a:r>
            <a:r>
              <a:rPr sz="14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; SCADA </a:t>
            </a:r>
            <a:r>
              <a:rPr sz="1400" b="1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tende</a:t>
            </a:r>
            <a:r>
              <a:rPr sz="14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a ser </a:t>
            </a:r>
            <a:r>
              <a:rPr sz="1400" b="1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centralizado</a:t>
            </a:r>
            <a:r>
              <a:rPr sz="14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e </a:t>
            </a:r>
            <a:r>
              <a:rPr sz="1400" b="1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abrangente</a:t>
            </a:r>
            <a:r>
              <a:rPr sz="14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4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C7B346BF-FDFE-B323-9C82-A8CA5DF750A0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  <p:pic>
        <p:nvPicPr>
          <p:cNvPr id="9218" name="Picture 2" descr="IHM painel de texto – Série TP - Delta Electronics">
            <a:extLst>
              <a:ext uri="{FF2B5EF4-FFF2-40B4-BE49-F238E27FC236}">
                <a16:creationId xmlns:a16="http://schemas.microsoft.com/office/drawing/2014/main" id="{56B1BBC1-DE23-1D1D-0032-89CF90B4A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360" y="3133940"/>
            <a:ext cx="2926080" cy="2926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Scada: 3,1 mil imagens, fotos e ilustrações stock livres de direitos |  Shutterstock">
            <a:extLst>
              <a:ext uri="{FF2B5EF4-FFF2-40B4-BE49-F238E27FC236}">
                <a16:creationId xmlns:a16="http://schemas.microsoft.com/office/drawing/2014/main" id="{377BECBB-868E-EFF8-A0A0-7CE630BCB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082" y="3755299"/>
            <a:ext cx="3368329" cy="191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Senai RN (@SenaiRN) • Facebook">
            <a:extLst>
              <a:ext uri="{FF2B5EF4-FFF2-40B4-BE49-F238E27FC236}">
                <a16:creationId xmlns:a16="http://schemas.microsoft.com/office/drawing/2014/main" id="{C5F9F254-AEC0-BC46-EF32-4DEE7A6AD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165" y="163772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151"/>
            <a:ext cx="12191695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5</a:t>
            </a:r>
            <a:r>
              <a:rPr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. </a:t>
            </a:r>
            <a:r>
              <a:rPr sz="28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Supervisão</a:t>
            </a:r>
            <a:r>
              <a:rPr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Local e </a:t>
            </a:r>
            <a:r>
              <a:rPr sz="28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Remota</a:t>
            </a:r>
            <a:endParaRPr sz="2800" b="1" dirty="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5F6C7A"/>
                </a:solidFill>
                <a:latin typeface="Aptos"/>
              </a:rPr>
              <a:t>A </a:t>
            </a:r>
            <a:r>
              <a:rPr sz="1300" b="0" dirty="0" err="1">
                <a:solidFill>
                  <a:srgbClr val="5F6C7A"/>
                </a:solidFill>
                <a:latin typeface="Aptos"/>
              </a:rPr>
              <a:t>mesma</a:t>
            </a:r>
            <a:r>
              <a:rPr sz="1300" b="0" dirty="0">
                <a:solidFill>
                  <a:srgbClr val="5F6C7A"/>
                </a:solidFill>
                <a:latin typeface="Aptos"/>
              </a:rPr>
              <a:t> planta </a:t>
            </a:r>
            <a:r>
              <a:rPr sz="1300" b="0" dirty="0" err="1">
                <a:solidFill>
                  <a:srgbClr val="5F6C7A"/>
                </a:solidFill>
                <a:latin typeface="Aptos"/>
              </a:rPr>
              <a:t>pode</a:t>
            </a:r>
            <a:r>
              <a:rPr sz="1300" b="0" dirty="0">
                <a:solidFill>
                  <a:srgbClr val="5F6C7A"/>
                </a:solidFill>
                <a:latin typeface="Aptos"/>
              </a:rPr>
              <a:t> ser </a:t>
            </a:r>
            <a:r>
              <a:rPr sz="1300" b="0" dirty="0" err="1">
                <a:solidFill>
                  <a:srgbClr val="5F6C7A"/>
                </a:solidFill>
                <a:latin typeface="Aptos"/>
              </a:rPr>
              <a:t>acompanhada</a:t>
            </a:r>
            <a:r>
              <a:rPr sz="1300" b="0" dirty="0">
                <a:solidFill>
                  <a:srgbClr val="5F6C7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F6C7A"/>
                </a:solidFill>
                <a:latin typeface="Aptos"/>
              </a:rPr>
              <a:t>em</a:t>
            </a:r>
            <a:r>
              <a:rPr sz="1300" b="0" dirty="0">
                <a:solidFill>
                  <a:srgbClr val="5F6C7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F6C7A"/>
                </a:solidFill>
                <a:latin typeface="Aptos"/>
              </a:rPr>
              <a:t>diferentes</a:t>
            </a:r>
            <a:r>
              <a:rPr sz="1300" b="0" dirty="0">
                <a:solidFill>
                  <a:srgbClr val="5F6C7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F6C7A"/>
                </a:solidFill>
                <a:latin typeface="Aptos"/>
              </a:rPr>
              <a:t>pontos</a:t>
            </a:r>
            <a:r>
              <a:rPr sz="1300" b="0" dirty="0">
                <a:solidFill>
                  <a:srgbClr val="5F6C7A"/>
                </a:solidFill>
                <a:latin typeface="Aptos"/>
              </a:rPr>
              <a:t> da </a:t>
            </a:r>
            <a:r>
              <a:rPr sz="1300" b="0" dirty="0" err="1">
                <a:solidFill>
                  <a:srgbClr val="5F6C7A"/>
                </a:solidFill>
                <a:latin typeface="Aptos"/>
              </a:rPr>
              <a:t>operação</a:t>
            </a:r>
            <a:r>
              <a:rPr sz="1300" b="0" dirty="0">
                <a:solidFill>
                  <a:srgbClr val="5F6C7A"/>
                </a:solidFill>
                <a:latin typeface="Aptos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29669"/>
                </a:solidFill>
                <a:latin typeface="Aptos"/>
              </a:rPr>
              <a:t>SUPERVISÃO LOCAL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148840"/>
            <a:ext cx="2194560" cy="1828800"/>
          </a:xfrm>
          <a:prstGeom prst="round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52728" y="2258568"/>
            <a:ext cx="1975104" cy="1389888"/>
          </a:xfrm>
          <a:prstGeom prst="roundRect">
            <a:avLst/>
          </a:prstGeom>
          <a:solidFill>
            <a:srgbClr val="EBF2F8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368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369B4"/>
                </a:solidFill>
                <a:latin typeface="Aptos"/>
              </a:rPr>
              <a:t>IHM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46376" y="2677930"/>
            <a:ext cx="685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5F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31089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369B4"/>
                </a:solidFill>
                <a:latin typeface="Aptos"/>
              </a:rPr>
              <a:t>LEVEL
72%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3383280"/>
            <a:ext cx="594360" cy="0"/>
          </a:xfrm>
          <a:prstGeom prst="line">
            <a:avLst/>
          </a:prstGeom>
          <a:ln w="25400">
            <a:solidFill>
              <a:srgbClr val="2CA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834640" y="3172968"/>
            <a:ext cx="457200" cy="457200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flipH="1">
            <a:off x="2071248" y="2353461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26303C"/>
                </a:solidFill>
                <a:latin typeface="Aptos"/>
              </a:rPr>
              <a:t>PRESSÃO 4,2 bar
VAZÃO 38 m³/h</a:t>
            </a: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>
            <a:off x="2622988" y="2738514"/>
            <a:ext cx="369900" cy="434009"/>
          </a:xfrm>
          <a:prstGeom prst="line">
            <a:avLst/>
          </a:prstGeom>
          <a:ln w="27940">
            <a:solidFill>
              <a:srgbClr val="E689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71600" y="366674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5F6C7A"/>
                </a:solidFill>
                <a:latin typeface="Aptos"/>
              </a:rPr>
              <a:t>ALARMES   TENDÊNCIAS   COMANDOS</a:t>
            </a:r>
          </a:p>
        </p:txBody>
      </p:sp>
      <p:sp>
        <p:nvSpPr>
          <p:cNvPr id="18" name="Oval 17"/>
          <p:cNvSpPr/>
          <p:nvPr/>
        </p:nvSpPr>
        <p:spPr>
          <a:xfrm>
            <a:off x="3527662" y="2482343"/>
            <a:ext cx="640080" cy="640080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124047" y="2947821"/>
            <a:ext cx="502920" cy="274320"/>
          </a:xfrm>
          <a:prstGeom prst="line">
            <a:avLst/>
          </a:prstGeom>
          <a:ln w="31750">
            <a:solidFill>
              <a:srgbClr val="32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4297680"/>
            <a:ext cx="46634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 err="1">
                <a:solidFill>
                  <a:srgbClr val="5F6C7A"/>
                </a:solidFill>
                <a:latin typeface="Aptos"/>
              </a:rPr>
              <a:t>Operador</a:t>
            </a:r>
            <a:r>
              <a:rPr sz="1300" b="0" dirty="0">
                <a:solidFill>
                  <a:srgbClr val="5F6C7A"/>
                </a:solidFill>
                <a:latin typeface="Aptos"/>
              </a:rPr>
              <a:t> no </a:t>
            </a:r>
            <a:r>
              <a:rPr sz="1300" b="0" dirty="0" err="1">
                <a:solidFill>
                  <a:srgbClr val="5F6C7A"/>
                </a:solidFill>
                <a:latin typeface="Aptos"/>
              </a:rPr>
              <a:t>painel</a:t>
            </a:r>
            <a:r>
              <a:rPr sz="1300" b="0" dirty="0">
                <a:solidFill>
                  <a:srgbClr val="5F6C7A"/>
                </a:solidFill>
                <a:latin typeface="Aptos"/>
              </a:rPr>
              <a:t> • rede local • </a:t>
            </a:r>
            <a:r>
              <a:rPr sz="1300" b="0" dirty="0" err="1">
                <a:solidFill>
                  <a:srgbClr val="5F6C7A"/>
                </a:solidFill>
                <a:latin typeface="Aptos"/>
              </a:rPr>
              <a:t>comandos</a:t>
            </a:r>
            <a:r>
              <a:rPr sz="1300" b="0" dirty="0">
                <a:solidFill>
                  <a:srgbClr val="5F6C7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F6C7A"/>
                </a:solidFill>
                <a:latin typeface="Aptos"/>
              </a:rPr>
              <a:t>próximos</a:t>
            </a:r>
            <a:r>
              <a:rPr sz="1300" b="0" dirty="0">
                <a:solidFill>
                  <a:srgbClr val="5F6C7A"/>
                </a:solidFill>
                <a:latin typeface="Aptos"/>
              </a:rPr>
              <a:t> do </a:t>
            </a:r>
            <a:r>
              <a:rPr sz="1300" b="0" dirty="0" err="1">
                <a:solidFill>
                  <a:srgbClr val="5F6C7A"/>
                </a:solidFill>
                <a:latin typeface="Aptos"/>
              </a:rPr>
              <a:t>equipamento</a:t>
            </a:r>
            <a:endParaRPr sz="1300" b="0" dirty="0">
              <a:solidFill>
                <a:srgbClr val="5F6C7A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63640" y="1417320"/>
            <a:ext cx="53492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7157AA"/>
                </a:solidFill>
                <a:latin typeface="Aptos"/>
              </a:rPr>
              <a:t>SUPERVISÃO REMOTA</a:t>
            </a:r>
          </a:p>
        </p:txBody>
      </p:sp>
      <p:sp>
        <p:nvSpPr>
          <p:cNvPr id="23" name="Oval 22"/>
          <p:cNvSpPr/>
          <p:nvPr/>
        </p:nvSpPr>
        <p:spPr>
          <a:xfrm>
            <a:off x="6903720" y="2423160"/>
            <a:ext cx="640080" cy="640080"/>
          </a:xfrm>
          <a:prstGeom prst="ellipse">
            <a:avLst/>
          </a:prstGeom>
          <a:solidFill>
            <a:srgbClr val="715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35240" y="2743200"/>
            <a:ext cx="822960" cy="0"/>
          </a:xfrm>
          <a:prstGeom prst="line">
            <a:avLst/>
          </a:prstGeom>
          <a:ln w="31750">
            <a:solidFill>
              <a:srgbClr val="715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458200" y="2057400"/>
            <a:ext cx="2331720" cy="2011680"/>
          </a:xfrm>
          <a:prstGeom prst="round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567928" y="2167128"/>
            <a:ext cx="2112263" cy="1572768"/>
          </a:xfrm>
          <a:prstGeom prst="roundRect">
            <a:avLst/>
          </a:prstGeom>
          <a:solidFill>
            <a:srgbClr val="EBF2F8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0" y="2276856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369B4"/>
                </a:solidFill>
                <a:latin typeface="Aptos"/>
              </a:rPr>
              <a:t>SCADA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2677930"/>
            <a:ext cx="685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5F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0" y="30175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369B4"/>
                </a:solidFill>
                <a:latin typeface="Aptos"/>
              </a:rPr>
              <a:t>LEVEL
72%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55480" y="3291840"/>
            <a:ext cx="594360" cy="0"/>
          </a:xfrm>
          <a:prstGeom prst="line">
            <a:avLst/>
          </a:prstGeom>
          <a:ln w="25400">
            <a:solidFill>
              <a:srgbClr val="2CA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149840" y="3081528"/>
            <a:ext cx="457200" cy="457200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51107" y="2400038"/>
            <a:ext cx="1741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26303C"/>
                </a:solidFill>
                <a:latin typeface="Aptos"/>
              </a:rPr>
              <a:t>PRESSÃO 4,2 bar
VAZÃO 38 m³/h</a:t>
            </a:r>
          </a:p>
        </p:txBody>
      </p:sp>
      <p:cxnSp>
        <p:nvCxnSpPr>
          <p:cNvPr id="33" name="Connector 32"/>
          <p:cNvCxnSpPr>
            <a:cxnSpLocks/>
          </p:cNvCxnSpPr>
          <p:nvPr/>
        </p:nvCxnSpPr>
        <p:spPr>
          <a:xfrm flipH="1" flipV="1">
            <a:off x="10149840" y="2783949"/>
            <a:ext cx="58971" cy="365760"/>
          </a:xfrm>
          <a:prstGeom prst="line">
            <a:avLst/>
          </a:prstGeom>
          <a:ln w="27940">
            <a:solidFill>
              <a:srgbClr val="E689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686800" y="3758184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5F6C7A"/>
                </a:solidFill>
                <a:latin typeface="Aptos"/>
              </a:rPr>
              <a:t>ALARMES   TENDÊNCIAS   COMANDOS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29768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F6C7A"/>
                </a:solidFill>
                <a:latin typeface="Aptos"/>
              </a:rPr>
              <a:t>Acesso por rede/Internet segura • operação distribuída • múltiplas unidades • telemetria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5</a:t>
            </a:r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31AC1D8F-6520-BF81-669E-477243B0012E}"/>
              </a:ext>
            </a:extLst>
          </p:cNvPr>
          <p:cNvSpPr txBox="1"/>
          <p:nvPr/>
        </p:nvSpPr>
        <p:spPr>
          <a:xfrm>
            <a:off x="795528" y="6347943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  <p:pic>
        <p:nvPicPr>
          <p:cNvPr id="42" name="Picture 2" descr="Senai RN (@SenaiRN) • Facebook">
            <a:extLst>
              <a:ext uri="{FF2B5EF4-FFF2-40B4-BE49-F238E27FC236}">
                <a16:creationId xmlns:a16="http://schemas.microsoft.com/office/drawing/2014/main" id="{D11D09EA-5193-A910-313E-27F22CCB5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165" y="163772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6</a:t>
            </a:r>
            <a:r>
              <a:rPr sz="28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. </a:t>
            </a:r>
            <a:r>
              <a:rPr sz="2800" b="1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Arquitetura</a:t>
            </a:r>
            <a:r>
              <a:rPr sz="28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</a:t>
            </a:r>
            <a:r>
              <a:rPr sz="2800" b="1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típica</a:t>
            </a:r>
            <a:r>
              <a:rPr sz="28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de um </a:t>
            </a:r>
            <a:r>
              <a:rPr sz="2800" b="1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sistema</a:t>
            </a:r>
            <a:r>
              <a:rPr sz="28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de </a:t>
            </a:r>
            <a:r>
              <a:rPr sz="2800" b="1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supervisão</a:t>
            </a:r>
            <a:endParaRPr sz="2800" b="1" dirty="0">
              <a:solidFill>
                <a:schemeClr val="bg1">
                  <a:lumMod val="95000"/>
                </a:schemeClr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1079885"/>
            <a:ext cx="10789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Fluxo</a:t>
            </a:r>
            <a:r>
              <a:rPr sz="24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da </a:t>
            </a:r>
            <a:r>
              <a:rPr sz="24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informação</a:t>
            </a:r>
            <a:r>
              <a:rPr sz="24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: campo → </a:t>
            </a:r>
            <a:r>
              <a:rPr sz="24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controle</a:t>
            </a:r>
            <a:r>
              <a:rPr sz="24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→ </a:t>
            </a:r>
            <a:r>
              <a:rPr sz="24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comunicação</a:t>
            </a:r>
            <a:r>
              <a:rPr sz="24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→ </a:t>
            </a:r>
            <a:r>
              <a:rPr sz="24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supervisão</a:t>
            </a:r>
            <a:r>
              <a:rPr sz="24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1417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07008" y="2304288"/>
            <a:ext cx="457200" cy="457200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8163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263F"/>
                </a:solidFill>
                <a:latin typeface="Aptos"/>
              </a:rPr>
              <a:t>Sensores /
atuadores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2148840"/>
            <a:ext cx="1417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538728" y="2304288"/>
            <a:ext cx="457200" cy="457200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2968" y="28163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14263F"/>
                </a:solidFill>
                <a:latin typeface="Aptos"/>
              </a:rPr>
              <a:t>CLP / RTU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148840"/>
            <a:ext cx="1417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70448" y="2304288"/>
            <a:ext cx="457200" cy="457200"/>
          </a:xfrm>
          <a:prstGeom prst="ellipse">
            <a:avLst/>
          </a:prstGeom>
          <a:solidFill>
            <a:srgbClr val="2CA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4688" y="28163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263F"/>
                </a:solidFill>
                <a:latin typeface="Aptos"/>
              </a:rPr>
              <a:t>Rede
industrial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148840"/>
            <a:ext cx="1417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02167" y="2304288"/>
            <a:ext cx="457200" cy="457200"/>
          </a:xfrm>
          <a:prstGeom prst="ellipse">
            <a:avLst/>
          </a:prstGeom>
          <a:solidFill>
            <a:srgbClr val="715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7" y="28163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263F"/>
                </a:solidFill>
                <a:latin typeface="Aptos"/>
              </a:rPr>
              <a:t>Servidor
SCADA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2148840"/>
            <a:ext cx="1417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533888" y="2304288"/>
            <a:ext cx="457200" cy="457200"/>
          </a:xfrm>
          <a:prstGeom prst="ellipse">
            <a:avLst/>
          </a:prstGeom>
          <a:solidFill>
            <a:srgbClr val="E6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8128" y="2816352"/>
            <a:ext cx="1188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14263F"/>
                </a:solidFill>
                <a:latin typeface="Aptos"/>
              </a:rPr>
              <a:t>IHM /</a:t>
            </a:r>
            <a:r>
              <a:rPr lang="pt-BR" sz="1100" b="1" dirty="0">
                <a:solidFill>
                  <a:srgbClr val="14263F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14263F"/>
                </a:solidFill>
                <a:latin typeface="Aptos"/>
              </a:rPr>
              <a:t>Cliente</a:t>
            </a:r>
            <a:endParaRPr sz="1100" b="1" dirty="0">
              <a:solidFill>
                <a:srgbClr val="14263F"/>
              </a:solidFill>
              <a:latin typeface="Aptos"/>
            </a:endParaRP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>
            <a:off x="2148840" y="2670048"/>
            <a:ext cx="914400" cy="0"/>
          </a:xfrm>
          <a:prstGeom prst="line">
            <a:avLst/>
          </a:prstGeom>
          <a:ln w="2794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cxnSpLocks/>
            <a:endCxn id="11" idx="1"/>
          </p:cNvCxnSpPr>
          <p:nvPr/>
        </p:nvCxnSpPr>
        <p:spPr>
          <a:xfrm>
            <a:off x="4480560" y="2670048"/>
            <a:ext cx="914400" cy="4572"/>
          </a:xfrm>
          <a:prstGeom prst="line">
            <a:avLst/>
          </a:prstGeom>
          <a:ln w="2794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  <a:stCxn id="11" idx="3"/>
            <a:endCxn id="14" idx="1"/>
          </p:cNvCxnSpPr>
          <p:nvPr/>
        </p:nvCxnSpPr>
        <p:spPr>
          <a:xfrm>
            <a:off x="6812280" y="2674620"/>
            <a:ext cx="914399" cy="0"/>
          </a:xfrm>
          <a:prstGeom prst="line">
            <a:avLst/>
          </a:prstGeom>
          <a:ln w="2794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  <a:endCxn id="17" idx="1"/>
          </p:cNvCxnSpPr>
          <p:nvPr/>
        </p:nvCxnSpPr>
        <p:spPr>
          <a:xfrm>
            <a:off x="9144000" y="2670048"/>
            <a:ext cx="914400" cy="4572"/>
          </a:xfrm>
          <a:prstGeom prst="line">
            <a:avLst/>
          </a:prstGeom>
          <a:ln w="2794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417320" y="4069080"/>
            <a:ext cx="8641080" cy="0"/>
          </a:xfrm>
          <a:prstGeom prst="line">
            <a:avLst/>
          </a:prstGeom>
          <a:ln w="25400">
            <a:solidFill>
              <a:srgbClr val="E689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0" y="3794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8930"/>
                </a:solidFill>
                <a:latin typeface="Aptos"/>
              </a:rPr>
              <a:t>COMANDOS / SETPOINTS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92040"/>
            <a:ext cx="10241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Componentes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podem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variar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conforme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a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aplicação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: switches, gateways,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bancos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de dados,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historiadores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,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servidores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redundantes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e </a:t>
            </a:r>
            <a:r>
              <a:rPr lang="pt-BR" sz="200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estações de engenharia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6</a:t>
            </a:r>
          </a:p>
        </p:txBody>
      </p:sp>
      <p:pic>
        <p:nvPicPr>
          <p:cNvPr id="34" name="Picture 2" descr="Senai RN (@SenaiRN) • Facebook">
            <a:extLst>
              <a:ext uri="{FF2B5EF4-FFF2-40B4-BE49-F238E27FC236}">
                <a16:creationId xmlns:a16="http://schemas.microsoft.com/office/drawing/2014/main" id="{8040B7EF-52DD-8094-8E85-EAD5DF230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165" y="163772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16">
            <a:extLst>
              <a:ext uri="{FF2B5EF4-FFF2-40B4-BE49-F238E27FC236}">
                <a16:creationId xmlns:a16="http://schemas.microsoft.com/office/drawing/2014/main" id="{A2CBEABC-9E8B-743F-66CA-0E5096E513A1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453"/>
            <a:ext cx="12191695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7</a:t>
            </a:r>
            <a:r>
              <a:rPr sz="28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. </a:t>
            </a:r>
            <a:r>
              <a:rPr sz="2800" b="1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Componentes</a:t>
            </a:r>
            <a:r>
              <a:rPr sz="28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do </a:t>
            </a:r>
            <a:r>
              <a:rPr sz="2800" b="1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sistema</a:t>
            </a:r>
            <a:r>
              <a:rPr sz="28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de </a:t>
            </a:r>
            <a:r>
              <a:rPr sz="2800" b="1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supervisão</a:t>
            </a:r>
            <a:endParaRPr sz="2800" b="1" dirty="0">
              <a:solidFill>
                <a:schemeClr val="bg1">
                  <a:lumMod val="95000"/>
                </a:schemeClr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Hardware, software, </a:t>
            </a:r>
            <a:r>
              <a:rPr sz="13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comunicação</a:t>
            </a:r>
            <a:r>
              <a:rPr sz="13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e </a:t>
            </a:r>
            <a:r>
              <a:rPr sz="13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pessoas</a:t>
            </a:r>
            <a:r>
              <a:rPr sz="13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formam</a:t>
            </a:r>
            <a:r>
              <a:rPr sz="1300"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o conjunto.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673352"/>
            <a:ext cx="548640" cy="548640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63F"/>
                </a:solidFill>
                <a:latin typeface="Aptos"/>
              </a:rPr>
              <a:t>Campo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75688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C7A"/>
                </a:solidFill>
                <a:latin typeface="Aptos"/>
              </a:rPr>
              <a:t>Sensores, transmissores,
atuadores e motores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63440" y="1673352"/>
            <a:ext cx="548640" cy="548640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6459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63F"/>
                </a:solidFill>
                <a:latin typeface="Aptos"/>
              </a:rPr>
              <a:t>Controle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075688"/>
            <a:ext cx="2148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5F6C7A"/>
                </a:solidFill>
                <a:latin typeface="Aptos"/>
              </a:rPr>
              <a:t>CLPs, </a:t>
            </a:r>
            <a:r>
              <a:rPr lang="pt-BR" sz="1100" b="0" dirty="0">
                <a:solidFill>
                  <a:srgbClr val="5F6C7A"/>
                </a:solidFill>
                <a:latin typeface="Aptos"/>
              </a:rPr>
              <a:t>UT</a:t>
            </a:r>
            <a:r>
              <a:rPr sz="1100" b="0" dirty="0">
                <a:solidFill>
                  <a:srgbClr val="5F6C7A"/>
                </a:solidFill>
                <a:latin typeface="Aptos"/>
              </a:rPr>
              <a:t>R e </a:t>
            </a:r>
            <a:r>
              <a:rPr lang="pt-BR" sz="1100" b="0" dirty="0">
                <a:solidFill>
                  <a:srgbClr val="5F6C7A"/>
                </a:solidFill>
                <a:latin typeface="Aptos"/>
              </a:rPr>
              <a:t>IPC’S</a:t>
            </a:r>
            <a:endParaRPr sz="1100" b="0" dirty="0">
              <a:solidFill>
                <a:srgbClr val="5F6C7A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58200" y="1673352"/>
            <a:ext cx="548640" cy="548640"/>
          </a:xfrm>
          <a:prstGeom prst="ellipse">
            <a:avLst/>
          </a:prstGeom>
          <a:solidFill>
            <a:srgbClr val="2CA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6459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63F"/>
                </a:solidFill>
                <a:latin typeface="Aptos"/>
              </a:rPr>
              <a:t>Comunicação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075688"/>
            <a:ext cx="2148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5F6C7A"/>
                </a:solidFill>
                <a:latin typeface="Aptos"/>
              </a:rPr>
              <a:t>Ethernet industrial,
Modbus, </a:t>
            </a:r>
            <a:r>
              <a:rPr lang="pt-BR" sz="1100" b="0" dirty="0" err="1">
                <a:solidFill>
                  <a:srgbClr val="5F6C7A"/>
                </a:solidFill>
                <a:latin typeface="Aptos"/>
              </a:rPr>
              <a:t>Profibus</a:t>
            </a:r>
            <a:r>
              <a:rPr sz="1100" b="0" dirty="0">
                <a:solidFill>
                  <a:srgbClr val="5F6C7A"/>
                </a:solidFill>
                <a:latin typeface="Aptos"/>
              </a:rPr>
              <a:t> etc.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8680" y="3822192"/>
            <a:ext cx="548640" cy="548640"/>
          </a:xfrm>
          <a:prstGeom prst="ellipse">
            <a:avLst/>
          </a:prstGeom>
          <a:solidFill>
            <a:srgbClr val="715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7947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63F"/>
                </a:solidFill>
                <a:latin typeface="Aptos"/>
              </a:rPr>
              <a:t>Supervisão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24528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C7A"/>
                </a:solidFill>
                <a:latin typeface="Aptos"/>
              </a:rPr>
              <a:t>Servidor SCADA,
clientes e banco de dados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63440" y="3822192"/>
            <a:ext cx="548640" cy="548640"/>
          </a:xfrm>
          <a:prstGeom prst="ellipse">
            <a:avLst/>
          </a:prstGeom>
          <a:solidFill>
            <a:srgbClr val="E6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7947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63F"/>
                </a:solidFill>
                <a:latin typeface="Aptos"/>
              </a:rPr>
              <a:t>Operação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224528"/>
            <a:ext cx="2148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5F6C7A"/>
                </a:solidFill>
                <a:latin typeface="Aptos"/>
              </a:rPr>
              <a:t>IHMs, PCs,
</a:t>
            </a:r>
            <a:r>
              <a:rPr sz="1100" b="0" dirty="0" err="1">
                <a:solidFill>
                  <a:srgbClr val="5F6C7A"/>
                </a:solidFill>
                <a:latin typeface="Aptos"/>
              </a:rPr>
              <a:t>celulares</a:t>
            </a:r>
            <a:r>
              <a:rPr sz="1100" b="0" dirty="0">
                <a:solidFill>
                  <a:srgbClr val="5F6C7A"/>
                </a:solidFill>
                <a:latin typeface="Aptos"/>
              </a:rPr>
              <a:t> e </a:t>
            </a:r>
            <a:r>
              <a:rPr sz="1100" b="0" dirty="0" err="1">
                <a:solidFill>
                  <a:srgbClr val="5F6C7A"/>
                </a:solidFill>
                <a:latin typeface="Aptos"/>
              </a:rPr>
              <a:t>painéis</a:t>
            </a:r>
            <a:r>
              <a:rPr lang="pt-BR" sz="1100" b="0" dirty="0">
                <a:solidFill>
                  <a:srgbClr val="5F6C7A"/>
                </a:solidFill>
                <a:latin typeface="Aptos"/>
              </a:rPr>
              <a:t>.</a:t>
            </a:r>
            <a:endParaRPr sz="1100" b="0" dirty="0">
              <a:solidFill>
                <a:srgbClr val="5F6C7A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22960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58200" y="3822192"/>
            <a:ext cx="548640" cy="548640"/>
          </a:xfrm>
          <a:prstGeom prst="ellipse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7947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63F"/>
                </a:solidFill>
                <a:latin typeface="Aptos"/>
              </a:rPr>
              <a:t>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224528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C7A"/>
                </a:solidFill>
                <a:latin typeface="Aptos"/>
              </a:rPr>
              <a:t>Histórico, alarmes,
relatórios e eventos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7</a:t>
            </a: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3C3D80C8-CFD3-5935-5201-4E71C13E3979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  <p:pic>
        <p:nvPicPr>
          <p:cNvPr id="32" name="Picture 2" descr="Senai RN (@SenaiRN) • Facebook">
            <a:extLst>
              <a:ext uri="{FF2B5EF4-FFF2-40B4-BE49-F238E27FC236}">
                <a16:creationId xmlns:a16="http://schemas.microsoft.com/office/drawing/2014/main" id="{0983ED6B-FA45-9663-7BA7-07540565B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165" y="163772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Aptos"/>
              </a:rPr>
              <a:t>8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. </a:t>
            </a:r>
            <a:r>
              <a:rPr sz="2800" b="1" dirty="0" err="1">
                <a:solidFill>
                  <a:schemeClr val="bg1"/>
                </a:solidFill>
                <a:latin typeface="Aptos"/>
              </a:rPr>
              <a:t>Softwares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 SCADA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C7A"/>
                </a:solidFill>
                <a:latin typeface="Aptos"/>
              </a:rPr>
              <a:t>Exemplos de plataformas utilizadas na indústria.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673352"/>
            <a:ext cx="566928" cy="566928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4592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4263F"/>
                </a:solidFill>
                <a:latin typeface="Aptos"/>
              </a:rPr>
              <a:t>S</a:t>
            </a:r>
            <a:r>
              <a:rPr lang="pt-BR" sz="1600" b="1" dirty="0">
                <a:solidFill>
                  <a:srgbClr val="14263F"/>
                </a:solidFill>
                <a:latin typeface="Aptos"/>
              </a:rPr>
              <a:t>IEMENS</a:t>
            </a:r>
            <a:r>
              <a:rPr sz="1600" b="1" dirty="0">
                <a:solidFill>
                  <a:srgbClr val="14263F"/>
                </a:solidFill>
                <a:latin typeface="Aptos"/>
              </a:rPr>
              <a:t>
WinCC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359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A"/>
                </a:solidFill>
                <a:latin typeface="Aptos"/>
              </a:rPr>
              <a:t>Visualização • alarmes • histórico • comunicação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709160" y="1673352"/>
            <a:ext cx="566928" cy="566928"/>
          </a:xfrm>
          <a:prstGeom prst="ellipse">
            <a:avLst/>
          </a:prstGeom>
          <a:solidFill>
            <a:srgbClr val="E6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645920"/>
            <a:ext cx="2148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1" dirty="0">
                <a:solidFill>
                  <a:srgbClr val="14263F"/>
                </a:solidFill>
                <a:latin typeface="Aptos"/>
              </a:rPr>
              <a:t>ALSTOM</a:t>
            </a:r>
          </a:p>
          <a:p>
            <a:pPr algn="l"/>
            <a:r>
              <a:rPr lang="pt-BR" sz="1600" b="1" dirty="0" err="1">
                <a:solidFill>
                  <a:srgbClr val="14263F"/>
                </a:solidFill>
                <a:latin typeface="Aptos"/>
              </a:rPr>
              <a:t>Alspa</a:t>
            </a:r>
            <a:r>
              <a:rPr lang="pt-BR" sz="1600" b="1" dirty="0">
                <a:solidFill>
                  <a:srgbClr val="14263F"/>
                </a:solidFill>
                <a:latin typeface="Aptos"/>
              </a:rPr>
              <a:t> P 320 </a:t>
            </a:r>
            <a:endParaRPr sz="1600" b="1" dirty="0">
              <a:solidFill>
                <a:srgbClr val="14263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94960" y="2359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A"/>
                </a:solidFill>
                <a:latin typeface="Aptos"/>
              </a:rPr>
              <a:t>Visualização • alarmes • histórico • comunicação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03920" y="1673352"/>
            <a:ext cx="566928" cy="566928"/>
          </a:xfrm>
          <a:prstGeom prst="ellipse">
            <a:avLst/>
          </a:prstGeom>
          <a:solidFill>
            <a:srgbClr val="715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1645920"/>
            <a:ext cx="2148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1" dirty="0">
                <a:solidFill>
                  <a:srgbClr val="14263F"/>
                </a:solidFill>
                <a:latin typeface="Aptos"/>
              </a:rPr>
              <a:t>CEPEL</a:t>
            </a:r>
          </a:p>
          <a:p>
            <a:pPr algn="l"/>
            <a:r>
              <a:rPr lang="pt-BR" sz="1600" b="1" dirty="0" err="1">
                <a:solidFill>
                  <a:srgbClr val="14263F"/>
                </a:solidFill>
                <a:latin typeface="Aptos"/>
              </a:rPr>
              <a:t>Sage</a:t>
            </a:r>
            <a:endParaRPr sz="1600" b="1" dirty="0">
              <a:solidFill>
                <a:srgbClr val="14263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89720" y="2359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A"/>
                </a:solidFill>
                <a:latin typeface="Aptos"/>
              </a:rPr>
              <a:t>Visualização • alarmes • histórico • comunicação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747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3730752"/>
            <a:ext cx="566928" cy="566928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70332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63F"/>
                </a:solidFill>
                <a:latin typeface="Aptos"/>
              </a:rPr>
              <a:t>Elipse
E3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4165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A"/>
                </a:solidFill>
                <a:latin typeface="Aptos"/>
              </a:rPr>
              <a:t>Visualização • alarmes • histórico • comunicação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4747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709160" y="3730752"/>
            <a:ext cx="566928" cy="566928"/>
          </a:xfrm>
          <a:prstGeom prst="ellipse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70332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4263F"/>
                </a:solidFill>
                <a:latin typeface="Aptos"/>
              </a:rPr>
              <a:t>GE </a:t>
            </a:r>
            <a:r>
              <a:rPr sz="1600" b="1" dirty="0" err="1">
                <a:solidFill>
                  <a:srgbClr val="14263F"/>
                </a:solidFill>
                <a:latin typeface="Aptos"/>
              </a:rPr>
              <a:t>Vernova</a:t>
            </a:r>
            <a:r>
              <a:rPr sz="1600" b="1" dirty="0">
                <a:solidFill>
                  <a:srgbClr val="14263F"/>
                </a:solidFill>
                <a:latin typeface="Aptos"/>
              </a:rPr>
              <a:t>
Proficy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4165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A"/>
                </a:solidFill>
                <a:latin typeface="Aptos"/>
              </a:rPr>
              <a:t>Visualização • alarmes • histórico • comunicação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4747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503920" y="3730752"/>
            <a:ext cx="566928" cy="566928"/>
          </a:xfrm>
          <a:prstGeom prst="ellipse">
            <a:avLst/>
          </a:prstGeom>
          <a:solidFill>
            <a:srgbClr val="2CA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70332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4263F"/>
                </a:solidFill>
                <a:latin typeface="Aptos"/>
              </a:rPr>
              <a:t>Schneider
</a:t>
            </a:r>
            <a:r>
              <a:rPr lang="pt-BR" sz="1600" b="1" dirty="0" err="1">
                <a:solidFill>
                  <a:srgbClr val="14263F"/>
                </a:solidFill>
                <a:latin typeface="Aptos"/>
              </a:rPr>
              <a:t>Pacis</a:t>
            </a:r>
            <a:endParaRPr sz="1600" b="1" dirty="0">
              <a:solidFill>
                <a:srgbClr val="14263F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89720" y="44165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A"/>
                </a:solidFill>
                <a:latin typeface="Aptos"/>
              </a:rPr>
              <a:t>Visualização • alarmes • histórico • comunicação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7150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F6C7A"/>
                </a:solidFill>
                <a:latin typeface="Aptos"/>
              </a:rPr>
              <a:t>A escolha depende de requisitos como integração, escala, redundância, protocolos, histórico, cibersegurança e custo.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8</a:t>
            </a:r>
          </a:p>
        </p:txBody>
      </p:sp>
      <p:sp>
        <p:nvSpPr>
          <p:cNvPr id="34" name="TextBox 16">
            <a:extLst>
              <a:ext uri="{FF2B5EF4-FFF2-40B4-BE49-F238E27FC236}">
                <a16:creationId xmlns:a16="http://schemas.microsoft.com/office/drawing/2014/main" id="{B56DAE9D-7175-99CC-9932-6517BC229F4A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  <p:pic>
        <p:nvPicPr>
          <p:cNvPr id="35" name="Picture 2" descr="Senai RN (@SenaiRN) • Facebook">
            <a:extLst>
              <a:ext uri="{FF2B5EF4-FFF2-40B4-BE49-F238E27FC236}">
                <a16:creationId xmlns:a16="http://schemas.microsoft.com/office/drawing/2014/main" id="{038F3BFD-6C97-7374-1E88-CF431C721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165" y="163772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151"/>
            <a:ext cx="12191695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517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9</a:t>
            </a:r>
            <a:r>
              <a:rPr sz="28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. </a:t>
            </a:r>
            <a:r>
              <a:rPr sz="2800" b="1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Funções</a:t>
            </a:r>
            <a:r>
              <a:rPr sz="28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</a:t>
            </a:r>
            <a:r>
              <a:rPr sz="2800" b="1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básicas</a:t>
            </a:r>
            <a:r>
              <a:rPr sz="28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dos </a:t>
            </a:r>
            <a:r>
              <a:rPr sz="2800" b="1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sistemas</a:t>
            </a:r>
            <a:r>
              <a:rPr sz="28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de </a:t>
            </a:r>
            <a:r>
              <a:rPr sz="2800" b="1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supervisão</a:t>
            </a:r>
            <a:endParaRPr sz="2800" b="1" dirty="0">
              <a:solidFill>
                <a:schemeClr val="bg1">
                  <a:lumMod val="95000"/>
                </a:schemeClr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5F6C7A"/>
                </a:solidFill>
                <a:latin typeface="Aptos"/>
              </a:rPr>
              <a:t>O </a:t>
            </a:r>
            <a:r>
              <a:rPr sz="1600" b="0" dirty="0" err="1">
                <a:solidFill>
                  <a:srgbClr val="5F6C7A"/>
                </a:solidFill>
                <a:latin typeface="Aptos"/>
              </a:rPr>
              <a:t>supervisório</a:t>
            </a:r>
            <a:r>
              <a:rPr sz="1600" b="0" dirty="0">
                <a:solidFill>
                  <a:srgbClr val="5F6C7A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F6C7A"/>
                </a:solidFill>
                <a:latin typeface="Aptos"/>
              </a:rPr>
              <a:t>não</a:t>
            </a:r>
            <a:r>
              <a:rPr sz="1600" b="0" dirty="0">
                <a:solidFill>
                  <a:srgbClr val="5F6C7A"/>
                </a:solidFill>
                <a:latin typeface="Aptos"/>
              </a:rPr>
              <a:t> é </a:t>
            </a:r>
            <a:r>
              <a:rPr sz="1600" b="0" dirty="0" err="1">
                <a:solidFill>
                  <a:srgbClr val="5F6C7A"/>
                </a:solidFill>
                <a:latin typeface="Aptos"/>
              </a:rPr>
              <a:t>apenas</a:t>
            </a:r>
            <a:r>
              <a:rPr sz="1600" b="0" dirty="0">
                <a:solidFill>
                  <a:srgbClr val="5F6C7A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F6C7A"/>
                </a:solidFill>
                <a:latin typeface="Aptos"/>
              </a:rPr>
              <a:t>uma</a:t>
            </a:r>
            <a:r>
              <a:rPr sz="1600" b="0" dirty="0">
                <a:solidFill>
                  <a:srgbClr val="5F6C7A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F6C7A"/>
                </a:solidFill>
                <a:latin typeface="Aptos"/>
              </a:rPr>
              <a:t>tela</a:t>
            </a:r>
            <a:r>
              <a:rPr sz="1600" b="0" dirty="0">
                <a:solidFill>
                  <a:srgbClr val="5F6C7A"/>
                </a:solidFill>
                <a:latin typeface="Aptos"/>
              </a:rPr>
              <a:t>: </a:t>
            </a:r>
            <a:r>
              <a:rPr sz="1600" b="0" dirty="0" err="1">
                <a:solidFill>
                  <a:srgbClr val="5F6C7A"/>
                </a:solidFill>
                <a:latin typeface="Aptos"/>
              </a:rPr>
              <a:t>ele</a:t>
            </a:r>
            <a:r>
              <a:rPr sz="1600" b="0" dirty="0">
                <a:solidFill>
                  <a:srgbClr val="5F6C7A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F6C7A"/>
                </a:solidFill>
                <a:latin typeface="Aptos"/>
              </a:rPr>
              <a:t>organiza</a:t>
            </a:r>
            <a:r>
              <a:rPr sz="1600" b="0" dirty="0">
                <a:solidFill>
                  <a:srgbClr val="5F6C7A"/>
                </a:solidFill>
                <a:latin typeface="Aptos"/>
              </a:rPr>
              <a:t> a </a:t>
            </a:r>
            <a:r>
              <a:rPr sz="1600" b="0" dirty="0" err="1">
                <a:solidFill>
                  <a:srgbClr val="5F6C7A"/>
                </a:solidFill>
                <a:latin typeface="Aptos"/>
              </a:rPr>
              <a:t>informação</a:t>
            </a:r>
            <a:r>
              <a:rPr sz="1600" b="0" dirty="0">
                <a:solidFill>
                  <a:srgbClr val="5F6C7A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F6C7A"/>
                </a:solidFill>
                <a:latin typeface="Aptos"/>
              </a:rPr>
              <a:t>operacional</a:t>
            </a:r>
            <a:r>
              <a:rPr sz="1400" b="0" dirty="0">
                <a:solidFill>
                  <a:srgbClr val="5F6C7A"/>
                </a:solidFill>
                <a:latin typeface="Aptos"/>
              </a:rPr>
              <a:t>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325880"/>
            <a:ext cx="457200" cy="457200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44168"/>
            <a:ext cx="228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Aquisição</a:t>
            </a:r>
            <a:r>
              <a:rPr sz="15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344168"/>
            <a:ext cx="7040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Ler</a:t>
            </a: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variáveis</a:t>
            </a: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e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estados</a:t>
            </a:r>
            <a:endParaRPr sz="1400" b="0" dirty="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463040" y="1764792"/>
            <a:ext cx="941832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22960" y="2130552"/>
            <a:ext cx="457200" cy="457200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48840"/>
            <a:ext cx="228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Visualização</a:t>
            </a:r>
            <a:endParaRPr sz="1500" b="1" dirty="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0" y="2148840"/>
            <a:ext cx="7040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Representar</a:t>
            </a:r>
            <a:r>
              <a:rPr sz="140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o </a:t>
            </a:r>
            <a:r>
              <a:rPr sz="140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processo</a:t>
            </a:r>
            <a:endParaRPr sz="1400" dirty="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463040" y="2569464"/>
            <a:ext cx="941832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22960" y="2935224"/>
            <a:ext cx="457200" cy="457200"/>
          </a:xfrm>
          <a:prstGeom prst="ellipse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953512"/>
            <a:ext cx="228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Alarmes</a:t>
            </a:r>
            <a:endParaRPr sz="1500" b="1" dirty="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40480" y="2953512"/>
            <a:ext cx="7040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Avisar</a:t>
            </a:r>
            <a:r>
              <a:rPr sz="140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sz="140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desvios</a:t>
            </a:r>
            <a:r>
              <a:rPr sz="140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e </a:t>
            </a:r>
            <a:r>
              <a:rPr sz="140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falhas</a:t>
            </a:r>
            <a:endParaRPr sz="1400" dirty="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463040" y="3374136"/>
            <a:ext cx="941832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22960" y="3739896"/>
            <a:ext cx="457200" cy="457200"/>
          </a:xfrm>
          <a:prstGeom prst="ellipse">
            <a:avLst/>
          </a:prstGeom>
          <a:solidFill>
            <a:srgbClr val="715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58183"/>
            <a:ext cx="228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Tendências</a:t>
            </a:r>
            <a:endParaRPr sz="1500" b="1" dirty="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40480" y="3758183"/>
            <a:ext cx="7040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Mostrar</a:t>
            </a: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comportamento</a:t>
            </a: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no tempo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63040" y="4178808"/>
            <a:ext cx="941832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22960" y="4544568"/>
            <a:ext cx="457200" cy="457200"/>
          </a:xfrm>
          <a:prstGeom prst="ellipse">
            <a:avLst/>
          </a:prstGeom>
          <a:solidFill>
            <a:srgbClr val="2CA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562855"/>
            <a:ext cx="228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Histórico</a:t>
            </a:r>
            <a:endParaRPr sz="1500" b="1" dirty="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40480" y="4562855"/>
            <a:ext cx="7040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Registrar dados e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eventos</a:t>
            </a:r>
            <a:endParaRPr sz="1400" b="0" dirty="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1463040" y="4983479"/>
            <a:ext cx="941832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22960" y="5349240"/>
            <a:ext cx="457200" cy="457200"/>
          </a:xfrm>
          <a:prstGeom prst="ellipse">
            <a:avLst/>
          </a:prstGeom>
          <a:solidFill>
            <a:srgbClr val="E6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367528"/>
            <a:ext cx="228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Comandos</a:t>
            </a:r>
            <a:endParaRPr sz="1500" b="1" dirty="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40480" y="5367528"/>
            <a:ext cx="7040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Enviar</a:t>
            </a: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ações</a:t>
            </a: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autorizadas</a:t>
            </a:r>
            <a:endParaRPr sz="1400" b="0" dirty="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1463040" y="5788152"/>
            <a:ext cx="941832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9</a:t>
            </a:r>
          </a:p>
        </p:txBody>
      </p:sp>
      <p:pic>
        <p:nvPicPr>
          <p:cNvPr id="31" name="Picture 2" descr="Senai RN (@SenaiRN) • Facebook">
            <a:extLst>
              <a:ext uri="{FF2B5EF4-FFF2-40B4-BE49-F238E27FC236}">
                <a16:creationId xmlns:a16="http://schemas.microsoft.com/office/drawing/2014/main" id="{6DED9266-4D9B-6E3B-D437-4D8B1705C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165" y="163772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16">
            <a:extLst>
              <a:ext uri="{FF2B5EF4-FFF2-40B4-BE49-F238E27FC236}">
                <a16:creationId xmlns:a16="http://schemas.microsoft.com/office/drawing/2014/main" id="{64C8E725-C982-06A7-C76C-7B01CA141950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10</a:t>
            </a:r>
            <a:r>
              <a:rPr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. </a:t>
            </a:r>
            <a:r>
              <a:rPr sz="28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Alarmes</a:t>
            </a:r>
            <a:r>
              <a:rPr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e </a:t>
            </a:r>
            <a:r>
              <a:rPr sz="28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eventos</a:t>
            </a:r>
            <a:endParaRPr sz="2800" b="1" dirty="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C7A"/>
                </a:solidFill>
                <a:latin typeface="Aptos"/>
              </a:rPr>
              <a:t>Alarmes devem apoiar a decisão — não criar excesso de informação.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583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63F"/>
                </a:solidFill>
                <a:latin typeface="Aptos"/>
              </a:rPr>
              <a:t>Exemplo de lista de alarmes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148840"/>
            <a:ext cx="960120" cy="411480"/>
          </a:xfrm>
          <a:prstGeom prst="roundRect">
            <a:avLst/>
          </a:prstGeom>
          <a:solidFill>
            <a:srgbClr val="CD4646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219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ALTO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303C"/>
                </a:solidFill>
                <a:latin typeface="Aptos"/>
              </a:rPr>
              <a:t>Pressão do tanque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194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6C7A"/>
                </a:solidFill>
                <a:latin typeface="Aptos"/>
              </a:rPr>
              <a:t>4,8 bar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862072"/>
            <a:ext cx="960120" cy="411480"/>
          </a:xfrm>
          <a:prstGeom prst="roundRect">
            <a:avLst/>
          </a:prstGeom>
          <a:solidFill>
            <a:srgbClr val="E68930"/>
          </a:solidFill>
          <a:ln>
            <a:solidFill>
              <a:srgbClr val="E68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93522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ATENÇÃO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90779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303C"/>
                </a:solidFill>
                <a:latin typeface="Aptos"/>
              </a:rPr>
              <a:t>Nível baixo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90779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6C7A"/>
                </a:solidFill>
                <a:latin typeface="Aptos"/>
              </a:rPr>
              <a:t>22 %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575304"/>
            <a:ext cx="960120" cy="411480"/>
          </a:xfrm>
          <a:prstGeom prst="roundRect">
            <a:avLst/>
          </a:prstGeom>
          <a:solidFill>
            <a:srgbClr val="329669"/>
          </a:solidFill>
          <a:ln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648456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NORMAL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6210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303C"/>
                </a:solidFill>
                <a:latin typeface="Aptos"/>
              </a:rPr>
              <a:t>Bomba P-101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6210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6C7A"/>
                </a:solidFill>
                <a:latin typeface="Aptos"/>
              </a:rPr>
              <a:t>Ligada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288536"/>
            <a:ext cx="960120" cy="411480"/>
          </a:xfrm>
          <a:prstGeom prst="roundRect">
            <a:avLst/>
          </a:prstGeom>
          <a:solidFill>
            <a:srgbClr val="2369B4"/>
          </a:solidFill>
          <a:ln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36168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334255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303C"/>
                </a:solidFill>
                <a:latin typeface="Aptos"/>
              </a:rPr>
              <a:t>Operador reconheceu alarme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33425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6C7A"/>
                </a:solidFill>
                <a:latin typeface="Aptos"/>
              </a:rPr>
              <a:t>15:42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1325880"/>
            <a:ext cx="3840480" cy="4526280"/>
          </a:xfrm>
          <a:prstGeom prst="roundRect">
            <a:avLst/>
          </a:prstGeom>
          <a:solidFill>
            <a:srgbClr val="EDF3F8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79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369B4"/>
                </a:solidFill>
                <a:latin typeface="Aptos"/>
              </a:rPr>
              <a:t>Boas práticas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148840"/>
            <a:ext cx="3063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303C"/>
                </a:solidFill>
                <a:latin typeface="Aptos"/>
              </a:defRPr>
            </a:pPr>
            <a:r>
              <a:t>• Priorizar criticidade</a:t>
            </a:r>
          </a:p>
          <a:p>
            <a:pPr>
              <a:spcAft>
                <a:spcPts val="500"/>
              </a:spcAft>
              <a:defRPr sz="1400">
                <a:solidFill>
                  <a:srgbClr val="26303C"/>
                </a:solidFill>
                <a:latin typeface="Aptos"/>
              </a:defRPr>
            </a:pPr>
            <a:r>
              <a:t>• Usar mensagens claras</a:t>
            </a:r>
          </a:p>
          <a:p>
            <a:pPr>
              <a:spcAft>
                <a:spcPts val="500"/>
              </a:spcAft>
              <a:defRPr sz="1400">
                <a:solidFill>
                  <a:srgbClr val="26303C"/>
                </a:solidFill>
                <a:latin typeface="Aptos"/>
              </a:defRPr>
            </a:pPr>
            <a:r>
              <a:t>• Evitar alarmes repetitivos</a:t>
            </a:r>
          </a:p>
          <a:p>
            <a:pPr>
              <a:spcAft>
                <a:spcPts val="500"/>
              </a:spcAft>
              <a:defRPr sz="1400">
                <a:solidFill>
                  <a:srgbClr val="26303C"/>
                </a:solidFill>
                <a:latin typeface="Aptos"/>
              </a:defRPr>
            </a:pPr>
            <a:r>
              <a:t>• Permitir reconhecimento</a:t>
            </a:r>
          </a:p>
          <a:p>
            <a:pPr>
              <a:spcAft>
                <a:spcPts val="500"/>
              </a:spcAft>
              <a:defRPr sz="1400">
                <a:solidFill>
                  <a:srgbClr val="26303C"/>
                </a:solidFill>
                <a:latin typeface="Aptos"/>
              </a:defRPr>
            </a:pPr>
            <a:r>
              <a:t>• Registrar data e hora</a:t>
            </a:r>
          </a:p>
          <a:p>
            <a:pPr>
              <a:spcAft>
                <a:spcPts val="500"/>
              </a:spcAft>
              <a:defRPr sz="1400">
                <a:solidFill>
                  <a:srgbClr val="26303C"/>
                </a:solidFill>
                <a:latin typeface="Aptos"/>
              </a:defRPr>
            </a:pPr>
            <a:r>
              <a:t>• Definir responsáveis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10</a:t>
            </a:r>
          </a:p>
        </p:txBody>
      </p:sp>
      <p:pic>
        <p:nvPicPr>
          <p:cNvPr id="28" name="Picture 2" descr="Senai RN (@SenaiRN) • Facebook">
            <a:extLst>
              <a:ext uri="{FF2B5EF4-FFF2-40B4-BE49-F238E27FC236}">
                <a16:creationId xmlns:a16="http://schemas.microsoft.com/office/drawing/2014/main" id="{53B4ABAB-73C2-8F51-BD27-E5475CD70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165" y="163772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631AAD25-D14E-C5B1-AECD-F7376B31A8B7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1</a:t>
            </a:r>
            <a:r>
              <a:rPr lang="pt-BR"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1</a:t>
            </a:r>
            <a:r>
              <a:rPr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. </a:t>
            </a:r>
            <a:r>
              <a:rPr sz="28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Tendências</a:t>
            </a:r>
            <a:r>
              <a:rPr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, </a:t>
            </a:r>
            <a:r>
              <a:rPr sz="28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históricos</a:t>
            </a:r>
            <a:r>
              <a:rPr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e </a:t>
            </a:r>
            <a:r>
              <a:rPr sz="28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relatórios</a:t>
            </a:r>
            <a:endParaRPr sz="2800" b="1" dirty="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C7A"/>
                </a:solidFill>
                <a:latin typeface="Aptos"/>
              </a:rPr>
              <a:t>O histórico transforma o dado instantâneo em informação para análise.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6751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Tendência de temperatura — últimos 30 min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43000" y="5166360"/>
            <a:ext cx="576072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43000" y="4526280"/>
            <a:ext cx="576072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43000" y="3886200"/>
            <a:ext cx="576072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43000" y="3246120"/>
            <a:ext cx="576072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43000" y="2606040"/>
            <a:ext cx="576072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43000" y="2148840"/>
            <a:ext cx="0" cy="301752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295144" y="2148840"/>
            <a:ext cx="0" cy="301752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47288" y="2148840"/>
            <a:ext cx="0" cy="301752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599432" y="2148840"/>
            <a:ext cx="0" cy="301752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751576" y="2148840"/>
            <a:ext cx="0" cy="301752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903720" y="2148840"/>
            <a:ext cx="0" cy="301752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43000" y="4251960"/>
            <a:ext cx="777240" cy="411480"/>
          </a:xfrm>
          <a:prstGeom prst="line">
            <a:avLst/>
          </a:prstGeom>
          <a:ln w="38100">
            <a:solidFill>
              <a:srgbClr val="23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920240" y="4251960"/>
            <a:ext cx="777240" cy="182880"/>
          </a:xfrm>
          <a:prstGeom prst="line">
            <a:avLst/>
          </a:prstGeom>
          <a:ln w="38100">
            <a:solidFill>
              <a:srgbClr val="23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697480" y="3520440"/>
            <a:ext cx="777240" cy="914400"/>
          </a:xfrm>
          <a:prstGeom prst="line">
            <a:avLst/>
          </a:prstGeom>
          <a:ln w="38100">
            <a:solidFill>
              <a:srgbClr val="23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74720" y="3520440"/>
            <a:ext cx="777240" cy="274320"/>
          </a:xfrm>
          <a:prstGeom prst="line">
            <a:avLst/>
          </a:prstGeom>
          <a:ln w="38100">
            <a:solidFill>
              <a:srgbClr val="23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251960" y="2834640"/>
            <a:ext cx="777240" cy="960120"/>
          </a:xfrm>
          <a:prstGeom prst="line">
            <a:avLst/>
          </a:prstGeom>
          <a:ln w="38100">
            <a:solidFill>
              <a:srgbClr val="23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9200" y="2834640"/>
            <a:ext cx="777240" cy="228600"/>
          </a:xfrm>
          <a:prstGeom prst="line">
            <a:avLst/>
          </a:prstGeom>
          <a:ln w="38100">
            <a:solidFill>
              <a:srgbClr val="23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806440" y="2514600"/>
            <a:ext cx="1097280" cy="548640"/>
          </a:xfrm>
          <a:prstGeom prst="line">
            <a:avLst/>
          </a:prstGeom>
          <a:ln w="38100">
            <a:solidFill>
              <a:srgbClr val="23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1874519"/>
            <a:ext cx="1097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99831" y="2029968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F6C7A"/>
                </a:solidFill>
                <a:latin typeface="Aptos"/>
              </a:rPr>
              <a:t>Média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9831" y="2395728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369B4"/>
                </a:solidFill>
                <a:latin typeface="Aptos"/>
              </a:rPr>
              <a:t>72,4 °C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19" y="1874519"/>
            <a:ext cx="1097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34272" y="2029968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F6C7A"/>
                </a:solidFill>
                <a:latin typeface="Aptos"/>
              </a:rPr>
              <a:t>Máxima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2395728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D4646"/>
                </a:solidFill>
                <a:latin typeface="Aptos"/>
              </a:rPr>
              <a:t>78,1 °C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95559" y="1874519"/>
            <a:ext cx="1097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68711" y="2029968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F6C7A"/>
                </a:solidFill>
                <a:latin typeface="Aptos"/>
              </a:rPr>
              <a:t>Mínima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68711" y="2395728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29669"/>
                </a:solidFill>
                <a:latin typeface="Aptos"/>
              </a:rPr>
              <a:t>66,8 °C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342900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263F"/>
                </a:solidFill>
                <a:latin typeface="Aptos"/>
              </a:rPr>
              <a:t>Aplicações:
produção • manutenção • qualidade • eficiência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11</a:t>
            </a:r>
          </a:p>
        </p:txBody>
      </p:sp>
      <p:pic>
        <p:nvPicPr>
          <p:cNvPr id="37" name="Picture 2" descr="Senai RN (@SenaiRN) • Facebook">
            <a:extLst>
              <a:ext uri="{FF2B5EF4-FFF2-40B4-BE49-F238E27FC236}">
                <a16:creationId xmlns:a16="http://schemas.microsoft.com/office/drawing/2014/main" id="{77BCEA7D-2227-4408-C632-978752184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165" y="163772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16">
            <a:extLst>
              <a:ext uri="{FF2B5EF4-FFF2-40B4-BE49-F238E27FC236}">
                <a16:creationId xmlns:a16="http://schemas.microsoft.com/office/drawing/2014/main" id="{63A9DC5B-E8DB-5EDA-1BA8-7B6772D0F71A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302"/>
            <a:ext cx="12191695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1</a:t>
            </a:r>
            <a:r>
              <a:rPr lang="pt-BR"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2</a:t>
            </a:r>
            <a:r>
              <a:rPr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. </a:t>
            </a:r>
            <a:r>
              <a:rPr sz="28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Operação</a:t>
            </a:r>
            <a:r>
              <a:rPr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sz="28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remota</a:t>
            </a:r>
            <a:r>
              <a:rPr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e </a:t>
            </a:r>
            <a:r>
              <a:rPr sz="28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arquitetura</a:t>
            </a:r>
            <a:r>
              <a:rPr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sz="28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distribuída</a:t>
            </a:r>
            <a:endParaRPr sz="2800" b="1" dirty="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C7A"/>
                </a:solidFill>
                <a:latin typeface="Aptos"/>
              </a:rPr>
              <a:t>Quando a planta está espalhada, a supervisão pode ser centralizada.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78992" y="1627632"/>
            <a:ext cx="457200" cy="457200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45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263F"/>
                </a:solidFill>
                <a:latin typeface="Aptos"/>
              </a:rPr>
              <a:t>USINA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4767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A"/>
                </a:solidFill>
                <a:latin typeface="Aptos"/>
              </a:rPr>
              <a:t>CLP / RTU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3464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78992" y="3044952"/>
            <a:ext cx="457200" cy="457200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063240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1" dirty="0">
                <a:solidFill>
                  <a:srgbClr val="14263F"/>
                </a:solidFill>
                <a:latin typeface="Aptos"/>
              </a:rPr>
              <a:t>USINA B</a:t>
            </a:r>
            <a:endParaRPr sz="1100" b="1" dirty="0">
              <a:solidFill>
                <a:srgbClr val="14263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45920" y="336499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A"/>
                </a:solidFill>
                <a:latin typeface="Aptos"/>
              </a:rPr>
              <a:t>CLP / RTU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5196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78992" y="4462272"/>
            <a:ext cx="457200" cy="457200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80560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1" dirty="0">
                <a:solidFill>
                  <a:srgbClr val="14263F"/>
                </a:solidFill>
                <a:latin typeface="Aptos"/>
              </a:rPr>
              <a:t>USINA</a:t>
            </a:r>
            <a:r>
              <a:rPr sz="1100" b="1" dirty="0">
                <a:solidFill>
                  <a:srgbClr val="14263F"/>
                </a:solidFill>
                <a:latin typeface="Aptos"/>
              </a:rPr>
              <a:t>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78231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C7A"/>
                </a:solidFill>
                <a:latin typeface="Aptos"/>
              </a:rPr>
              <a:t>CLP / RTU</a:t>
            </a:r>
          </a:p>
        </p:txBody>
      </p:sp>
      <p:sp>
        <p:nvSpPr>
          <p:cNvPr id="17" name="Cloud 16"/>
          <p:cNvSpPr/>
          <p:nvPr/>
        </p:nvSpPr>
        <p:spPr>
          <a:xfrm>
            <a:off x="3840480" y="2148840"/>
            <a:ext cx="1920240" cy="1143000"/>
          </a:xfrm>
          <a:prstGeom prst="cloud">
            <a:avLst/>
          </a:prstGeom>
          <a:solidFill>
            <a:srgbClr val="E7F0F8"/>
          </a:solidFill>
          <a:ln>
            <a:solidFill>
              <a:srgbClr val="2CA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0" y="2487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2369B4"/>
                </a:solidFill>
                <a:latin typeface="Aptos"/>
              </a:rPr>
              <a:t>REDE
SEGURA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26080" y="1874519"/>
            <a:ext cx="960120" cy="822961"/>
          </a:xfrm>
          <a:prstGeom prst="line">
            <a:avLst/>
          </a:prstGeom>
          <a:ln w="29209">
            <a:solidFill>
              <a:srgbClr val="715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926080" y="2697480"/>
            <a:ext cx="960120" cy="594360"/>
          </a:xfrm>
          <a:prstGeom prst="line">
            <a:avLst/>
          </a:prstGeom>
          <a:ln w="29209">
            <a:solidFill>
              <a:srgbClr val="715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926080" y="2697480"/>
            <a:ext cx="960120" cy="2011680"/>
          </a:xfrm>
          <a:prstGeom prst="line">
            <a:avLst/>
          </a:prstGeom>
          <a:ln w="29209">
            <a:solidFill>
              <a:srgbClr val="715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92240" y="1417320"/>
            <a:ext cx="46634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903720" y="1874519"/>
            <a:ext cx="3840480" cy="2880360"/>
          </a:xfrm>
          <a:prstGeom prst="round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013448" y="1984248"/>
            <a:ext cx="3621024" cy="2441448"/>
          </a:xfrm>
          <a:prstGeom prst="roundRect">
            <a:avLst/>
          </a:prstGeom>
          <a:solidFill>
            <a:srgbClr val="EBF2F8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0" y="209397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369B4"/>
                </a:solidFill>
                <a:latin typeface="Aptos"/>
              </a:rPr>
              <a:t>CENTRO DE OPERAÇÃO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2651760"/>
            <a:ext cx="685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5F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0" y="283463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369B4"/>
                </a:solidFill>
                <a:latin typeface="Aptos"/>
              </a:rPr>
              <a:t>LEVEL
72%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01000" y="3108960"/>
            <a:ext cx="594360" cy="0"/>
          </a:xfrm>
          <a:prstGeom prst="line">
            <a:avLst/>
          </a:prstGeom>
          <a:ln w="25400">
            <a:solidFill>
              <a:srgbClr val="2CA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595360" y="2898648"/>
            <a:ext cx="457200" cy="457200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0" y="2715768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303C"/>
                </a:solidFill>
                <a:latin typeface="Aptos"/>
              </a:rPr>
              <a:t>PRESSÃO 4,2 bar
VAZÃO 38 m³/h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8019288" y="2468879"/>
            <a:ext cx="594360" cy="365760"/>
          </a:xfrm>
          <a:prstGeom prst="line">
            <a:avLst/>
          </a:prstGeom>
          <a:ln w="27940">
            <a:solidFill>
              <a:srgbClr val="E689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613648" y="2478022"/>
            <a:ext cx="548640" cy="182881"/>
          </a:xfrm>
          <a:prstGeom prst="line">
            <a:avLst/>
          </a:prstGeom>
          <a:ln w="27940">
            <a:solidFill>
              <a:srgbClr val="E689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32320" y="4443983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5F6C7A"/>
                </a:solidFill>
                <a:latin typeface="Aptos"/>
              </a:rPr>
              <a:t>ALARMES   TENDÊNCIAS   COMANDOS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9834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F6C7A"/>
                </a:solidFill>
                <a:latin typeface="Aptos"/>
              </a:rPr>
              <a:t>Acesso remoto • dashboards • alarmes • histórico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12</a:t>
            </a:r>
          </a:p>
        </p:txBody>
      </p:sp>
      <p:pic>
        <p:nvPicPr>
          <p:cNvPr id="37" name="Picture 2" descr="Senai RN (@SenaiRN) • Facebook">
            <a:extLst>
              <a:ext uri="{FF2B5EF4-FFF2-40B4-BE49-F238E27FC236}">
                <a16:creationId xmlns:a16="http://schemas.microsoft.com/office/drawing/2014/main" id="{BB253581-D24D-3796-5A0D-77DE94F46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165" y="163772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16">
            <a:extLst>
              <a:ext uri="{FF2B5EF4-FFF2-40B4-BE49-F238E27FC236}">
                <a16:creationId xmlns:a16="http://schemas.microsoft.com/office/drawing/2014/main" id="{1D2A68F4-F517-CA44-8CC7-023C27951B7C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  <p:sp>
        <p:nvSpPr>
          <p:cNvPr id="42" name="TextBox 16">
            <a:extLst>
              <a:ext uri="{FF2B5EF4-FFF2-40B4-BE49-F238E27FC236}">
                <a16:creationId xmlns:a16="http://schemas.microsoft.com/office/drawing/2014/main" id="{7E25AFEC-439F-2299-552D-A31F783601B8}"/>
              </a:ext>
            </a:extLst>
          </p:cNvPr>
          <p:cNvSpPr txBox="1"/>
          <p:nvPr/>
        </p:nvSpPr>
        <p:spPr>
          <a:xfrm>
            <a:off x="3893819" y="1881989"/>
            <a:ext cx="18135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WAN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  <p:cxnSp>
        <p:nvCxnSpPr>
          <p:cNvPr id="43" name="Connector 20">
            <a:extLst>
              <a:ext uri="{FF2B5EF4-FFF2-40B4-BE49-F238E27FC236}">
                <a16:creationId xmlns:a16="http://schemas.microsoft.com/office/drawing/2014/main" id="{E8A8DB42-6D48-121F-6338-D676CEB8004E}"/>
              </a:ext>
            </a:extLst>
          </p:cNvPr>
          <p:cNvCxnSpPr>
            <a:cxnSpLocks/>
          </p:cNvCxnSpPr>
          <p:nvPr/>
        </p:nvCxnSpPr>
        <p:spPr>
          <a:xfrm>
            <a:off x="5703882" y="2612173"/>
            <a:ext cx="788358" cy="0"/>
          </a:xfrm>
          <a:prstGeom prst="line">
            <a:avLst/>
          </a:prstGeom>
          <a:ln w="29209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chemeClr val="bg1"/>
                </a:solidFill>
                <a:latin typeface="Aptos"/>
              </a:rPr>
              <a:t>11. </a:t>
            </a:r>
            <a:r>
              <a:rPr sz="2800" b="1" dirty="0" err="1">
                <a:solidFill>
                  <a:schemeClr val="bg1"/>
                </a:solidFill>
                <a:latin typeface="Aptos"/>
              </a:rPr>
              <a:t>Exemplo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800" b="1" dirty="0" err="1">
                <a:solidFill>
                  <a:schemeClr val="bg1"/>
                </a:solidFill>
                <a:latin typeface="Aptos"/>
              </a:rPr>
              <a:t>prático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 — </a:t>
            </a:r>
            <a:r>
              <a:rPr sz="2800" b="1" dirty="0" err="1">
                <a:solidFill>
                  <a:schemeClr val="bg1"/>
                </a:solidFill>
                <a:latin typeface="Aptos"/>
              </a:rPr>
              <a:t>supervisão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 de </a:t>
            </a:r>
            <a:r>
              <a:rPr sz="2800" b="1" dirty="0" err="1">
                <a:solidFill>
                  <a:schemeClr val="bg1"/>
                </a:solidFill>
                <a:latin typeface="Aptos"/>
              </a:rPr>
              <a:t>uma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800" b="1" dirty="0" err="1">
                <a:solidFill>
                  <a:schemeClr val="bg1"/>
                </a:solidFill>
                <a:latin typeface="Aptos"/>
              </a:rPr>
              <a:t>usina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800" b="1" dirty="0" err="1">
                <a:solidFill>
                  <a:schemeClr val="bg1"/>
                </a:solidFill>
                <a:latin typeface="Aptos"/>
              </a:rPr>
              <a:t>hidrelétrica</a:t>
            </a:r>
            <a:endParaRPr sz="28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C7A"/>
                </a:solidFill>
                <a:latin typeface="Aptos"/>
              </a:rPr>
              <a:t>Sensores, CLPs/RTUs, rede e SCADA trabalhando juntos na supervisão da geração.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1828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29669"/>
                </a:solidFill>
                <a:latin typeface="Aptos"/>
              </a:rPr>
              <a:t>PROCESSO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1371600" cy="777240"/>
          </a:xfrm>
          <a:prstGeom prst="roundRect">
            <a:avLst/>
          </a:prstGeom>
          <a:solidFill>
            <a:srgbClr val="E8F4F9"/>
          </a:solidFill>
          <a:ln>
            <a:solidFill>
              <a:srgbClr val="2CA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369B4"/>
                </a:solidFill>
                <a:latin typeface="Aptos"/>
              </a:rPr>
              <a:t>RESERVATÓRIO
Nível 84%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542032"/>
            <a:ext cx="777240" cy="0"/>
          </a:xfrm>
          <a:prstGeom prst="line">
            <a:avLst/>
          </a:prstGeom>
          <a:ln w="50800">
            <a:solidFill>
              <a:srgbClr val="2CA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31720" y="221284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F6C7A"/>
                </a:solidFill>
                <a:latin typeface="Aptos"/>
              </a:rPr>
              <a:t>Vazão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508760"/>
            <a:ext cx="20574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57600" y="1874519"/>
            <a:ext cx="685800" cy="685800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651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263F"/>
                </a:solidFill>
                <a:latin typeface="Aptos"/>
              </a:rPr>
              <a:t>TURBINA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0" y="3127248"/>
            <a:ext cx="685800" cy="685800"/>
          </a:xfrm>
          <a:prstGeom prst="ellipse">
            <a:avLst/>
          </a:prstGeom>
          <a:solidFill>
            <a:srgbClr val="E6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390448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263F"/>
                </a:solidFill>
                <a:latin typeface="Aptos"/>
              </a:rPr>
              <a:t>GERADOR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4612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F6C7A"/>
                </a:solidFill>
                <a:latin typeface="Aptos"/>
              </a:rPr>
              <a:t>Pressão
Vazão
Nível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9240" y="1508760"/>
            <a:ext cx="1874519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96128" y="1719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369B4"/>
                </a:solidFill>
                <a:latin typeface="Aptos"/>
              </a:rPr>
              <a:t>CONTROLE</a:t>
            </a:r>
          </a:p>
        </p:txBody>
      </p:sp>
      <p:sp>
        <p:nvSpPr>
          <p:cNvPr id="19" name="Oval 18"/>
          <p:cNvSpPr/>
          <p:nvPr/>
        </p:nvSpPr>
        <p:spPr>
          <a:xfrm>
            <a:off x="5989320" y="2240280"/>
            <a:ext cx="594360" cy="594360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8" y="29718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F6C7A"/>
                </a:solidFill>
                <a:latin typeface="Aptos"/>
              </a:rPr>
              <a:t>Proteções
intertravamentos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0" y="3063240"/>
            <a:ext cx="292608" cy="0"/>
          </a:xfrm>
          <a:prstGeom prst="line">
            <a:avLst/>
          </a:prstGeom>
          <a:ln w="31750">
            <a:solidFill>
              <a:srgbClr val="23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43800" y="1508760"/>
            <a:ext cx="1508760" cy="3154680"/>
          </a:xfrm>
          <a:prstGeom prst="roundRect">
            <a:avLst/>
          </a:prstGeom>
          <a:solidFill>
            <a:srgbClr val="ECF5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0" y="173736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A9BE"/>
                </a:solidFill>
                <a:latin typeface="Aptos"/>
              </a:rPr>
              <a:t>REDE</a:t>
            </a:r>
          </a:p>
        </p:txBody>
      </p:sp>
      <p:sp>
        <p:nvSpPr>
          <p:cNvPr id="26" name="Oval 25"/>
          <p:cNvSpPr/>
          <p:nvPr/>
        </p:nvSpPr>
        <p:spPr>
          <a:xfrm>
            <a:off x="7973568" y="2331720"/>
            <a:ext cx="640080" cy="640080"/>
          </a:xfrm>
          <a:prstGeom prst="ellipse">
            <a:avLst/>
          </a:prstGeom>
          <a:solidFill>
            <a:srgbClr val="2CA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315468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F6C7A"/>
                </a:solidFill>
                <a:latin typeface="Aptos"/>
              </a:rPr>
              <a:t>Ethernet
Fibra / rádio
Protocolos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223760" y="3063240"/>
            <a:ext cx="292608" cy="0"/>
          </a:xfrm>
          <a:prstGeom prst="line">
            <a:avLst/>
          </a:prstGeom>
          <a:ln w="31750">
            <a:solidFill>
              <a:srgbClr val="2CA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326880" y="1508760"/>
            <a:ext cx="224028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0" y="171907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157AA"/>
                </a:solidFill>
                <a:latin typeface="Aptos"/>
              </a:rPr>
              <a:t>SCADA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82912" y="2148840"/>
            <a:ext cx="1737360" cy="1417320"/>
          </a:xfrm>
          <a:prstGeom prst="round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674352" y="2240280"/>
            <a:ext cx="1554480" cy="1051560"/>
          </a:xfrm>
          <a:prstGeom prst="roundRect">
            <a:avLst/>
          </a:prstGeom>
          <a:solidFill>
            <a:srgbClr val="EBF2F8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65792" y="23317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2369B4"/>
                </a:solidFill>
                <a:latin typeface="Aptos"/>
              </a:rPr>
              <a:t>USINA • GERAÇÃO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26517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4263F"/>
                </a:solidFill>
                <a:latin typeface="Aptos"/>
              </a:rPr>
              <a:t>P = 128 MW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8" y="297180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5F6C7A"/>
                </a:solidFill>
                <a:latin typeface="Aptos"/>
              </a:rPr>
              <a:t>V = 13,8 kV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2912" y="3794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F6C7A"/>
                </a:solidFill>
                <a:latin typeface="Aptos"/>
              </a:rPr>
              <a:t>Alarmes • tendências
histórico • comandos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52560" y="3063240"/>
            <a:ext cx="246888" cy="0"/>
          </a:xfrm>
          <a:prstGeom prst="line">
            <a:avLst/>
          </a:prstGeom>
          <a:ln w="31750">
            <a:solidFill>
              <a:srgbClr val="715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657600" y="4983480"/>
            <a:ext cx="48920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886200" y="5129784"/>
            <a:ext cx="411480" cy="411480"/>
          </a:xfrm>
          <a:prstGeom prst="ellipse">
            <a:avLst/>
          </a:prstGeom>
          <a:solidFill>
            <a:srgbClr val="E6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10235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263F"/>
                </a:solidFill>
                <a:latin typeface="Aptos"/>
              </a:rPr>
              <a:t>OPERADOR — acompanha, analisa e comanda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5806440"/>
            <a:ext cx="2606040" cy="566928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800" y="5916168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29669"/>
                </a:solidFill>
                <a:latin typeface="Aptos"/>
              </a:rPr>
              <a:t>Campo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5879592"/>
            <a:ext cx="1691640" cy="45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dirty="0" err="1">
                <a:solidFill>
                  <a:schemeClr val="bg1"/>
                </a:solidFill>
                <a:latin typeface="Aptos"/>
              </a:rPr>
              <a:t>Sensores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medem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nível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,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vazão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,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pressão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,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tensão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,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corrente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 e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temperatura</a:t>
            </a:r>
            <a:r>
              <a:rPr sz="780" b="0" dirty="0">
                <a:solidFill>
                  <a:srgbClr val="5F6C7A"/>
                </a:solidFill>
                <a:latin typeface="Aptos"/>
              </a:rPr>
              <a:t>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7560" y="5806440"/>
            <a:ext cx="2743200" cy="566928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566160" y="5916168"/>
            <a:ext cx="731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 err="1">
                <a:solidFill>
                  <a:srgbClr val="2369B4"/>
                </a:solidFill>
                <a:latin typeface="Aptos"/>
              </a:rPr>
              <a:t>Controle</a:t>
            </a:r>
            <a:endParaRPr sz="1000" b="1" dirty="0">
              <a:solidFill>
                <a:srgbClr val="2369B4"/>
              </a:solidFill>
              <a:latin typeface="Apto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463276" y="5882491"/>
            <a:ext cx="1691640" cy="332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dirty="0">
                <a:solidFill>
                  <a:schemeClr val="bg1"/>
                </a:solidFill>
                <a:latin typeface="Aptos"/>
              </a:rPr>
              <a:t>CLP/RTU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processa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sinais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,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proteções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 e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intertravamentos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5806440"/>
            <a:ext cx="2606040" cy="566928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46519" y="5916167"/>
            <a:ext cx="9355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 err="1">
                <a:solidFill>
                  <a:srgbClr val="7157AA"/>
                </a:solidFill>
                <a:latin typeface="Aptos"/>
              </a:rPr>
              <a:t>Supervisão</a:t>
            </a:r>
            <a:endParaRPr sz="1000" b="1" dirty="0">
              <a:solidFill>
                <a:srgbClr val="7157AA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283196" y="5882491"/>
            <a:ext cx="1691640" cy="332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dirty="0">
                <a:solidFill>
                  <a:schemeClr val="bg1"/>
                </a:solidFill>
                <a:latin typeface="Aptos"/>
              </a:rPr>
              <a:t>SCADA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apresenta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estados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,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alarmes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,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tendências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 e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histórico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35440" y="5806440"/>
            <a:ext cx="2606040" cy="566928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326880" y="5916168"/>
            <a:ext cx="9052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 err="1">
                <a:solidFill>
                  <a:srgbClr val="E68930"/>
                </a:solidFill>
                <a:latin typeface="Aptos"/>
              </a:rPr>
              <a:t>Operação</a:t>
            </a:r>
            <a:endParaRPr sz="1000" b="1" dirty="0">
              <a:solidFill>
                <a:srgbClr val="E68930"/>
              </a:solidFill>
              <a:latin typeface="Apto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32136" y="5904794"/>
            <a:ext cx="1691640" cy="332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dirty="0">
                <a:solidFill>
                  <a:schemeClr val="bg1"/>
                </a:solidFill>
                <a:latin typeface="Aptos"/>
              </a:rPr>
              <a:t>O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operador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toma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decisões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 e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envia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comandos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780" b="0" dirty="0" err="1">
                <a:solidFill>
                  <a:schemeClr val="bg1"/>
                </a:solidFill>
                <a:latin typeface="Aptos"/>
              </a:rPr>
              <a:t>autorizados</a:t>
            </a:r>
            <a:r>
              <a:rPr sz="78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12. Atividade para os alunos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ED7EE"/>
                </a:solidFill>
                <a:latin typeface="Aptos"/>
              </a:rPr>
              <a:t>Identifique cada camada e explique o caminho do dado.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783080" cy="1051560"/>
          </a:xfrm>
          <a:prstGeom prst="roundRect">
            <a:avLst/>
          </a:prstGeom>
          <a:solidFill>
            <a:srgbClr val="24364E"/>
          </a:solidFill>
          <a:ln>
            <a:solidFill>
              <a:srgbClr val="506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07592" y="2395728"/>
            <a:ext cx="502920" cy="502920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Sensor de nível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96312" y="2761488"/>
            <a:ext cx="448056" cy="0"/>
          </a:xfrm>
          <a:prstGeom prst="line">
            <a:avLst/>
          </a:prstGeom>
          <a:ln w="31750">
            <a:solidFill>
              <a:srgbClr val="96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71800" y="2240280"/>
            <a:ext cx="1783080" cy="1051560"/>
          </a:xfrm>
          <a:prstGeom prst="roundRect">
            <a:avLst/>
          </a:prstGeom>
          <a:solidFill>
            <a:srgbClr val="24364E"/>
          </a:solidFill>
          <a:ln>
            <a:solidFill>
              <a:srgbClr val="506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93592" y="2395728"/>
            <a:ext cx="502920" cy="502920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97180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CLP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82312" y="2761488"/>
            <a:ext cx="448056" cy="0"/>
          </a:xfrm>
          <a:prstGeom prst="line">
            <a:avLst/>
          </a:prstGeom>
          <a:ln w="31750">
            <a:solidFill>
              <a:srgbClr val="96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57800" y="2240280"/>
            <a:ext cx="1783080" cy="1051560"/>
          </a:xfrm>
          <a:prstGeom prst="roundRect">
            <a:avLst/>
          </a:prstGeom>
          <a:solidFill>
            <a:srgbClr val="24364E"/>
          </a:solidFill>
          <a:ln>
            <a:solidFill>
              <a:srgbClr val="506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879592" y="2395728"/>
            <a:ext cx="502920" cy="502920"/>
          </a:xfrm>
          <a:prstGeom prst="ellipse">
            <a:avLst/>
          </a:prstGeom>
          <a:solidFill>
            <a:srgbClr val="2CA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97180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68312" y="2761488"/>
            <a:ext cx="448056" cy="0"/>
          </a:xfrm>
          <a:prstGeom prst="line">
            <a:avLst/>
          </a:prstGeom>
          <a:ln w="31750">
            <a:solidFill>
              <a:srgbClr val="96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43800" y="2240280"/>
            <a:ext cx="1783080" cy="1051560"/>
          </a:xfrm>
          <a:prstGeom prst="roundRect">
            <a:avLst/>
          </a:prstGeom>
          <a:solidFill>
            <a:srgbClr val="24364E"/>
          </a:solidFill>
          <a:ln>
            <a:solidFill>
              <a:srgbClr val="506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65592" y="2395728"/>
            <a:ext cx="502920" cy="502920"/>
          </a:xfrm>
          <a:prstGeom prst="ellipse">
            <a:avLst/>
          </a:prstGeom>
          <a:solidFill>
            <a:srgbClr val="715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97180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SCADA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54312" y="2761488"/>
            <a:ext cx="448056" cy="0"/>
          </a:xfrm>
          <a:prstGeom prst="line">
            <a:avLst/>
          </a:prstGeom>
          <a:ln w="31750">
            <a:solidFill>
              <a:srgbClr val="96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829800" y="2240280"/>
            <a:ext cx="1783080" cy="1051560"/>
          </a:xfrm>
          <a:prstGeom prst="roundRect">
            <a:avLst/>
          </a:prstGeom>
          <a:solidFill>
            <a:srgbClr val="24364E"/>
          </a:solidFill>
          <a:ln>
            <a:solidFill>
              <a:srgbClr val="506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451592" y="2395728"/>
            <a:ext cx="502920" cy="502920"/>
          </a:xfrm>
          <a:prstGeom prst="ellipse">
            <a:avLst/>
          </a:prstGeom>
          <a:solidFill>
            <a:srgbClr val="E6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97180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Operador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1605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Desafio: o que acontece se a comunicação com o SCADA cair? O CLP continua controlando?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57400" y="5074920"/>
            <a:ext cx="8046720" cy="685800"/>
          </a:xfrm>
          <a:prstGeom prst="roundRect">
            <a:avLst/>
          </a:prstGeom>
          <a:solidFill>
            <a:srgbClr val="22344B"/>
          </a:solidFill>
          <a:ln>
            <a:solidFill>
              <a:srgbClr val="506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31720" y="523951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DE1F2"/>
                </a:solidFill>
                <a:latin typeface="Aptos"/>
              </a:rPr>
              <a:t>Resposta esperada: o controle local deve continuar conforme a arquitetura projetada; a supervisão pode perder visibilidade.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14</a:t>
            </a:r>
          </a:p>
        </p:txBody>
      </p:sp>
      <p:pic>
        <p:nvPicPr>
          <p:cNvPr id="29" name="Picture 2" descr="Senai RN (@SenaiRN) • Facebook">
            <a:extLst>
              <a:ext uri="{FF2B5EF4-FFF2-40B4-BE49-F238E27FC236}">
                <a16:creationId xmlns:a16="http://schemas.microsoft.com/office/drawing/2014/main" id="{1FF106A1-71FC-4476-90C2-8760C14F4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165" y="163772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16">
            <a:extLst>
              <a:ext uri="{FF2B5EF4-FFF2-40B4-BE49-F238E27FC236}">
                <a16:creationId xmlns:a16="http://schemas.microsoft.com/office/drawing/2014/main" id="{6A552F2C-8F96-748B-9D96-CED481798146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13. </a:t>
            </a:r>
            <a:r>
              <a:rPr sz="28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Resumo</a:t>
            </a:r>
            <a:r>
              <a:rPr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da aula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Cinco </a:t>
            </a:r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ideias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para </a:t>
            </a:r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levar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para </a:t>
            </a:r>
            <a:r>
              <a:rPr lang="pt-BR" sz="130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casa:</a:t>
            </a:r>
            <a:endParaRPr sz="1300" b="0" dirty="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sp>
        <p:nvSpPr>
          <p:cNvPr id="5" name="Oval 4"/>
          <p:cNvSpPr/>
          <p:nvPr/>
        </p:nvSpPr>
        <p:spPr>
          <a:xfrm>
            <a:off x="822960" y="1325880"/>
            <a:ext cx="502920" cy="502920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53312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chemeClr val="bg1"/>
                </a:solidFill>
                <a:latin typeface="Aptos"/>
              </a:rPr>
              <a:t>IHM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53312"/>
            <a:ext cx="7406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Interação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local entre </a:t>
            </a:r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operador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e </a:t>
            </a:r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máquina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30552"/>
            <a:ext cx="502920" cy="502920"/>
          </a:xfrm>
          <a:prstGeom prst="ellipse">
            <a:avLst/>
          </a:prstGeom>
          <a:solidFill>
            <a:srgbClr val="715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57984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chemeClr val="bg1"/>
                </a:solidFill>
                <a:latin typeface="Aptos"/>
              </a:rPr>
              <a:t>SCADA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57984"/>
            <a:ext cx="7406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Supervisão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, </a:t>
            </a:r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aquisição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de dados e </a:t>
            </a:r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visão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integrada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35224"/>
            <a:ext cx="502920" cy="502920"/>
          </a:xfrm>
          <a:prstGeom prst="ellipse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62656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chemeClr val="bg1"/>
                </a:solidFill>
                <a:latin typeface="Aptos"/>
              </a:rPr>
              <a:t>Local x </a:t>
            </a:r>
            <a:r>
              <a:rPr sz="1600" b="1" dirty="0" err="1">
                <a:solidFill>
                  <a:schemeClr val="bg1"/>
                </a:solidFill>
                <a:latin typeface="Aptos"/>
              </a:rPr>
              <a:t>remoto</a:t>
            </a:r>
            <a:endParaRPr sz="16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4720" y="2962656"/>
            <a:ext cx="7406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Acesso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depende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da </a:t>
            </a:r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arquitetura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e </a:t>
            </a:r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comunicação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39896"/>
            <a:ext cx="502920" cy="502920"/>
          </a:xfrm>
          <a:prstGeom prst="ellipse">
            <a:avLst/>
          </a:prstGeom>
          <a:solidFill>
            <a:srgbClr val="E6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67328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chemeClr val="bg1"/>
                </a:solidFill>
                <a:latin typeface="Aptos"/>
              </a:rPr>
              <a:t>Funções</a:t>
            </a:r>
            <a:endParaRPr sz="16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74720" y="3767328"/>
            <a:ext cx="7406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Visualização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, </a:t>
            </a:r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alarmes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, </a:t>
            </a:r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tendências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, </a:t>
            </a:r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histórico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e </a:t>
            </a:r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comandos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544568"/>
            <a:ext cx="502920" cy="502920"/>
          </a:xfrm>
          <a:prstGeom prst="ellipse">
            <a:avLst/>
          </a:prstGeom>
          <a:solidFill>
            <a:srgbClr val="2CA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572000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chemeClr val="bg1"/>
                </a:solidFill>
                <a:latin typeface="Aptos"/>
              </a:rPr>
              <a:t>Arquitetura</a:t>
            </a:r>
            <a:endParaRPr sz="16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0" y="4572000"/>
            <a:ext cx="7406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Campo → </a:t>
            </a:r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controle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→ rede → </a:t>
            </a:r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supervisão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→ </a:t>
            </a:r>
            <a:r>
              <a:rPr sz="13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operação</a:t>
            </a:r>
            <a:r>
              <a:rPr sz="13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263F"/>
                </a:solidFill>
                <a:latin typeface="Aptos"/>
              </a:rPr>
              <a:t>Próximo passo: criar uma tela supervisória simples para uma partida de motor.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15</a:t>
            </a:r>
          </a:p>
        </p:txBody>
      </p:sp>
      <p:pic>
        <p:nvPicPr>
          <p:cNvPr id="23" name="Picture 2" descr="Senai RN (@SenaiRN) • Facebook">
            <a:extLst>
              <a:ext uri="{FF2B5EF4-FFF2-40B4-BE49-F238E27FC236}">
                <a16:creationId xmlns:a16="http://schemas.microsoft.com/office/drawing/2014/main" id="{AF059988-B756-7563-E7E5-A83F0DBBE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165" y="163772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16">
            <a:extLst>
              <a:ext uri="{FF2B5EF4-FFF2-40B4-BE49-F238E27FC236}">
                <a16:creationId xmlns:a16="http://schemas.microsoft.com/office/drawing/2014/main" id="{F35B3520-30BD-C946-EE7B-82B6EDAD09A9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Fontes e </a:t>
            </a:r>
            <a:r>
              <a:rPr sz="2800" b="1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referências</a:t>
            </a:r>
            <a:endParaRPr sz="2800" b="1" dirty="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Materiais</a:t>
            </a: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consultados</a:t>
            </a: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para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conceitos</a:t>
            </a: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e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exemplos</a:t>
            </a: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de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plataformas</a:t>
            </a: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1890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• Siemens — SIMATIC HMI /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visualização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industrial</a:t>
            </a:r>
          </a:p>
          <a:p>
            <a:pPr>
              <a:spcAft>
                <a:spcPts val="5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• Inductive Automation —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arquiteturas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SCADA / Ignition</a:t>
            </a:r>
          </a:p>
          <a:p>
            <a:pPr>
              <a:spcAft>
                <a:spcPts val="5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• GE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Vernova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— Proficy HMI/SCADA</a:t>
            </a:r>
          </a:p>
          <a:p>
            <a:pPr>
              <a:spcAft>
                <a:spcPts val="5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• Schneider Electric —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EcoStruxure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/ software IHM e SCADA</a:t>
            </a:r>
          </a:p>
          <a:p>
            <a:pPr>
              <a:spcAft>
                <a:spcPts val="5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• Omron —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Movicon.NExT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Aft>
                <a:spcPts val="5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•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Referências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didáticas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sobre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SCADA, IHM e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automação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industrial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57800"/>
            <a:ext cx="10241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Observação</a:t>
            </a:r>
            <a:r>
              <a:rPr sz="11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: </a:t>
            </a:r>
            <a:r>
              <a:rPr sz="11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os</a:t>
            </a:r>
            <a:r>
              <a:rPr sz="11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sz="11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exemplos</a:t>
            </a:r>
            <a:r>
              <a:rPr sz="11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de software </a:t>
            </a:r>
            <a:r>
              <a:rPr sz="11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são</a:t>
            </a:r>
            <a:r>
              <a:rPr sz="11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sz="11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ilustrativos</a:t>
            </a:r>
            <a:r>
              <a:rPr sz="11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; </a:t>
            </a:r>
            <a:r>
              <a:rPr sz="11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funções</a:t>
            </a:r>
            <a:r>
              <a:rPr sz="11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e </a:t>
            </a:r>
            <a:r>
              <a:rPr sz="11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licenciamento</a:t>
            </a:r>
            <a:r>
              <a:rPr sz="11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sz="11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variam</a:t>
            </a:r>
            <a:r>
              <a:rPr sz="11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</a:t>
            </a:r>
            <a:r>
              <a:rPr sz="11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conforme</a:t>
            </a:r>
            <a:r>
              <a:rPr sz="11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a </a:t>
            </a:r>
            <a:r>
              <a:rPr sz="11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versão</a:t>
            </a:r>
            <a:r>
              <a:rPr sz="11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 e o </a:t>
            </a:r>
            <a:r>
              <a:rPr sz="1100" b="0" dirty="0" err="1">
                <a:solidFill>
                  <a:schemeClr val="bg1">
                    <a:lumMod val="85000"/>
                  </a:schemeClr>
                </a:solidFill>
                <a:latin typeface="Aptos"/>
              </a:rPr>
              <a:t>fabricante</a:t>
            </a:r>
            <a:r>
              <a:rPr sz="1100" b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6C7A"/>
                </a:solidFill>
                <a:latin typeface="Aptos"/>
              </a:rPr>
              <a:t>16</a:t>
            </a:r>
          </a:p>
        </p:txBody>
      </p:sp>
      <p:pic>
        <p:nvPicPr>
          <p:cNvPr id="9" name="Picture 2" descr="Senai RN (@SenaiRN) • Facebook">
            <a:extLst>
              <a:ext uri="{FF2B5EF4-FFF2-40B4-BE49-F238E27FC236}">
                <a16:creationId xmlns:a16="http://schemas.microsoft.com/office/drawing/2014/main" id="{3097154C-85A6-A8F4-D014-46D8D2B59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165" y="163772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16">
            <a:extLst>
              <a:ext uri="{FF2B5EF4-FFF2-40B4-BE49-F238E27FC236}">
                <a16:creationId xmlns:a16="http://schemas.microsoft.com/office/drawing/2014/main" id="{1020FAD1-BEFC-5D8A-72F2-47314E3D28E3}"/>
              </a:ext>
            </a:extLst>
          </p:cNvPr>
          <p:cNvSpPr txBox="1"/>
          <p:nvPr/>
        </p:nvSpPr>
        <p:spPr>
          <a:xfrm>
            <a:off x="795528" y="6336792"/>
            <a:ext cx="10424160" cy="23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>
                <a:solidFill>
                  <a:srgbClr val="00B050"/>
                </a:solidFill>
                <a:effectLst/>
                <a:latin typeface="Open Sans" panose="020F0502020204030204" pitchFamily="34" charset="0"/>
              </a:rPr>
              <a:t>Fundamentos de Automação/Instrumentação</a:t>
            </a:r>
            <a:endParaRPr lang="pt-BR" sz="1100" b="0" dirty="0">
              <a:solidFill>
                <a:srgbClr val="00B050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</TotalTime>
  <Words>1610</Words>
  <Application>Microsoft Office PowerPoint</Application>
  <PresentationFormat>Widescreen</PresentationFormat>
  <Paragraphs>363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1" baseType="lpstr">
      <vt:lpstr>Aptos</vt:lpstr>
      <vt:lpstr>Arial</vt:lpstr>
      <vt:lpstr>Calibri</vt:lpstr>
      <vt:lpstr>Open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RAFAEL DA SILVA</dc:creator>
  <cp:keywords/>
  <dc:description>generated using python-pptx</dc:description>
  <cp:lastModifiedBy>RAFAEL DA SILVA</cp:lastModifiedBy>
  <cp:revision>36</cp:revision>
  <dcterms:created xsi:type="dcterms:W3CDTF">2013-01-27T09:14:16Z</dcterms:created>
  <dcterms:modified xsi:type="dcterms:W3CDTF">2026-09-09T23:27:46Z</dcterms:modified>
  <cp:category/>
</cp:coreProperties>
</file>